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69" r:id="rId4"/>
    <p:sldId id="274" r:id="rId5"/>
    <p:sldId id="275" r:id="rId6"/>
    <p:sldId id="272" r:id="rId7"/>
    <p:sldId id="271" r:id="rId8"/>
    <p:sldId id="276"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14E248-C39B-4F43-A9CF-79C4A0821D7C}" v="1" dt="2025-11-12T03:50:42.214"/>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47"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gana sarji" userId="e2d1ac419054d909" providerId="LiveId" clId="{22F0E7AE-821A-49BC-95B3-7D57E36F0A68}"/>
    <pc:docChg chg="modSld">
      <pc:chgData name="gagana sarji" userId="e2d1ac419054d909" providerId="LiveId" clId="{22F0E7AE-821A-49BC-95B3-7D57E36F0A68}" dt="2025-11-12T03:50:42.214" v="21"/>
      <pc:docMkLst>
        <pc:docMk/>
      </pc:docMkLst>
      <pc:sldChg chg="modSp mod">
        <pc:chgData name="gagana sarji" userId="e2d1ac419054d909" providerId="LiveId" clId="{22F0E7AE-821A-49BC-95B3-7D57E36F0A68}" dt="2025-11-12T03:50:42.214" v="21"/>
        <pc:sldMkLst>
          <pc:docMk/>
          <pc:sldMk cId="2856357337" sldId="268"/>
        </pc:sldMkLst>
        <pc:spChg chg="mod">
          <ac:chgData name="gagana sarji" userId="e2d1ac419054d909" providerId="LiveId" clId="{22F0E7AE-821A-49BC-95B3-7D57E36F0A68}" dt="2025-11-12T03:50:42.214" v="21"/>
          <ac:spMkLst>
            <pc:docMk/>
            <pc:sldMk cId="2856357337" sldId="268"/>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546446C-ACB7-F609-E3AF-B9E96F831B3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56AABBF-557D-DCAC-7CC9-C4A5CE82D0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CD6A9E4A-3FA6-28E3-E70F-B7C4006319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5541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B0BF4C59-5207-9086-FE55-78C4A37F7C3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93AE93D-21FD-54A2-F98E-BD877804A4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28AE156-B5ED-36B6-A008-994F9B6427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9602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3DBD094-EB6F-F1B9-AAF2-11A54A17686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8E60CAE0-A695-1255-EE23-32EBCFCE46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CB1963F-24B0-5A56-F1BE-8CA2555D7D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46473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157316" y="1069102"/>
            <a:ext cx="11916697"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000" dirty="0">
                <a:solidFill>
                  <a:schemeClr val="tx1"/>
                </a:solidFill>
                <a:latin typeface="Cambria" panose="02040503050406030204" pitchFamily="18" charset="0"/>
                <a:ea typeface="Cambria" panose="02040503050406030204" pitchFamily="18" charset="0"/>
              </a:rPr>
              <a:t>UTILIZATION OF IMAGES FOR MONITORING OF PROGRESS OF CONSTRUCTION ACTIVITIES FOR BUILDING CONSTRUCTION PROJECTS</a:t>
            </a:r>
            <a:endParaRPr sz="20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Number:ISE_05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 Zafar Ali Khan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694630938"/>
              </p:ext>
            </p:extLst>
          </p:nvPr>
        </p:nvGraphicFramePr>
        <p:xfrm>
          <a:off x="1013843" y="2338948"/>
          <a:ext cx="5082157" cy="3009607"/>
        </p:xfrm>
        <a:graphic>
          <a:graphicData uri="http://schemas.openxmlformats.org/drawingml/2006/table">
            <a:tbl>
              <a:tblPr firstRow="1" bandRow="1">
                <a:noFill/>
                <a:tableStyleId>{57690726-49DA-4552-BDEB-330DD8EA8BD9}</a:tableStyleId>
              </a:tblPr>
              <a:tblGrid>
                <a:gridCol w="1737062">
                  <a:extLst>
                    <a:ext uri="{9D8B030D-6E8A-4147-A177-3AD203B41FA5}">
                      <a16:colId xmlns:a16="http://schemas.microsoft.com/office/drawing/2014/main" val="20000"/>
                    </a:ext>
                  </a:extLst>
                </a:gridCol>
                <a:gridCol w="3345095">
                  <a:extLst>
                    <a:ext uri="{9D8B030D-6E8A-4147-A177-3AD203B41FA5}">
                      <a16:colId xmlns:a16="http://schemas.microsoft.com/office/drawing/2014/main" val="20001"/>
                    </a:ext>
                  </a:extLst>
                </a:gridCol>
              </a:tblGrid>
              <a:tr h="252851">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dirty="0">
                        <a:solidFill>
                          <a:srgbClr val="17365D"/>
                        </a:solidFill>
                      </a:endParaRPr>
                    </a:p>
                    <a:p>
                      <a:pPr marL="0" marR="0" lvl="0" indent="0" algn="ctr" rtl="0">
                        <a:spcBef>
                          <a:spcPts val="0"/>
                        </a:spcBef>
                        <a:spcAft>
                          <a:spcPts val="0"/>
                        </a:spcAft>
                        <a:buNone/>
                      </a:pPr>
                      <a:r>
                        <a:rPr lang="en-GB" sz="1800" b="1" u="none" strike="noStrike" cap="none" dirty="0">
                          <a:solidFill>
                            <a:srgbClr val="17365D"/>
                          </a:solidFill>
                        </a:rPr>
                        <a:t>Student Name</a:t>
                      </a:r>
                    </a:p>
                    <a:p>
                      <a:pPr marL="0" marR="0" lvl="0"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632117">
                <a:tc>
                  <a:txBody>
                    <a:bodyPr/>
                    <a:lstStyle/>
                    <a:p>
                      <a:pPr marL="0" marR="0" lvl="0" indent="0" algn="ctr" rtl="0">
                        <a:spcBef>
                          <a:spcPts val="0"/>
                        </a:spcBef>
                        <a:spcAft>
                          <a:spcPts val="0"/>
                        </a:spcAft>
                        <a:buFont typeface="+mj-lt"/>
                        <a:buNone/>
                      </a:pP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528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528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528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528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7316" y="4567505"/>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B. Tech  Information Science Engineering(Robotics)</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Zafar Ali Khan</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Ms. Suma N G</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4" name="Table 3">
            <a:extLst>
              <a:ext uri="{FF2B5EF4-FFF2-40B4-BE49-F238E27FC236}">
                <a16:creationId xmlns:a16="http://schemas.microsoft.com/office/drawing/2014/main" id="{2427DB48-8EF9-041D-F2F9-986322860BAC}"/>
              </a:ext>
            </a:extLst>
          </p:cNvPr>
          <p:cNvGraphicFramePr>
            <a:graphicFrameLocks noGrp="1"/>
          </p:cNvGraphicFramePr>
          <p:nvPr>
            <p:extLst>
              <p:ext uri="{D42A27DB-BD31-4B8C-83A1-F6EECF244321}">
                <p14:modId xmlns:p14="http://schemas.microsoft.com/office/powerpoint/2010/main" val="646237500"/>
              </p:ext>
            </p:extLst>
          </p:nvPr>
        </p:nvGraphicFramePr>
        <p:xfrm>
          <a:off x="393290" y="3114432"/>
          <a:ext cx="5574890" cy="1112520"/>
        </p:xfrm>
        <a:graphic>
          <a:graphicData uri="http://schemas.openxmlformats.org/drawingml/2006/table">
            <a:tbl>
              <a:tblPr firstRow="1" bandRow="1"/>
              <a:tblGrid>
                <a:gridCol w="2787445">
                  <a:extLst>
                    <a:ext uri="{9D8B030D-6E8A-4147-A177-3AD203B41FA5}">
                      <a16:colId xmlns:a16="http://schemas.microsoft.com/office/drawing/2014/main" val="3451246449"/>
                    </a:ext>
                  </a:extLst>
                </a:gridCol>
                <a:gridCol w="2787445">
                  <a:extLst>
                    <a:ext uri="{9D8B030D-6E8A-4147-A177-3AD203B41FA5}">
                      <a16:colId xmlns:a16="http://schemas.microsoft.com/office/drawing/2014/main" val="1867052762"/>
                    </a:ext>
                  </a:extLst>
                </a:gridCol>
              </a:tblGrid>
              <a:tr h="370840">
                <a:tc>
                  <a:txBody>
                    <a:bodyPr/>
                    <a:lstStyle/>
                    <a:p>
                      <a:r>
                        <a:rPr lang="en-IN" dirty="0"/>
                        <a:t>20221ISE0025</a:t>
                      </a:r>
                    </a:p>
                  </a:txBody>
                  <a:tcPr/>
                </a:tc>
                <a:tc>
                  <a:txBody>
                    <a:bodyPr/>
                    <a:lstStyle/>
                    <a:p>
                      <a:r>
                        <a:rPr lang="en-IN" dirty="0"/>
                        <a:t>GAGANA S R</a:t>
                      </a:r>
                    </a:p>
                  </a:txBody>
                  <a:tcPr/>
                </a:tc>
                <a:extLst>
                  <a:ext uri="{0D108BD9-81ED-4DB2-BD59-A6C34878D82A}">
                    <a16:rowId xmlns:a16="http://schemas.microsoft.com/office/drawing/2014/main" val="780661465"/>
                  </a:ext>
                </a:extLst>
              </a:tr>
              <a:tr h="370840">
                <a:tc>
                  <a:txBody>
                    <a:bodyPr/>
                    <a:lstStyle/>
                    <a:p>
                      <a:r>
                        <a:rPr lang="en-IN" dirty="0"/>
                        <a:t>20221ISE0021</a:t>
                      </a:r>
                    </a:p>
                  </a:txBody>
                  <a:tcPr/>
                </a:tc>
                <a:tc>
                  <a:txBody>
                    <a:bodyPr/>
                    <a:lstStyle/>
                    <a:p>
                      <a:r>
                        <a:rPr lang="en-IN" dirty="0"/>
                        <a:t>TANUSHREE M S</a:t>
                      </a:r>
                    </a:p>
                  </a:txBody>
                  <a:tcPr/>
                </a:tc>
                <a:extLst>
                  <a:ext uri="{0D108BD9-81ED-4DB2-BD59-A6C34878D82A}">
                    <a16:rowId xmlns:a16="http://schemas.microsoft.com/office/drawing/2014/main" val="671002727"/>
                  </a:ext>
                </a:extLst>
              </a:tr>
              <a:tr h="370840">
                <a:tc>
                  <a:txBody>
                    <a:bodyPr/>
                    <a:lstStyle/>
                    <a:p>
                      <a:r>
                        <a:rPr lang="en-IN" dirty="0"/>
                        <a:t>20221ISE0042</a:t>
                      </a:r>
                    </a:p>
                  </a:txBody>
                  <a:tcPr/>
                </a:tc>
                <a:tc>
                  <a:txBody>
                    <a:bodyPr/>
                    <a:lstStyle/>
                    <a:p>
                      <a:r>
                        <a:rPr lang="en-IN" dirty="0"/>
                        <a:t>SNEHA KUMARI</a:t>
                      </a:r>
                    </a:p>
                  </a:txBody>
                  <a:tcPr/>
                </a:tc>
                <a:extLst>
                  <a:ext uri="{0D108BD9-81ED-4DB2-BD59-A6C34878D82A}">
                    <a16:rowId xmlns:a16="http://schemas.microsoft.com/office/drawing/2014/main" val="384340795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 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spcBef>
                <a:spcPts val="0"/>
              </a:spcBef>
              <a:buNone/>
            </a:pPr>
            <a:r>
              <a:rPr lang="en-US" sz="7200" b="1" dirty="0">
                <a:latin typeface="Cambria" panose="02040503050406030204" pitchFamily="18" charset="0"/>
                <a:ea typeface="Cambria" panose="02040503050406030204" pitchFamily="18" charset="0"/>
              </a:rPr>
              <a:t>Organization: Presidency University</a:t>
            </a:r>
          </a:p>
          <a:p>
            <a:pPr marL="342900" lvl="0" indent="-190500" algn="just">
              <a:lnSpc>
                <a:spcPct val="200000"/>
              </a:lnSpc>
              <a:spcBef>
                <a:spcPts val="0"/>
              </a:spcBef>
              <a:buNone/>
            </a:pPr>
            <a:r>
              <a:rPr lang="en-US" sz="7200" b="1" dirty="0">
                <a:latin typeface="Cambria" panose="02040503050406030204" pitchFamily="18" charset="0"/>
                <a:ea typeface="Cambria" panose="02040503050406030204" pitchFamily="18" charset="0"/>
              </a:rPr>
              <a:t>Category (Hardware / Software / Both) : Software</a:t>
            </a:r>
          </a:p>
          <a:p>
            <a:pPr marL="342900" lvl="0" indent="-190500" algn="just">
              <a:lnSpc>
                <a:spcPct val="200000"/>
              </a:lnSpc>
              <a:spcBef>
                <a:spcPts val="0"/>
              </a:spcBef>
              <a:buNone/>
            </a:pPr>
            <a:r>
              <a:rPr lang="en-US" sz="7200" b="1" dirty="0">
                <a:latin typeface="Cambria" panose="02040503050406030204" pitchFamily="18" charset="0"/>
                <a:ea typeface="Cambria" panose="02040503050406030204" pitchFamily="18" charset="0"/>
              </a:rPr>
              <a:t>Problem Description</a:t>
            </a:r>
            <a:r>
              <a:rPr lang="en-US" sz="7200" dirty="0">
                <a:latin typeface="Cambria" panose="02040503050406030204" pitchFamily="18" charset="0"/>
                <a:ea typeface="Cambria" panose="02040503050406030204" pitchFamily="18" charset="0"/>
              </a:rPr>
              <a:t>: Monitoring the progress of building construction projects is often challenging due to the reliance on manual inspections and subjective reporting, which can lead to delays and errors. By systematically collecting and analyzing images, project managers can create visual progress records, compare actual work with planned schedules, generate quantitative progress metrics, and detect delays or quality issues early. This approach improves transparency, reduces the need for frequent site visits, and enhances decision-making, ultimately leading to more efficient project management.</a:t>
            </a:r>
          </a:p>
          <a:p>
            <a:pPr marL="342900" lvl="0" indent="-190500" algn="just">
              <a:lnSpc>
                <a:spcPct val="200000"/>
              </a:lnSpc>
              <a:spcBef>
                <a:spcPts val="0"/>
              </a:spcBef>
              <a:buNone/>
            </a:pPr>
            <a:r>
              <a:rPr lang="en-US" sz="7200" b="1" dirty="0">
                <a:latin typeface="Cambria" panose="02040503050406030204" pitchFamily="18" charset="0"/>
                <a:ea typeface="Cambria" panose="02040503050406030204" pitchFamily="18" charset="0"/>
              </a:rPr>
              <a:t>Expected output: </a:t>
            </a:r>
            <a:r>
              <a:rPr lang="en-US" sz="7200" dirty="0">
                <a:latin typeface="Cambria" panose="02040503050406030204" pitchFamily="18" charset="0"/>
                <a:ea typeface="Cambria" panose="02040503050406030204" pitchFamily="18" charset="0"/>
              </a:rPr>
              <a:t>Accurate visual records and measurable insights on construction progress, enabling early issue detection, reduced manual monitoring, and improved project management efficiency.</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7E1F215-9B22-23AA-9F36-4BB289D78861}"/>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A31D5B9E-FF93-BDDD-734C-B6B0B30F922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a:extLst>
              <a:ext uri="{FF2B5EF4-FFF2-40B4-BE49-F238E27FC236}">
                <a16:creationId xmlns:a16="http://schemas.microsoft.com/office/drawing/2014/main" id="{9A4812CD-E595-2C41-A6A5-6A65D5FBC53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E4158712-FF8D-52DA-D18C-499F199FFF8E}"/>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3363A8BC-EFE3-5238-9F1C-087CCDEC3CAF}"/>
              </a:ext>
            </a:extLst>
          </p:cNvPr>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design and develop a software system that uses site images to monitor and evaluate the progress of construction activities. </a:t>
            </a:r>
          </a:p>
          <a:p>
            <a:pPr marL="495300" indent="-342900" algn="just">
              <a:spcBef>
                <a:spcPts val="0"/>
              </a:spcBef>
              <a:buSzPct val="100000"/>
            </a:pPr>
            <a:endPar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automate the comparison of planned versus actual progress with image data.</a:t>
            </a:r>
            <a:r>
              <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spcBef>
                <a:spcPts val="0"/>
              </a:spcBef>
              <a:buSzPct val="100000"/>
              <a:buNone/>
            </a:pPr>
            <a:endPar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provide visual dashboards and reports for project managers and stakeholders. </a:t>
            </a:r>
          </a:p>
          <a:p>
            <a:pPr marL="342900" indent="-190500" algn="just">
              <a:spcBef>
                <a:spcPts val="0"/>
              </a:spcBef>
              <a:buSzPct val="100000"/>
              <a:buNone/>
            </a:pPr>
            <a:endPar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reduce manual effort, errors, and delays in construction monitoring</a:t>
            </a:r>
            <a:r>
              <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spcBef>
                <a:spcPts val="0"/>
              </a:spcBef>
              <a:buSzPct val="100000"/>
              <a:buNone/>
            </a:pPr>
            <a:endParaRPr lang="en-US" sz="2000"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improve decision-making and transparency in construction projects.</a:t>
            </a:r>
          </a:p>
        </p:txBody>
      </p:sp>
    </p:spTree>
    <p:extLst>
      <p:ext uri="{BB962C8B-B14F-4D97-AF65-F5344CB8AC3E}">
        <p14:creationId xmlns:p14="http://schemas.microsoft.com/office/powerpoint/2010/main" val="1530138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B4F9AA3-38C4-611D-3102-0E2F82D1B79B}"/>
            </a:ext>
          </a:extLst>
        </p:cNvPr>
        <p:cNvGrpSpPr/>
        <p:nvPr/>
      </p:nvGrpSpPr>
      <p:grpSpPr>
        <a:xfrm>
          <a:off x="0" y="0"/>
          <a:ext cx="0" cy="0"/>
          <a:chOff x="0" y="0"/>
          <a:chExt cx="0" cy="0"/>
        </a:xfrm>
      </p:grpSpPr>
      <p:sp>
        <p:nvSpPr>
          <p:cNvPr id="115" name="Google Shape;115;p17">
            <a:extLst>
              <a:ext uri="{FF2B5EF4-FFF2-40B4-BE49-F238E27FC236}">
                <a16:creationId xmlns:a16="http://schemas.microsoft.com/office/drawing/2014/main" id="{04AB48D7-45AE-5F7C-51CF-2D9A5B6383AD}"/>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A10F769A-818B-EDCD-88CF-90697D6B1F88}"/>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64FD54D5-D2DE-A24A-76E2-EB8C89CC02BB}"/>
              </a:ext>
            </a:extLst>
          </p:cNvPr>
          <p:cNvSpPr txBox="1">
            <a:spLocks/>
          </p:cNvSpPr>
          <p:nvPr/>
        </p:nvSpPr>
        <p:spPr>
          <a:xfrm>
            <a:off x="660400" y="1135624"/>
            <a:ext cx="10668000" cy="510540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US" b="1" dirty="0">
                <a:latin typeface="Cambria" panose="02040503050406030204" pitchFamily="18" charset="0"/>
                <a:ea typeface="Cambria" panose="02040503050406030204" pitchFamily="18" charset="0"/>
              </a:rPr>
              <a:t>Background</a:t>
            </a:r>
          </a:p>
          <a:p>
            <a:pPr marL="76200" indent="0">
              <a:buNone/>
            </a:pPr>
            <a:r>
              <a:rPr lang="en-US" sz="1800" dirty="0">
                <a:latin typeface="Cambria" panose="02040503050406030204" pitchFamily="18" charset="0"/>
                <a:ea typeface="Cambria" panose="02040503050406030204" pitchFamily="18" charset="0"/>
                <a:cs typeface="Times New Roman" panose="02020603050405020304" pitchFamily="18" charset="0"/>
              </a:rPr>
              <a:t>Monitoring progress in building construction projects has traditionally relied on manual inspections, site reports, and stakeholder meetings. While these methods provide necessary updates, they are often time-consuming, subjective, and prone to errors, which can result in delays, cost overruns, and miscommunication. With the increasing complexity of modern construction projects, there is a need for more accurate, real-time, and objective progress tracking methods. The integration of digital technologies, especially image-based monitoring through cameras, drones, and mobile devices.</a:t>
            </a:r>
          </a:p>
          <a:p>
            <a:pPr marL="76200" indent="0">
              <a:buNone/>
            </a:pPr>
            <a:endParaRPr lang="en-US" sz="1900" dirty="0">
              <a:latin typeface="Cambria" panose="02040503050406030204" pitchFamily="18" charset="0"/>
              <a:ea typeface="Cambria" panose="02040503050406030204" pitchFamily="18" charset="0"/>
              <a:cs typeface="Times New Roman" panose="02020603050405020304" pitchFamily="18" charset="0"/>
            </a:endParaRPr>
          </a:p>
          <a:p>
            <a:r>
              <a:rPr lang="en-US" b="1" dirty="0">
                <a:latin typeface="Cambria" panose="02040503050406030204" pitchFamily="18" charset="0"/>
                <a:ea typeface="Cambria" panose="02040503050406030204" pitchFamily="18" charset="0"/>
              </a:rPr>
              <a:t>Related Work</a:t>
            </a:r>
          </a:p>
          <a:p>
            <a:pPr marL="76200" indent="0">
              <a:buNone/>
            </a:pPr>
            <a:r>
              <a:rPr lang="en-US" sz="1800" dirty="0">
                <a:latin typeface="Cambria" panose="02040503050406030204" pitchFamily="18" charset="0"/>
                <a:ea typeface="Cambria" panose="02040503050406030204" pitchFamily="18" charset="0"/>
                <a:cs typeface="Times New Roman" panose="02020603050405020304" pitchFamily="18" charset="0"/>
              </a:rPr>
              <a:t>In recent years, several studies and industry applications have explored the use of image-based techniques for construction monitoring. Researchers have applied computer vision and photogrammetry to analyze site images for identifying completed structural components and estimating work progress. Other related works have integrated artificial intelligence and deep learning techniques to classify construction activities and detect safety risks automatically. These advancements demonstrate the potential of image utilization as a reliable, scalable, and cost-effective method for progress monitoring in construction projects</a:t>
            </a:r>
            <a:r>
              <a:rPr lang="en-US" sz="1800" dirty="0">
                <a:latin typeface="Times New Roman" panose="02020603050405020304" pitchFamily="18" charset="0"/>
                <a:cs typeface="Times New Roman" panose="02020603050405020304" pitchFamily="18" charset="0"/>
              </a:rPr>
              <a:t>.</a:t>
            </a:r>
          </a:p>
          <a:p>
            <a:pPr marL="76200" indent="0">
              <a:buNone/>
            </a:pPr>
            <a:endParaRPr lang="en-US" sz="1700" dirty="0"/>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3" name="Title 2">
            <a:extLst>
              <a:ext uri="{FF2B5EF4-FFF2-40B4-BE49-F238E27FC236}">
                <a16:creationId xmlns:a16="http://schemas.microsoft.com/office/drawing/2014/main" id="{151AC202-198B-B26A-139F-9BD4B967605B}"/>
              </a:ext>
            </a:extLst>
          </p:cNvPr>
          <p:cNvSpPr>
            <a:spLocks noGrp="1"/>
          </p:cNvSpPr>
          <p:nvPr>
            <p:ph type="title"/>
          </p:nvPr>
        </p:nvSpPr>
        <p:spPr/>
        <p:txBody>
          <a:bodyPr/>
          <a:lstStyle/>
          <a:p>
            <a:r>
              <a:rPr lang="en-IN" dirty="0"/>
              <a:t>Background and Related work for title Selection</a:t>
            </a:r>
          </a:p>
        </p:txBody>
      </p:sp>
    </p:spTree>
    <p:extLst>
      <p:ext uri="{BB962C8B-B14F-4D97-AF65-F5344CB8AC3E}">
        <p14:creationId xmlns:p14="http://schemas.microsoft.com/office/powerpoint/2010/main" val="1069730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799" y="1143000"/>
            <a:ext cx="10789265" cy="5120148"/>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lnSpc>
                <a:spcPct val="200000"/>
              </a:lnSpc>
              <a:spcBef>
                <a:spcPts val="0"/>
              </a:spcBef>
              <a:buSzPct val="100000"/>
              <a:buNone/>
            </a:pPr>
            <a:r>
              <a:rPr lang="en-US" sz="6400" dirty="0">
                <a:latin typeface="Cambria" panose="02040503050406030204" pitchFamily="18" charset="0"/>
                <a:ea typeface="Cambria" panose="02040503050406030204" pitchFamily="18" charset="0"/>
              </a:rPr>
              <a:t>-</a:t>
            </a:r>
            <a:r>
              <a:rPr lang="en-US" sz="8000" b="1" dirty="0">
                <a:latin typeface="Cambria" panose="02040503050406030204" pitchFamily="18" charset="0"/>
                <a:ea typeface="Cambria" panose="02040503050406030204" pitchFamily="18" charset="0"/>
              </a:rPr>
              <a:t>Current Challenges</a:t>
            </a:r>
          </a:p>
          <a:p>
            <a:pPr marL="342900" lvl="0" indent="-190500" algn="just">
              <a:lnSpc>
                <a:spcPct val="200000"/>
              </a:lnSpc>
              <a:spcBef>
                <a:spcPts val="0"/>
              </a:spcBef>
              <a:buSzPct val="100000"/>
              <a:buNone/>
            </a:pPr>
            <a:r>
              <a:rPr lang="en-US" sz="6400" dirty="0">
                <a:latin typeface="Cambria" panose="02040503050406030204" pitchFamily="18" charset="0"/>
                <a:ea typeface="Cambria" panose="02040503050406030204" pitchFamily="18" charset="0"/>
              </a:rPr>
              <a:t>&gt; </a:t>
            </a:r>
            <a:r>
              <a:rPr lang="en-US" sz="7200" dirty="0">
                <a:latin typeface="Cambria" panose="02040503050406030204" pitchFamily="18" charset="0"/>
                <a:ea typeface="Cambria" panose="02040503050406030204" pitchFamily="18" charset="0"/>
              </a:rPr>
              <a:t>Manual monitoring causes delays and bias in reporting.</a:t>
            </a:r>
          </a:p>
          <a:p>
            <a:pPr marL="342900" lvl="0" indent="-190500" algn="just">
              <a:lnSpc>
                <a:spcPct val="200000"/>
              </a:lnSpc>
              <a:spcBef>
                <a:spcPts val="0"/>
              </a:spcBef>
              <a:buSzPct val="100000"/>
              <a:buNone/>
            </a:pPr>
            <a:r>
              <a:rPr lang="en-US" sz="7200" dirty="0">
                <a:latin typeface="Cambria" panose="02040503050406030204" pitchFamily="18" charset="0"/>
                <a:ea typeface="Cambria" panose="02040503050406030204" pitchFamily="18" charset="0"/>
              </a:rPr>
              <a:t>&gt; There are no real-time updates for stakeholders.</a:t>
            </a:r>
          </a:p>
          <a:p>
            <a:pPr marL="342900" lvl="0" indent="-190500" algn="just">
              <a:lnSpc>
                <a:spcPct val="200000"/>
              </a:lnSpc>
              <a:spcBef>
                <a:spcPts val="0"/>
              </a:spcBef>
              <a:buSzPct val="100000"/>
              <a:buNone/>
            </a:pPr>
            <a:r>
              <a:rPr lang="en-US" sz="7200" dirty="0">
                <a:latin typeface="Cambria" panose="02040503050406030204" pitchFamily="18" charset="0"/>
                <a:ea typeface="Cambria" panose="02040503050406030204" pitchFamily="18" charset="0"/>
              </a:rPr>
              <a:t>&gt; It is hard to keep accurate documentation of progress.</a:t>
            </a:r>
          </a:p>
          <a:p>
            <a:pPr marL="342900" lvl="0" indent="-190500" algn="just">
              <a:lnSpc>
                <a:spcPct val="200000"/>
              </a:lnSpc>
              <a:spcBef>
                <a:spcPts val="0"/>
              </a:spcBef>
              <a:buSzPct val="100000"/>
              <a:buNone/>
            </a:pPr>
            <a:r>
              <a:rPr lang="en-US" sz="7200" dirty="0">
                <a:latin typeface="Cambria" panose="02040503050406030204" pitchFamily="18" charset="0"/>
                <a:ea typeface="Cambria" panose="02040503050406030204" pitchFamily="18" charset="0"/>
              </a:rPr>
              <a:t>&gt; Disagreements arise from differences between reported and actual work.</a:t>
            </a:r>
          </a:p>
          <a:p>
            <a:pPr marL="342900" lvl="0" indent="-190500" algn="just">
              <a:lnSpc>
                <a:spcPct val="200000"/>
              </a:lnSpc>
              <a:spcBef>
                <a:spcPts val="0"/>
              </a:spcBef>
              <a:buSzPct val="100000"/>
              <a:buNone/>
            </a:pPr>
            <a:r>
              <a:rPr lang="en-US" sz="6400" dirty="0">
                <a:latin typeface="Cambria" panose="02040503050406030204" pitchFamily="18" charset="0"/>
                <a:ea typeface="Cambria" panose="02040503050406030204" pitchFamily="18" charset="0"/>
              </a:rPr>
              <a:t>-</a:t>
            </a:r>
            <a:r>
              <a:rPr lang="en-US" sz="8000" b="1" dirty="0">
                <a:latin typeface="Cambria" panose="02040503050406030204" pitchFamily="18" charset="0"/>
                <a:ea typeface="Cambria" panose="02040503050406030204" pitchFamily="18" charset="0"/>
              </a:rPr>
              <a:t>Opportunities with Image Use</a:t>
            </a:r>
          </a:p>
          <a:p>
            <a:pPr marL="342900" lvl="0" indent="-190500" algn="just">
              <a:lnSpc>
                <a:spcPct val="200000"/>
              </a:lnSpc>
              <a:spcBef>
                <a:spcPts val="0"/>
              </a:spcBef>
              <a:buSzPct val="100000"/>
              <a:buNone/>
            </a:pPr>
            <a:r>
              <a:rPr lang="en-US" sz="7200" dirty="0">
                <a:latin typeface="Cambria" panose="02040503050406030204" pitchFamily="18" charset="0"/>
                <a:ea typeface="Cambria" panose="02040503050406030204" pitchFamily="18" charset="0"/>
              </a:rPr>
              <a:t>&gt; Site images can be processed and analyzed automatically.</a:t>
            </a:r>
          </a:p>
          <a:p>
            <a:pPr marL="342900" lvl="0" indent="-190500" algn="just">
              <a:lnSpc>
                <a:spcPct val="200000"/>
              </a:lnSpc>
              <a:spcBef>
                <a:spcPts val="0"/>
              </a:spcBef>
              <a:buSzPct val="100000"/>
              <a:buNone/>
            </a:pPr>
            <a:r>
              <a:rPr lang="en-US" sz="7200" dirty="0">
                <a:latin typeface="Cambria" panose="02040503050406030204" pitchFamily="18" charset="0"/>
                <a:ea typeface="Cambria" panose="02040503050406030204" pitchFamily="18" charset="0"/>
              </a:rPr>
              <a:t>&gt; Image-based progress tracking gives visual proof.</a:t>
            </a:r>
          </a:p>
          <a:p>
            <a:pPr marL="342900" lvl="0" indent="-190500" algn="just">
              <a:lnSpc>
                <a:spcPct val="200000"/>
              </a:lnSpc>
              <a:spcBef>
                <a:spcPts val="0"/>
              </a:spcBef>
              <a:buSzPct val="100000"/>
              <a:buNone/>
            </a:pPr>
            <a:r>
              <a:rPr lang="en-US" sz="7200" dirty="0">
                <a:latin typeface="Cambria" panose="02040503050406030204" pitchFamily="18" charset="0"/>
                <a:ea typeface="Cambria" panose="02040503050406030204" pitchFamily="18" charset="0"/>
              </a:rPr>
              <a:t>&gt; Using AI/ML can help find completed and pending tasks.</a:t>
            </a:r>
          </a:p>
          <a:p>
            <a:pPr marL="342900" lvl="0" indent="-190500" algn="just">
              <a:lnSpc>
                <a:spcPct val="200000"/>
              </a:lnSpc>
              <a:spcBef>
                <a:spcPts val="0"/>
              </a:spcBef>
              <a:buSzPct val="100000"/>
              <a:buNone/>
            </a:pPr>
            <a:r>
              <a:rPr lang="en-US" sz="7200" dirty="0">
                <a:latin typeface="Cambria" panose="02040503050406030204" pitchFamily="18" charset="0"/>
                <a:ea typeface="Cambria" panose="02040503050406030204" pitchFamily="18" charset="0"/>
              </a:rPr>
              <a:t>&gt; Digital records improve project transparency and cut down on disputes.</a:t>
            </a:r>
          </a:p>
          <a:p>
            <a:pPr marL="342900" lvl="0" indent="-190500" algn="just">
              <a:lnSpc>
                <a:spcPct val="200000"/>
              </a:lnSpc>
              <a:spcBef>
                <a:spcPts val="0"/>
              </a:spcBef>
              <a:buSzPct val="100000"/>
              <a:buNone/>
            </a:pPr>
            <a:endParaRPr lang="en-US" sz="6400" dirty="0">
              <a:latin typeface="Cambria" panose="02040503050406030204" pitchFamily="18" charset="0"/>
              <a:ea typeface="Cambria" panose="02040503050406030204" pitchFamily="18" charset="0"/>
            </a:endParaRPr>
          </a:p>
          <a:p>
            <a:pPr marL="342900" lvl="0" indent="-190500" algn="just">
              <a:lnSpc>
                <a:spcPct val="200000"/>
              </a:lnSpc>
              <a:spcBef>
                <a:spcPts val="0"/>
              </a:spcBef>
              <a:buSzPct val="100000"/>
              <a:buNone/>
            </a:pPr>
            <a:endParaRPr lang="en-US" sz="6400" dirty="0">
              <a:latin typeface="Cambria" panose="02040503050406030204" pitchFamily="18" charset="0"/>
              <a:ea typeface="Cambria" panose="02040503050406030204" pitchFamily="18" charset="0"/>
            </a:endParaRPr>
          </a:p>
          <a:p>
            <a:pPr marL="342900" lvl="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a:t>
            </a:r>
            <a:r>
              <a:rPr lang="en-US" b="1" dirty="0">
                <a:latin typeface="Cambria" panose="02040503050406030204" pitchFamily="18" charset="0"/>
                <a:ea typeface="Cambria" panose="02040503050406030204" pitchFamily="18" charset="0"/>
              </a:rPr>
              <a:t>Scope of the Solution</a:t>
            </a:r>
          </a:p>
          <a:p>
            <a:pPr marL="342900" lvl="0" indent="-190500" algn="just">
              <a:lnSpc>
                <a:spcPct val="200000"/>
              </a:lnSpc>
              <a:spcBef>
                <a:spcPts val="0"/>
              </a:spcBef>
              <a:buSzPct val="100000"/>
              <a:buNone/>
            </a:pPr>
            <a:r>
              <a:rPr lang="en-US" sz="2000" dirty="0">
                <a:latin typeface="Cambria" panose="02040503050406030204" pitchFamily="18" charset="0"/>
                <a:ea typeface="Cambria" panose="02040503050406030204" pitchFamily="18" charset="0"/>
              </a:rPr>
              <a:t>&gt;Take images of construction sites at regular intervals.</a:t>
            </a:r>
          </a:p>
          <a:p>
            <a:pPr marL="342900" lvl="0" indent="-190500" algn="just">
              <a:lnSpc>
                <a:spcPct val="200000"/>
              </a:lnSpc>
              <a:spcBef>
                <a:spcPts val="0"/>
              </a:spcBef>
              <a:buSzPct val="100000"/>
              <a:buNone/>
            </a:pPr>
            <a:r>
              <a:rPr lang="en-US" sz="2000" dirty="0">
                <a:latin typeface="Cambria" panose="02040503050406030204" pitchFamily="18" charset="0"/>
                <a:ea typeface="Cambria" panose="02040503050406030204" pitchFamily="18" charset="0"/>
              </a:rPr>
              <a:t>&gt;Analyze images to identify progress (e.g., wall completion, flooring, structure).</a:t>
            </a:r>
          </a:p>
          <a:p>
            <a:pPr marL="342900" lvl="0" indent="-190500" algn="just">
              <a:lnSpc>
                <a:spcPct val="200000"/>
              </a:lnSpc>
              <a:spcBef>
                <a:spcPts val="0"/>
              </a:spcBef>
              <a:buSzPct val="100000"/>
              <a:buNone/>
            </a:pPr>
            <a:r>
              <a:rPr lang="en-US" sz="2000" dirty="0">
                <a:latin typeface="Cambria" panose="02040503050406030204" pitchFamily="18" charset="0"/>
                <a:ea typeface="Cambria" panose="02040503050406030204" pitchFamily="18" charset="0"/>
              </a:rPr>
              <a:t>&gt;Store and compare progress against project schedules.</a:t>
            </a:r>
          </a:p>
          <a:p>
            <a:pPr marL="342900" lvl="0" indent="-190500" algn="just">
              <a:lnSpc>
                <a:spcPct val="200000"/>
              </a:lnSpc>
              <a:spcBef>
                <a:spcPts val="0"/>
              </a:spcBef>
              <a:buSzPct val="100000"/>
              <a:buNone/>
            </a:pPr>
            <a:r>
              <a:rPr lang="en-US" sz="2000" dirty="0">
                <a:latin typeface="Cambria" panose="02040503050406030204" pitchFamily="18" charset="0"/>
                <a:ea typeface="Cambria" panose="02040503050406030204" pitchFamily="18" charset="0"/>
              </a:rPr>
              <a:t>&gt;Create reports and alerts for project managers.</a:t>
            </a: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AB1297B-33FC-16A2-4D95-14AA4454814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C4D3E3C-D5B4-C9C3-7E4B-5AA96DDBF7E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Innovation or  Novel Contributions</a:t>
            </a:r>
          </a:p>
        </p:txBody>
      </p:sp>
      <p:sp>
        <p:nvSpPr>
          <p:cNvPr id="115" name="Google Shape;115;p17">
            <a:extLst>
              <a:ext uri="{FF2B5EF4-FFF2-40B4-BE49-F238E27FC236}">
                <a16:creationId xmlns:a16="http://schemas.microsoft.com/office/drawing/2014/main" id="{A599E889-8F4B-F918-9AE3-4A62976B005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6234DBBE-C3B7-C112-C5A3-B325D03103F4}"/>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47F39FB1-EF57-B9E8-4C09-806380E4267C}"/>
              </a:ext>
            </a:extLst>
          </p:cNvPr>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fontScale="55000" lnSpcReduction="2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sz="3600" b="1" dirty="0">
                <a:solidFill>
                  <a:schemeClr val="tx1">
                    <a:lumMod val="85000"/>
                    <a:lumOff val="15000"/>
                  </a:schemeClr>
                </a:solidFill>
                <a:latin typeface="Cambria" panose="02040503050406030204" pitchFamily="18" charset="0"/>
                <a:ea typeface="Cambria" panose="02040503050406030204" pitchFamily="18" charset="0"/>
              </a:rPr>
              <a:t>The proposed project introduces a software-based image monitoring system with the following innovative aspects:</a:t>
            </a:r>
          </a:p>
          <a:p>
            <a:pPr marL="342900" indent="-190500" algn="just">
              <a:spcBef>
                <a:spcPts val="0"/>
              </a:spcBef>
              <a:buSzPct val="100000"/>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b="1" dirty="0">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sz="2900" b="1"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3200" b="1" dirty="0">
                <a:latin typeface="Cambria" panose="02040503050406030204" pitchFamily="18" charset="0"/>
                <a:ea typeface="Cambria" panose="02040503050406030204" pitchFamily="18" charset="0"/>
              </a:rPr>
              <a:t>Affordable &amp; Accessible </a:t>
            </a:r>
            <a:r>
              <a:rPr lang="en-US" sz="3200" dirty="0">
                <a:latin typeface="Cambria" panose="02040503050406030204" pitchFamily="18" charset="0"/>
                <a:ea typeface="Cambria" panose="02040503050406030204" pitchFamily="18" charset="0"/>
              </a:rPr>
              <a:t>– </a:t>
            </a:r>
            <a:r>
              <a:rPr lang="en-US" sz="3300" dirty="0">
                <a:latin typeface="Cambria" panose="02040503050406030204" pitchFamily="18" charset="0"/>
                <a:ea typeface="Cambria" panose="02040503050406030204" pitchFamily="18" charset="0"/>
              </a:rPr>
              <a:t>Unlike high-cost BIM or drone solutions, the system is designed as a low-cost software tool accessible to small and medium construction firms.</a:t>
            </a:r>
          </a:p>
          <a:p>
            <a:pPr marL="342900" indent="-190500" algn="just">
              <a:spcBef>
                <a:spcPts val="0"/>
              </a:spcBef>
              <a:buSzPct val="100000"/>
              <a:buNone/>
            </a:pPr>
            <a:endParaRPr lang="en-US" sz="36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3600" b="1" dirty="0">
                <a:latin typeface="Cambria" panose="02040503050406030204" pitchFamily="18" charset="0"/>
                <a:ea typeface="Cambria" panose="02040503050406030204" pitchFamily="18" charset="0"/>
              </a:rPr>
              <a:t>Automated Progress Tracking </a:t>
            </a:r>
            <a:r>
              <a:rPr lang="en-US" sz="3300" dirty="0">
                <a:latin typeface="Cambria" panose="02040503050406030204" pitchFamily="18" charset="0"/>
                <a:ea typeface="Cambria" panose="02040503050406030204" pitchFamily="18" charset="0"/>
              </a:rPr>
              <a:t>– Uses image processing to automatically compare site progress with planned schedules.</a:t>
            </a:r>
          </a:p>
          <a:p>
            <a:pPr marL="342900" indent="-190500" algn="just">
              <a:spcBef>
                <a:spcPts val="0"/>
              </a:spcBef>
              <a:buSzPct val="100000"/>
              <a:buNone/>
            </a:pPr>
            <a:endParaRPr lang="en-US" sz="29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3600" b="1" dirty="0">
                <a:latin typeface="Cambria" panose="02040503050406030204" pitchFamily="18" charset="0"/>
                <a:ea typeface="Cambria" panose="02040503050406030204" pitchFamily="18" charset="0"/>
              </a:rPr>
              <a:t>Visual Evidence Reporting </a:t>
            </a:r>
            <a:r>
              <a:rPr lang="en-US" sz="2900" dirty="0">
                <a:latin typeface="Cambria" panose="02040503050406030204" pitchFamily="18" charset="0"/>
                <a:ea typeface="Cambria" panose="02040503050406030204" pitchFamily="18" charset="0"/>
              </a:rPr>
              <a:t>– </a:t>
            </a:r>
            <a:r>
              <a:rPr lang="en-US" sz="3300" dirty="0">
                <a:latin typeface="Cambria" panose="02040503050406030204" pitchFamily="18" charset="0"/>
                <a:ea typeface="Cambria" panose="02040503050406030204" pitchFamily="18" charset="0"/>
              </a:rPr>
              <a:t>Generates dashboards and reports enriched with visual proof (before/after images).</a:t>
            </a:r>
          </a:p>
          <a:p>
            <a:pPr marL="342900" indent="-190500" algn="just">
              <a:spcBef>
                <a:spcPts val="0"/>
              </a:spcBef>
              <a:buSzPct val="100000"/>
              <a:buNone/>
            </a:pPr>
            <a:endParaRPr lang="en-US" sz="29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3600" b="1" dirty="0">
                <a:latin typeface="Cambria" panose="02040503050406030204" pitchFamily="18" charset="0"/>
                <a:ea typeface="Cambria" panose="02040503050406030204" pitchFamily="18" charset="0"/>
              </a:rPr>
              <a:t>Integration with Databases </a:t>
            </a:r>
            <a:r>
              <a:rPr lang="en-US" sz="2900" dirty="0">
                <a:latin typeface="Cambria" panose="02040503050406030204" pitchFamily="18" charset="0"/>
                <a:ea typeface="Cambria" panose="02040503050406030204" pitchFamily="18" charset="0"/>
              </a:rPr>
              <a:t>– </a:t>
            </a:r>
            <a:r>
              <a:rPr lang="en-US" sz="3300" dirty="0">
                <a:latin typeface="Cambria" panose="02040503050406030204" pitchFamily="18" charset="0"/>
                <a:ea typeface="Cambria" panose="02040503050406030204" pitchFamily="18" charset="0"/>
              </a:rPr>
              <a:t>Stores progress history for transparency, reducing disputes among stakeholders.</a:t>
            </a:r>
          </a:p>
          <a:p>
            <a:pPr marL="342900" indent="-190500" algn="just">
              <a:spcBef>
                <a:spcPts val="0"/>
              </a:spcBef>
              <a:buSzPct val="100000"/>
              <a:buNone/>
            </a:pPr>
            <a:endParaRPr lang="en-US" sz="2900"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sz="3600" b="1" dirty="0">
                <a:latin typeface="Cambria" panose="02040503050406030204" pitchFamily="18" charset="0"/>
                <a:ea typeface="Cambria" panose="02040503050406030204" pitchFamily="18" charset="0"/>
              </a:rPr>
              <a:t>Scalable &amp; Extensible </a:t>
            </a:r>
            <a:r>
              <a:rPr lang="en-US" sz="2900" dirty="0">
                <a:latin typeface="Cambria" panose="02040503050406030204" pitchFamily="18" charset="0"/>
                <a:ea typeface="Cambria" panose="02040503050406030204" pitchFamily="18" charset="0"/>
              </a:rPr>
              <a:t>– </a:t>
            </a:r>
            <a:r>
              <a:rPr lang="en-US" sz="3300" dirty="0">
                <a:latin typeface="Cambria" panose="02040503050406030204" pitchFamily="18" charset="0"/>
                <a:ea typeface="Cambria" panose="02040503050406030204" pitchFamily="18" charset="0"/>
              </a:rPr>
              <a:t>Can be enhanced with AI/ML models for object detection (e.g., detecting completed structural components).</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38402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890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dirty="0">
                <a:latin typeface="Cambria" panose="02040503050406030204" pitchFamily="18" charset="0"/>
                <a:ea typeface="Cambria" panose="02040503050406030204" pitchFamily="18" charset="0"/>
              </a:rPr>
              <a:t>https://github.com/Tanushreems/Utilization-of-images-for-monitoring-of-progress-of-construction-activities.git</a:t>
            </a:r>
          </a:p>
          <a:p>
            <a:pPr marL="342900" indent="-190500" algn="just">
              <a:spcBef>
                <a:spcPts val="0"/>
              </a:spcBef>
              <a:buSzPct val="100000"/>
              <a:buNone/>
            </a:pPr>
            <a:endParaRPr lang="en-US">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BFE8FCCC-18B8-7994-A599-AB1C2128DBD9}"/>
              </a:ext>
            </a:extLst>
          </p:cNvPr>
          <p:cNvPicPr>
            <a:picLocks noChangeAspect="1"/>
          </p:cNvPicPr>
          <p:nvPr/>
        </p:nvPicPr>
        <p:blipFill>
          <a:blip r:embed="rId3"/>
          <a:stretch>
            <a:fillRect/>
          </a:stretch>
        </p:blipFill>
        <p:spPr>
          <a:xfrm>
            <a:off x="812800" y="1143000"/>
            <a:ext cx="10668000" cy="495300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76200" indent="0">
              <a:buNone/>
            </a:pPr>
            <a:r>
              <a:rPr lang="en-IN" sz="1900" dirty="0"/>
              <a:t>[1</a:t>
            </a:r>
            <a:r>
              <a:rPr lang="en-IN" sz="1900" dirty="0">
                <a:latin typeface="Cambria" panose="02040503050406030204" pitchFamily="18" charset="0"/>
                <a:ea typeface="Cambria" panose="02040503050406030204" pitchFamily="18" charset="0"/>
              </a:rPr>
              <a:t>] H. Yang, C. Li, Z. Zhang, and Z. Huang, “Computer vision for construction progress monitoring: A real-time object detection approach,” </a:t>
            </a:r>
            <a:r>
              <a:rPr lang="en-IN" sz="1900" i="1" dirty="0" err="1">
                <a:latin typeface="Cambria" panose="02040503050406030204" pitchFamily="18" charset="0"/>
                <a:ea typeface="Cambria" panose="02040503050406030204" pitchFamily="18" charset="0"/>
              </a:rPr>
              <a:t>arXiv</a:t>
            </a:r>
            <a:r>
              <a:rPr lang="en-IN" sz="1900" i="1" dirty="0">
                <a:latin typeface="Cambria" panose="02040503050406030204" pitchFamily="18" charset="0"/>
                <a:ea typeface="Cambria" panose="02040503050406030204" pitchFamily="18" charset="0"/>
              </a:rPr>
              <a:t> preprint arXiv:2305.15097</a:t>
            </a:r>
            <a:r>
              <a:rPr lang="en-IN" sz="1900" dirty="0">
                <a:latin typeface="Cambria" panose="02040503050406030204" pitchFamily="18" charset="0"/>
                <a:ea typeface="Cambria" panose="02040503050406030204" pitchFamily="18" charset="0"/>
              </a:rPr>
              <a:t>, 2023.</a:t>
            </a:r>
          </a:p>
          <a:p>
            <a:pPr marL="76200" indent="0">
              <a:buNone/>
            </a:pPr>
            <a:endParaRPr lang="en-IN" sz="1900" dirty="0">
              <a:latin typeface="Cambria" panose="02040503050406030204" pitchFamily="18" charset="0"/>
              <a:ea typeface="Cambria" panose="02040503050406030204" pitchFamily="18" charset="0"/>
            </a:endParaRPr>
          </a:p>
          <a:p>
            <a:pPr marL="76200" indent="0">
              <a:buNone/>
            </a:pPr>
            <a:r>
              <a:rPr lang="en-IN" sz="1900" dirty="0">
                <a:latin typeface="Cambria" panose="02040503050406030204" pitchFamily="18" charset="0"/>
                <a:ea typeface="Cambria" panose="02040503050406030204" pitchFamily="18" charset="0"/>
              </a:rPr>
              <a:t>[2] N. </a:t>
            </a:r>
            <a:r>
              <a:rPr lang="en-IN" sz="1900" dirty="0" err="1">
                <a:latin typeface="Cambria" panose="02040503050406030204" pitchFamily="18" charset="0"/>
                <a:ea typeface="Cambria" panose="02040503050406030204" pitchFamily="18" charset="0"/>
              </a:rPr>
              <a:t>Mahami</a:t>
            </a:r>
            <a:r>
              <a:rPr lang="en-IN" sz="1900" dirty="0">
                <a:latin typeface="Cambria" panose="02040503050406030204" pitchFamily="18" charset="0"/>
                <a:ea typeface="Cambria" panose="02040503050406030204" pitchFamily="18" charset="0"/>
              </a:rPr>
              <a:t>, A. </a:t>
            </a:r>
            <a:r>
              <a:rPr lang="en-IN" sz="1900" dirty="0" err="1">
                <a:latin typeface="Cambria" panose="02040503050406030204" pitchFamily="18" charset="0"/>
                <a:ea typeface="Cambria" panose="02040503050406030204" pitchFamily="18" charset="0"/>
              </a:rPr>
              <a:t>Mahami</a:t>
            </a:r>
            <a:r>
              <a:rPr lang="en-IN" sz="1900" dirty="0">
                <a:latin typeface="Cambria" panose="02040503050406030204" pitchFamily="18" charset="0"/>
                <a:ea typeface="Cambria" panose="02040503050406030204" pitchFamily="18" charset="0"/>
              </a:rPr>
              <a:t>, and F. Zafari, “Material recognition for automated progress monitoring using deep learning methods,” </a:t>
            </a:r>
            <a:r>
              <a:rPr lang="en-IN" sz="1900" i="1" dirty="0" err="1">
                <a:latin typeface="Cambria" panose="02040503050406030204" pitchFamily="18" charset="0"/>
                <a:ea typeface="Cambria" panose="02040503050406030204" pitchFamily="18" charset="0"/>
              </a:rPr>
              <a:t>arXiv</a:t>
            </a:r>
            <a:r>
              <a:rPr lang="en-IN" sz="1900" i="1" dirty="0">
                <a:latin typeface="Cambria" panose="02040503050406030204" pitchFamily="18" charset="0"/>
                <a:ea typeface="Cambria" panose="02040503050406030204" pitchFamily="18" charset="0"/>
              </a:rPr>
              <a:t> preprint arXiv:2006.16344</a:t>
            </a:r>
            <a:r>
              <a:rPr lang="en-IN" sz="1900" dirty="0">
                <a:latin typeface="Cambria" panose="02040503050406030204" pitchFamily="18" charset="0"/>
                <a:ea typeface="Cambria" panose="02040503050406030204" pitchFamily="18" charset="0"/>
              </a:rPr>
              <a:t>, 2020.</a:t>
            </a:r>
          </a:p>
          <a:p>
            <a:pPr marL="76200" indent="0">
              <a:buNone/>
            </a:pPr>
            <a:endParaRPr lang="en-IN" sz="1900" dirty="0">
              <a:latin typeface="Cambria" panose="02040503050406030204" pitchFamily="18" charset="0"/>
              <a:ea typeface="Cambria" panose="02040503050406030204" pitchFamily="18" charset="0"/>
            </a:endParaRPr>
          </a:p>
          <a:p>
            <a:pPr marL="76200" indent="0">
              <a:buNone/>
            </a:pPr>
            <a:r>
              <a:rPr lang="en-IN" sz="1900" dirty="0">
                <a:latin typeface="Cambria" panose="02040503050406030204" pitchFamily="18" charset="0"/>
                <a:ea typeface="Cambria" panose="02040503050406030204" pitchFamily="18" charset="0"/>
              </a:rPr>
              <a:t>[3] A. Becker, M. Mukadam, and S. Scherer, “3D coverage path planning for efficient construction progress monitoring,” </a:t>
            </a:r>
            <a:r>
              <a:rPr lang="en-IN" sz="1900" i="1" dirty="0" err="1">
                <a:latin typeface="Cambria" panose="02040503050406030204" pitchFamily="18" charset="0"/>
                <a:ea typeface="Cambria" panose="02040503050406030204" pitchFamily="18" charset="0"/>
              </a:rPr>
              <a:t>arXiv</a:t>
            </a:r>
            <a:r>
              <a:rPr lang="en-IN" sz="1900" i="1" dirty="0">
                <a:latin typeface="Cambria" panose="02040503050406030204" pitchFamily="18" charset="0"/>
                <a:ea typeface="Cambria" panose="02040503050406030204" pitchFamily="18" charset="0"/>
              </a:rPr>
              <a:t> preprint arXiv:2302.00968</a:t>
            </a:r>
            <a:r>
              <a:rPr lang="en-IN" sz="1900" dirty="0">
                <a:latin typeface="Cambria" panose="02040503050406030204" pitchFamily="18" charset="0"/>
                <a:ea typeface="Cambria" panose="02040503050406030204" pitchFamily="18" charset="0"/>
              </a:rPr>
              <a:t>, 2023.</a:t>
            </a:r>
          </a:p>
          <a:p>
            <a:pPr marL="76200" indent="0">
              <a:buNone/>
            </a:pPr>
            <a:endParaRPr lang="en-IN" sz="1900" dirty="0">
              <a:latin typeface="Cambria" panose="02040503050406030204" pitchFamily="18" charset="0"/>
              <a:ea typeface="Cambria" panose="02040503050406030204" pitchFamily="18" charset="0"/>
            </a:endParaRPr>
          </a:p>
          <a:p>
            <a:pPr marL="76200" indent="0">
              <a:buNone/>
            </a:pPr>
            <a:r>
              <a:rPr lang="en-IN" sz="1900" dirty="0">
                <a:latin typeface="Cambria" panose="02040503050406030204" pitchFamily="18" charset="0"/>
                <a:ea typeface="Cambria" panose="02040503050406030204" pitchFamily="18" charset="0"/>
              </a:rPr>
              <a:t>[4] K. Karsch, H. </a:t>
            </a:r>
            <a:r>
              <a:rPr lang="en-IN" sz="1900" dirty="0" err="1">
                <a:latin typeface="Cambria" panose="02040503050406030204" pitchFamily="18" charset="0"/>
                <a:ea typeface="Cambria" panose="02040503050406030204" pitchFamily="18" charset="0"/>
              </a:rPr>
              <a:t>Golparvar</a:t>
            </a:r>
            <a:r>
              <a:rPr lang="en-IN" sz="1900" dirty="0">
                <a:latin typeface="Cambria" panose="02040503050406030204" pitchFamily="18" charset="0"/>
                <a:ea typeface="Cambria" panose="02040503050406030204" pitchFamily="18" charset="0"/>
              </a:rPr>
              <a:t>-Fard, and D. Forsyth, “</a:t>
            </a:r>
            <a:r>
              <a:rPr lang="en-IN" sz="1900" dirty="0" err="1">
                <a:latin typeface="Cambria" panose="02040503050406030204" pitchFamily="18" charset="0"/>
                <a:ea typeface="Cambria" panose="02040503050406030204" pitchFamily="18" charset="0"/>
              </a:rPr>
              <a:t>ConstructAide</a:t>
            </a:r>
            <a:r>
              <a:rPr lang="en-IN" sz="1900" dirty="0">
                <a:latin typeface="Cambria" panose="02040503050406030204" pitchFamily="18" charset="0"/>
                <a:ea typeface="Cambria" panose="02040503050406030204" pitchFamily="18" charset="0"/>
              </a:rPr>
              <a:t>: </a:t>
            </a:r>
            <a:r>
              <a:rPr lang="en-IN" sz="1900" dirty="0" err="1">
                <a:latin typeface="Cambria" panose="02040503050406030204" pitchFamily="18" charset="0"/>
                <a:ea typeface="Cambria" panose="02040503050406030204" pitchFamily="18" charset="0"/>
              </a:rPr>
              <a:t>Analyzing</a:t>
            </a:r>
            <a:r>
              <a:rPr lang="en-IN" sz="1900" dirty="0">
                <a:latin typeface="Cambria" panose="02040503050406030204" pitchFamily="18" charset="0"/>
                <a:ea typeface="Cambria" panose="02040503050406030204" pitchFamily="18" charset="0"/>
              </a:rPr>
              <a:t> and visualizing construction sites through photographs and building models,” </a:t>
            </a:r>
            <a:r>
              <a:rPr lang="en-IN" sz="1900" i="1" dirty="0" err="1">
                <a:latin typeface="Cambria" panose="02040503050406030204" pitchFamily="18" charset="0"/>
                <a:ea typeface="Cambria" panose="02040503050406030204" pitchFamily="18" charset="0"/>
              </a:rPr>
              <a:t>arXiv</a:t>
            </a:r>
            <a:r>
              <a:rPr lang="en-IN" sz="1900" i="1" dirty="0">
                <a:latin typeface="Cambria" panose="02040503050406030204" pitchFamily="18" charset="0"/>
                <a:ea typeface="Cambria" panose="02040503050406030204" pitchFamily="18" charset="0"/>
              </a:rPr>
              <a:t> preprint arXiv:1912.11567</a:t>
            </a:r>
            <a:r>
              <a:rPr lang="en-IN" sz="1900" dirty="0">
                <a:latin typeface="Cambria" panose="02040503050406030204" pitchFamily="18" charset="0"/>
                <a:ea typeface="Cambria" panose="02040503050406030204" pitchFamily="18" charset="0"/>
              </a:rPr>
              <a:t>, 2019.</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993</Words>
  <Application>Microsoft Office PowerPoint</Application>
  <PresentationFormat>Widescreen</PresentationFormat>
  <Paragraphs>134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vt:lpstr>
      <vt:lpstr>Times New Roman</vt:lpstr>
      <vt:lpstr>Verdana</vt:lpstr>
      <vt:lpstr>Wingdings</vt:lpstr>
      <vt:lpstr>Bioinformatics</vt:lpstr>
      <vt:lpstr>UTILIZATION OF IMAGES FOR MONITORING OF PROGRESS OF CONSTRUCTION ACTIVITIES FOR BUILDING CONSTRUCTION PROJECTS</vt:lpstr>
      <vt:lpstr>Content</vt:lpstr>
      <vt:lpstr>Problem Statement Number: </vt:lpstr>
      <vt:lpstr>Objectives</vt:lpstr>
      <vt:lpstr>Background and Related work for title Selection</vt:lpstr>
      <vt:lpstr>Analysis of Problem Statement (contd...)</vt:lpstr>
      <vt:lpstr>Analysis of Problem Statement (contd...)</vt:lpstr>
      <vt:lpstr>Innovation or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gagana sarji</cp:lastModifiedBy>
  <cp:revision>41</cp:revision>
  <dcterms:modified xsi:type="dcterms:W3CDTF">2025-11-12T03:50:44Z</dcterms:modified>
</cp:coreProperties>
</file>