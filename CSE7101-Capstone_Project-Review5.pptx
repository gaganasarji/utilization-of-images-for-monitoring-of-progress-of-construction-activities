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77" r:id="rId4"/>
    <p:sldId id="269" r:id="rId5"/>
    <p:sldId id="274" r:id="rId6"/>
    <p:sldId id="278" r:id="rId7"/>
    <p:sldId id="275" r:id="rId8"/>
    <p:sldId id="268" r:id="rId9"/>
    <p:sldId id="270" r:id="rId10"/>
    <p:sldId id="265" r:id="rId11"/>
    <p:sldId id="283" r:id="rId12"/>
    <p:sldId id="279" r:id="rId13"/>
    <p:sldId id="280" r:id="rId14"/>
    <p:sldId id="281" r:id="rId15"/>
    <p:sldId id="282"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D806C4-71D5-4874-845C-2311CDFDF98C}" v="31" dt="2025-12-04T13:09:10.371"/>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47"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gana sarji" userId="e2d1ac419054d909" providerId="LiveId" clId="{22F0E7AE-821A-49BC-95B3-7D57E36F0A68}"/>
    <pc:docChg chg="undo custSel addSld delSld modSld sldOrd">
      <pc:chgData name="gagana sarji" userId="e2d1ac419054d909" providerId="LiveId" clId="{22F0E7AE-821A-49BC-95B3-7D57E36F0A68}" dt="2025-12-04T13:13:22.223" v="838" actId="2711"/>
      <pc:docMkLst>
        <pc:docMk/>
      </pc:docMkLst>
      <pc:sldChg chg="modSp mod">
        <pc:chgData name="gagana sarji" userId="e2d1ac419054d909" providerId="LiveId" clId="{22F0E7AE-821A-49BC-95B3-7D57E36F0A68}" dt="2025-12-04T13:13:22.223" v="838" actId="2711"/>
        <pc:sldMkLst>
          <pc:docMk/>
          <pc:sldMk cId="0" sldId="256"/>
        </pc:sldMkLst>
        <pc:spChg chg="mod">
          <ac:chgData name="gagana sarji" userId="e2d1ac419054d909" providerId="LiveId" clId="{22F0E7AE-821A-49BC-95B3-7D57E36F0A68}" dt="2025-12-04T12:20:30.990" v="23" actId="20577"/>
          <ac:spMkLst>
            <pc:docMk/>
            <pc:sldMk cId="0" sldId="256"/>
            <ac:spMk id="91" creationId="{00000000-0000-0000-0000-000000000000}"/>
          </ac:spMkLst>
        </pc:spChg>
        <pc:graphicFrameChg chg="modGraphic">
          <ac:chgData name="gagana sarji" userId="e2d1ac419054d909" providerId="LiveId" clId="{22F0E7AE-821A-49BC-95B3-7D57E36F0A68}" dt="2025-12-04T13:13:22.223" v="838" actId="2711"/>
          <ac:graphicFrameMkLst>
            <pc:docMk/>
            <pc:sldMk cId="0" sldId="256"/>
            <ac:graphicFrameMk id="4" creationId="{2427DB48-8EF9-041D-F2F9-986322860BAC}"/>
          </ac:graphicFrameMkLst>
        </pc:graphicFrameChg>
      </pc:sldChg>
      <pc:sldChg chg="modSp mod">
        <pc:chgData name="gagana sarji" userId="e2d1ac419054d909" providerId="LiveId" clId="{22F0E7AE-821A-49BC-95B3-7D57E36F0A68}" dt="2025-12-04T13:09:16.947" v="817" actId="2711"/>
        <pc:sldMkLst>
          <pc:docMk/>
          <pc:sldMk cId="0" sldId="257"/>
        </pc:sldMkLst>
        <pc:spChg chg="mod">
          <ac:chgData name="gagana sarji" userId="e2d1ac419054d909" providerId="LiveId" clId="{22F0E7AE-821A-49BC-95B3-7D57E36F0A68}" dt="2025-12-04T13:09:16.947" v="817" actId="2711"/>
          <ac:spMkLst>
            <pc:docMk/>
            <pc:sldMk cId="0" sldId="257"/>
            <ac:spMk id="97" creationId="{00000000-0000-0000-0000-000000000000}"/>
          </ac:spMkLst>
        </pc:spChg>
      </pc:sldChg>
      <pc:sldChg chg="del">
        <pc:chgData name="gagana sarji" userId="e2d1ac419054d909" providerId="LiveId" clId="{22F0E7AE-821A-49BC-95B3-7D57E36F0A68}" dt="2025-12-04T12:57:25.051" v="741" actId="2696"/>
        <pc:sldMkLst>
          <pc:docMk/>
          <pc:sldMk cId="0" sldId="265"/>
        </pc:sldMkLst>
      </pc:sldChg>
      <pc:sldChg chg="modSp add mod">
        <pc:chgData name="gagana sarji" userId="e2d1ac419054d909" providerId="LiveId" clId="{22F0E7AE-821A-49BC-95B3-7D57E36F0A68}" dt="2025-12-04T12:58:06.959" v="744" actId="27636"/>
        <pc:sldMkLst>
          <pc:docMk/>
          <pc:sldMk cId="3807889434" sldId="265"/>
        </pc:sldMkLst>
        <pc:spChg chg="mod">
          <ac:chgData name="gagana sarji" userId="e2d1ac419054d909" providerId="LiveId" clId="{22F0E7AE-821A-49BC-95B3-7D57E36F0A68}" dt="2025-12-04T12:58:06.959" v="744" actId="27636"/>
          <ac:spMkLst>
            <pc:docMk/>
            <pc:sldMk cId="3807889434" sldId="265"/>
            <ac:spMk id="145" creationId="{00000000-0000-0000-0000-000000000000}"/>
          </ac:spMkLst>
        </pc:spChg>
      </pc:sldChg>
      <pc:sldChg chg="ord">
        <pc:chgData name="gagana sarji" userId="e2d1ac419054d909" providerId="LiveId" clId="{22F0E7AE-821A-49BC-95B3-7D57E36F0A68}" dt="2025-12-04T13:00:52.111" v="769"/>
        <pc:sldMkLst>
          <pc:docMk/>
          <pc:sldMk cId="0" sldId="266"/>
        </pc:sldMkLst>
      </pc:sldChg>
      <pc:sldChg chg="modSp mod ord">
        <pc:chgData name="gagana sarji" userId="e2d1ac419054d909" providerId="LiveId" clId="{22F0E7AE-821A-49BC-95B3-7D57E36F0A68}" dt="2025-12-04T13:09:22.796" v="819"/>
        <pc:sldMkLst>
          <pc:docMk/>
          <pc:sldMk cId="2856357337" sldId="268"/>
        </pc:sldMkLst>
        <pc:spChg chg="mod">
          <ac:chgData name="gagana sarji" userId="e2d1ac419054d909" providerId="LiveId" clId="{22F0E7AE-821A-49BC-95B3-7D57E36F0A68}" dt="2025-11-12T03:50:42.214" v="21"/>
          <ac:spMkLst>
            <pc:docMk/>
            <pc:sldMk cId="2856357337" sldId="268"/>
            <ac:spMk id="5" creationId="{00000000-0000-0000-0000-000000000000}"/>
          </ac:spMkLst>
        </pc:spChg>
      </pc:sldChg>
      <pc:sldChg chg="modSp mod">
        <pc:chgData name="gagana sarji" userId="e2d1ac419054d909" providerId="LiveId" clId="{22F0E7AE-821A-49BC-95B3-7D57E36F0A68}" dt="2025-12-04T12:29:52.105" v="62" actId="27636"/>
        <pc:sldMkLst>
          <pc:docMk/>
          <pc:sldMk cId="2143451837" sldId="269"/>
        </pc:sldMkLst>
        <pc:spChg chg="mod">
          <ac:chgData name="gagana sarji" userId="e2d1ac419054d909" providerId="LiveId" clId="{22F0E7AE-821A-49BC-95B3-7D57E36F0A68}" dt="2025-12-04T12:24:52.521" v="33" actId="20577"/>
          <ac:spMkLst>
            <pc:docMk/>
            <pc:sldMk cId="2143451837" sldId="269"/>
            <ac:spMk id="96" creationId="{00000000-0000-0000-0000-000000000000}"/>
          </ac:spMkLst>
        </pc:spChg>
        <pc:spChg chg="mod">
          <ac:chgData name="gagana sarji" userId="e2d1ac419054d909" providerId="LiveId" clId="{22F0E7AE-821A-49BC-95B3-7D57E36F0A68}" dt="2025-12-04T12:29:52.105" v="62" actId="27636"/>
          <ac:spMkLst>
            <pc:docMk/>
            <pc:sldMk cId="2143451837" sldId="269"/>
            <ac:spMk id="97" creationId="{00000000-0000-0000-0000-000000000000}"/>
          </ac:spMkLst>
        </pc:spChg>
      </pc:sldChg>
      <pc:sldChg chg="addSp delSp modSp mod">
        <pc:chgData name="gagana sarji" userId="e2d1ac419054d909" providerId="LiveId" clId="{22F0E7AE-821A-49BC-95B3-7D57E36F0A68}" dt="2025-12-04T12:38:33.966" v="89" actId="14100"/>
        <pc:sldMkLst>
          <pc:docMk/>
          <pc:sldMk cId="479890276" sldId="270"/>
        </pc:sldMkLst>
        <pc:spChg chg="add mod">
          <ac:chgData name="gagana sarji" userId="e2d1ac419054d909" providerId="LiveId" clId="{22F0E7AE-821A-49BC-95B3-7D57E36F0A68}" dt="2025-12-04T12:37:50.365" v="86"/>
          <ac:spMkLst>
            <pc:docMk/>
            <pc:sldMk cId="479890276" sldId="270"/>
            <ac:spMk id="3" creationId="{2DC9151D-E07B-0851-D12E-D107DDB3BCA2}"/>
          </ac:spMkLst>
        </pc:spChg>
        <pc:spChg chg="add mod">
          <ac:chgData name="gagana sarji" userId="e2d1ac419054d909" providerId="LiveId" clId="{22F0E7AE-821A-49BC-95B3-7D57E36F0A68}" dt="2025-12-04T12:35:55.125" v="75"/>
          <ac:spMkLst>
            <pc:docMk/>
            <pc:sldMk cId="479890276" sldId="270"/>
            <ac:spMk id="4" creationId="{00000000-0000-0000-0000-000000000000}"/>
          </ac:spMkLst>
        </pc:spChg>
        <pc:spChg chg="add mod">
          <ac:chgData name="gagana sarji" userId="e2d1ac419054d909" providerId="LiveId" clId="{22F0E7AE-821A-49BC-95B3-7D57E36F0A68}" dt="2025-12-04T12:35:49.402" v="74"/>
          <ac:spMkLst>
            <pc:docMk/>
            <pc:sldMk cId="479890276" sldId="270"/>
            <ac:spMk id="6" creationId="{00000000-0000-0000-0000-000000000000}"/>
          </ac:spMkLst>
        </pc:spChg>
        <pc:spChg chg="add mod">
          <ac:chgData name="gagana sarji" userId="e2d1ac419054d909" providerId="LiveId" clId="{22F0E7AE-821A-49BC-95B3-7D57E36F0A68}" dt="2025-12-04T12:36:56.953" v="85"/>
          <ac:spMkLst>
            <pc:docMk/>
            <pc:sldMk cId="479890276" sldId="270"/>
            <ac:spMk id="8" creationId="{71AFDE7A-8637-B918-4E2A-BC609FDFF9F5}"/>
          </ac:spMkLst>
        </pc:spChg>
        <pc:spChg chg="add mod">
          <ac:chgData name="gagana sarji" userId="e2d1ac419054d909" providerId="LiveId" clId="{22F0E7AE-821A-49BC-95B3-7D57E36F0A68}" dt="2025-12-04T12:36:56.515" v="84" actId="14100"/>
          <ac:spMkLst>
            <pc:docMk/>
            <pc:sldMk cId="479890276" sldId="270"/>
            <ac:spMk id="9" creationId="{36BCB21F-B023-63F1-3F57-346A3512AAE0}"/>
          </ac:spMkLst>
        </pc:spChg>
        <pc:spChg chg="del">
          <ac:chgData name="gagana sarji" userId="e2d1ac419054d909" providerId="LiveId" clId="{22F0E7AE-821A-49BC-95B3-7D57E36F0A68}" dt="2025-12-04T12:35:47.852" v="73" actId="21"/>
          <ac:spMkLst>
            <pc:docMk/>
            <pc:sldMk cId="479890276" sldId="270"/>
            <ac:spMk id="114" creationId="{00000000-0000-0000-0000-000000000000}"/>
          </ac:spMkLst>
        </pc:spChg>
        <pc:spChg chg="del">
          <ac:chgData name="gagana sarji" userId="e2d1ac419054d909" providerId="LiveId" clId="{22F0E7AE-821A-49BC-95B3-7D57E36F0A68}" dt="2025-12-04T12:35:47.852" v="73" actId="21"/>
          <ac:spMkLst>
            <pc:docMk/>
            <pc:sldMk cId="479890276" sldId="270"/>
            <ac:spMk id="115" creationId="{00000000-0000-0000-0000-000000000000}"/>
          </ac:spMkLst>
        </pc:spChg>
        <pc:picChg chg="del">
          <ac:chgData name="gagana sarji" userId="e2d1ac419054d909" providerId="LiveId" clId="{22F0E7AE-821A-49BC-95B3-7D57E36F0A68}" dt="2025-12-04T12:35:47.852" v="73" actId="21"/>
          <ac:picMkLst>
            <pc:docMk/>
            <pc:sldMk cId="479890276" sldId="270"/>
            <ac:picMk id="5" creationId="{BFE8FCCC-18B8-7994-A599-AB1C2128DBD9}"/>
          </ac:picMkLst>
        </pc:picChg>
        <pc:picChg chg="add mod">
          <ac:chgData name="gagana sarji" userId="e2d1ac419054d909" providerId="LiveId" clId="{22F0E7AE-821A-49BC-95B3-7D57E36F0A68}" dt="2025-12-04T12:35:49.402" v="74"/>
          <ac:picMkLst>
            <pc:docMk/>
            <pc:sldMk cId="479890276" sldId="270"/>
            <ac:picMk id="7" creationId="{BFE8FCCC-18B8-7994-A599-AB1C2128DBD9}"/>
          </ac:picMkLst>
        </pc:picChg>
        <pc:picChg chg="add mod">
          <ac:chgData name="gagana sarji" userId="e2d1ac419054d909" providerId="LiveId" clId="{22F0E7AE-821A-49BC-95B3-7D57E36F0A68}" dt="2025-12-04T12:36:56.515" v="84" actId="14100"/>
          <ac:picMkLst>
            <pc:docMk/>
            <pc:sldMk cId="479890276" sldId="270"/>
            <ac:picMk id="10" creationId="{9879FA8A-9BF5-6A64-ABC4-7C83A5F47B26}"/>
          </ac:picMkLst>
        </pc:picChg>
        <pc:picChg chg="add mod">
          <ac:chgData name="gagana sarji" userId="e2d1ac419054d909" providerId="LiveId" clId="{22F0E7AE-821A-49BC-95B3-7D57E36F0A68}" dt="2025-12-04T12:38:33.966" v="89" actId="14100"/>
          <ac:picMkLst>
            <pc:docMk/>
            <pc:sldMk cId="479890276" sldId="270"/>
            <ac:picMk id="12" creationId="{FE11A2A3-EF4F-D07F-84BA-CDD3B44BB0B0}"/>
          </ac:picMkLst>
        </pc:picChg>
      </pc:sldChg>
      <pc:sldChg chg="del">
        <pc:chgData name="gagana sarji" userId="e2d1ac419054d909" providerId="LiveId" clId="{22F0E7AE-821A-49BC-95B3-7D57E36F0A68}" dt="2025-12-04T13:02:49.518" v="771" actId="2696"/>
        <pc:sldMkLst>
          <pc:docMk/>
          <pc:sldMk cId="2000455742" sldId="271"/>
        </pc:sldMkLst>
      </pc:sldChg>
      <pc:sldChg chg="del">
        <pc:chgData name="gagana sarji" userId="e2d1ac419054d909" providerId="LiveId" clId="{22F0E7AE-821A-49BC-95B3-7D57E36F0A68}" dt="2025-12-04T13:03:02.956" v="772" actId="2696"/>
        <pc:sldMkLst>
          <pc:docMk/>
          <pc:sldMk cId="3338832548" sldId="272"/>
        </pc:sldMkLst>
      </pc:sldChg>
      <pc:sldChg chg="modSp mod">
        <pc:chgData name="gagana sarji" userId="e2d1ac419054d909" providerId="LiveId" clId="{22F0E7AE-821A-49BC-95B3-7D57E36F0A68}" dt="2025-12-04T13:09:45.936" v="820" actId="2711"/>
        <pc:sldMkLst>
          <pc:docMk/>
          <pc:sldMk cId="1069730337" sldId="275"/>
        </pc:sldMkLst>
        <pc:spChg chg="mod">
          <ac:chgData name="gagana sarji" userId="e2d1ac419054d909" providerId="LiveId" clId="{22F0E7AE-821A-49BC-95B3-7D57E36F0A68}" dt="2025-12-04T13:09:45.936" v="820" actId="2711"/>
          <ac:spMkLst>
            <pc:docMk/>
            <pc:sldMk cId="1069730337" sldId="275"/>
            <ac:spMk id="3" creationId="{151AC202-198B-B26A-139F-9BD4B967605B}"/>
          </ac:spMkLst>
        </pc:spChg>
        <pc:spChg chg="mod">
          <ac:chgData name="gagana sarji" userId="e2d1ac419054d909" providerId="LiveId" clId="{22F0E7AE-821A-49BC-95B3-7D57E36F0A68}" dt="2025-12-04T12:34:55.373" v="72" actId="27636"/>
          <ac:spMkLst>
            <pc:docMk/>
            <pc:sldMk cId="1069730337" sldId="275"/>
            <ac:spMk id="5" creationId="{64FD54D5-D2DE-A24A-76E2-EB8C89CC02BB}"/>
          </ac:spMkLst>
        </pc:spChg>
      </pc:sldChg>
      <pc:sldChg chg="del">
        <pc:chgData name="gagana sarji" userId="e2d1ac419054d909" providerId="LiveId" clId="{22F0E7AE-821A-49BC-95B3-7D57E36F0A68}" dt="2025-12-04T13:02:40.658" v="770" actId="2696"/>
        <pc:sldMkLst>
          <pc:docMk/>
          <pc:sldMk cId="1738402957" sldId="276"/>
        </pc:sldMkLst>
      </pc:sldChg>
      <pc:sldChg chg="modSp new del mod">
        <pc:chgData name="gagana sarji" userId="e2d1ac419054d909" providerId="LiveId" clId="{22F0E7AE-821A-49BC-95B3-7D57E36F0A68}" dt="2025-12-04T12:24:38.409" v="30" actId="2696"/>
        <pc:sldMkLst>
          <pc:docMk/>
          <pc:sldMk cId="661432063" sldId="277"/>
        </pc:sldMkLst>
        <pc:spChg chg="mod">
          <ac:chgData name="gagana sarji" userId="e2d1ac419054d909" providerId="LiveId" clId="{22F0E7AE-821A-49BC-95B3-7D57E36F0A68}" dt="2025-12-04T12:23:04.521" v="27"/>
          <ac:spMkLst>
            <pc:docMk/>
            <pc:sldMk cId="661432063" sldId="277"/>
            <ac:spMk id="2" creationId="{13F5FF4C-F977-D28C-E7BA-ECDD807CA027}"/>
          </ac:spMkLst>
        </pc:spChg>
        <pc:spChg chg="mod">
          <ac:chgData name="gagana sarji" userId="e2d1ac419054d909" providerId="LiveId" clId="{22F0E7AE-821A-49BC-95B3-7D57E36F0A68}" dt="2025-12-04T12:24:08.846" v="29" actId="1076"/>
          <ac:spMkLst>
            <pc:docMk/>
            <pc:sldMk cId="661432063" sldId="277"/>
            <ac:spMk id="3" creationId="{719A037D-7D51-2F20-8B3C-9B64F7E88546}"/>
          </ac:spMkLst>
        </pc:spChg>
      </pc:sldChg>
      <pc:sldChg chg="modSp new mod">
        <pc:chgData name="gagana sarji" userId="e2d1ac419054d909" providerId="LiveId" clId="{22F0E7AE-821A-49BC-95B3-7D57E36F0A68}" dt="2025-12-04T12:30:13.763" v="64" actId="27636"/>
        <pc:sldMkLst>
          <pc:docMk/>
          <pc:sldMk cId="1031021765" sldId="277"/>
        </pc:sldMkLst>
        <pc:spChg chg="mod">
          <ac:chgData name="gagana sarji" userId="e2d1ac419054d909" providerId="LiveId" clId="{22F0E7AE-821A-49BC-95B3-7D57E36F0A68}" dt="2025-12-04T12:26:13.463" v="37"/>
          <ac:spMkLst>
            <pc:docMk/>
            <pc:sldMk cId="1031021765" sldId="277"/>
            <ac:spMk id="2" creationId="{78EF5876-BA65-3176-92D6-1A6E76D7626E}"/>
          </ac:spMkLst>
        </pc:spChg>
        <pc:spChg chg="mod">
          <ac:chgData name="gagana sarji" userId="e2d1ac419054d909" providerId="LiveId" clId="{22F0E7AE-821A-49BC-95B3-7D57E36F0A68}" dt="2025-12-04T12:30:13.763" v="64" actId="27636"/>
          <ac:spMkLst>
            <pc:docMk/>
            <pc:sldMk cId="1031021765" sldId="277"/>
            <ac:spMk id="3" creationId="{A25F4A02-772E-CCD3-EF98-154EA74B6E31}"/>
          </ac:spMkLst>
        </pc:spChg>
      </pc:sldChg>
      <pc:sldChg chg="modSp new">
        <pc:chgData name="gagana sarji" userId="e2d1ac419054d909" providerId="LiveId" clId="{22F0E7AE-821A-49BC-95B3-7D57E36F0A68}" dt="2025-12-04T12:31:24.939" v="67"/>
        <pc:sldMkLst>
          <pc:docMk/>
          <pc:sldMk cId="317404135" sldId="278"/>
        </pc:sldMkLst>
        <pc:spChg chg="mod">
          <ac:chgData name="gagana sarji" userId="e2d1ac419054d909" providerId="LiveId" clId="{22F0E7AE-821A-49BC-95B3-7D57E36F0A68}" dt="2025-12-04T12:31:18.054" v="66"/>
          <ac:spMkLst>
            <pc:docMk/>
            <pc:sldMk cId="317404135" sldId="278"/>
            <ac:spMk id="2" creationId="{3DA1D327-E4FE-516D-86CB-5199E412B656}"/>
          </ac:spMkLst>
        </pc:spChg>
        <pc:spChg chg="mod">
          <ac:chgData name="gagana sarji" userId="e2d1ac419054d909" providerId="LiveId" clId="{22F0E7AE-821A-49BC-95B3-7D57E36F0A68}" dt="2025-12-04T12:31:24.939" v="67"/>
          <ac:spMkLst>
            <pc:docMk/>
            <pc:sldMk cId="317404135" sldId="278"/>
            <ac:spMk id="3" creationId="{6A7DDAAC-3BD9-65B8-6165-D0DBA320CA3D}"/>
          </ac:spMkLst>
        </pc:spChg>
      </pc:sldChg>
      <pc:sldChg chg="addSp modSp new mod">
        <pc:chgData name="gagana sarji" userId="e2d1ac419054d909" providerId="LiveId" clId="{22F0E7AE-821A-49BC-95B3-7D57E36F0A68}" dt="2025-12-04T13:10:29.548" v="823" actId="2711"/>
        <pc:sldMkLst>
          <pc:docMk/>
          <pc:sldMk cId="1812986450" sldId="279"/>
        </pc:sldMkLst>
        <pc:spChg chg="mod">
          <ac:chgData name="gagana sarji" userId="e2d1ac419054d909" providerId="LiveId" clId="{22F0E7AE-821A-49BC-95B3-7D57E36F0A68}" dt="2025-12-04T13:10:29.548" v="823" actId="2711"/>
          <ac:spMkLst>
            <pc:docMk/>
            <pc:sldMk cId="1812986450" sldId="279"/>
            <ac:spMk id="2" creationId="{A815DCF2-E1D4-C683-2CC9-7F4A197DC6CC}"/>
          </ac:spMkLst>
        </pc:spChg>
        <pc:spChg chg="mod">
          <ac:chgData name="gagana sarji" userId="e2d1ac419054d909" providerId="LiveId" clId="{22F0E7AE-821A-49BC-95B3-7D57E36F0A68}" dt="2025-12-04T12:48:40.858" v="516" actId="20577"/>
          <ac:spMkLst>
            <pc:docMk/>
            <pc:sldMk cId="1812986450" sldId="279"/>
            <ac:spMk id="3" creationId="{9C54843F-FD34-21CD-231B-16F44570DA57}"/>
          </ac:spMkLst>
        </pc:spChg>
        <pc:picChg chg="add mod">
          <ac:chgData name="gagana sarji" userId="e2d1ac419054d909" providerId="LiveId" clId="{22F0E7AE-821A-49BC-95B3-7D57E36F0A68}" dt="2025-12-04T12:42:21.984" v="133" actId="1076"/>
          <ac:picMkLst>
            <pc:docMk/>
            <pc:sldMk cId="1812986450" sldId="279"/>
            <ac:picMk id="5" creationId="{C0A60F4F-2A3F-AA18-5535-5E7D88A3B8C2}"/>
          </ac:picMkLst>
        </pc:picChg>
        <pc:picChg chg="add mod">
          <ac:chgData name="gagana sarji" userId="e2d1ac419054d909" providerId="LiveId" clId="{22F0E7AE-821A-49BC-95B3-7D57E36F0A68}" dt="2025-12-04T12:41:32.200" v="119" actId="14100"/>
          <ac:picMkLst>
            <pc:docMk/>
            <pc:sldMk cId="1812986450" sldId="279"/>
            <ac:picMk id="7" creationId="{06D4E956-2E2A-757D-82B6-EA86B08B4EE6}"/>
          </ac:picMkLst>
        </pc:picChg>
      </pc:sldChg>
      <pc:sldChg chg="addSp modSp new mod">
        <pc:chgData name="gagana sarji" userId="e2d1ac419054d909" providerId="LiveId" clId="{22F0E7AE-821A-49BC-95B3-7D57E36F0A68}" dt="2025-12-04T13:10:38.998" v="824" actId="2711"/>
        <pc:sldMkLst>
          <pc:docMk/>
          <pc:sldMk cId="1236818470" sldId="280"/>
        </pc:sldMkLst>
        <pc:spChg chg="mod">
          <ac:chgData name="gagana sarji" userId="e2d1ac419054d909" providerId="LiveId" clId="{22F0E7AE-821A-49BC-95B3-7D57E36F0A68}" dt="2025-12-04T13:10:38.998" v="824" actId="2711"/>
          <ac:spMkLst>
            <pc:docMk/>
            <pc:sldMk cId="1236818470" sldId="280"/>
            <ac:spMk id="2" creationId="{439FC0F6-0176-A2FA-1F01-572E3798E383}"/>
          </ac:spMkLst>
        </pc:spChg>
        <pc:spChg chg="mod">
          <ac:chgData name="gagana sarji" userId="e2d1ac419054d909" providerId="LiveId" clId="{22F0E7AE-821A-49BC-95B3-7D57E36F0A68}" dt="2025-12-04T12:48:09.742" v="489" actId="20577"/>
          <ac:spMkLst>
            <pc:docMk/>
            <pc:sldMk cId="1236818470" sldId="280"/>
            <ac:spMk id="3" creationId="{49DEC683-C1E8-0138-FE72-213B8EF84E7F}"/>
          </ac:spMkLst>
        </pc:spChg>
        <pc:picChg chg="add mod">
          <ac:chgData name="gagana sarji" userId="e2d1ac419054d909" providerId="LiveId" clId="{22F0E7AE-821A-49BC-95B3-7D57E36F0A68}" dt="2025-12-04T12:44:47.141" v="322" actId="1076"/>
          <ac:picMkLst>
            <pc:docMk/>
            <pc:sldMk cId="1236818470" sldId="280"/>
            <ac:picMk id="5" creationId="{88B364E6-5906-5094-4347-3065E300F7FF}"/>
          </ac:picMkLst>
        </pc:picChg>
        <pc:picChg chg="add mod">
          <ac:chgData name="gagana sarji" userId="e2d1ac419054d909" providerId="LiveId" clId="{22F0E7AE-821A-49BC-95B3-7D57E36F0A68}" dt="2025-12-04T12:44:47.141" v="322" actId="1076"/>
          <ac:picMkLst>
            <pc:docMk/>
            <pc:sldMk cId="1236818470" sldId="280"/>
            <ac:picMk id="7" creationId="{F4B777AD-7F16-E306-CEFF-109121695B8E}"/>
          </ac:picMkLst>
        </pc:picChg>
        <pc:picChg chg="add mod">
          <ac:chgData name="gagana sarji" userId="e2d1ac419054d909" providerId="LiveId" clId="{22F0E7AE-821A-49BC-95B3-7D57E36F0A68}" dt="2025-12-04T12:46:29.768" v="336" actId="14100"/>
          <ac:picMkLst>
            <pc:docMk/>
            <pc:sldMk cId="1236818470" sldId="280"/>
            <ac:picMk id="9" creationId="{42706D61-C19D-EF21-2736-39C851242E8F}"/>
          </ac:picMkLst>
        </pc:picChg>
        <pc:picChg chg="add mod">
          <ac:chgData name="gagana sarji" userId="e2d1ac419054d909" providerId="LiveId" clId="{22F0E7AE-821A-49BC-95B3-7D57E36F0A68}" dt="2025-12-04T12:46:08.248" v="333" actId="14100"/>
          <ac:picMkLst>
            <pc:docMk/>
            <pc:sldMk cId="1236818470" sldId="280"/>
            <ac:picMk id="11" creationId="{822F6C38-489E-D670-552C-5D7918674EBE}"/>
          </ac:picMkLst>
        </pc:picChg>
      </pc:sldChg>
      <pc:sldChg chg="addSp modSp new mod">
        <pc:chgData name="gagana sarji" userId="e2d1ac419054d909" providerId="LiveId" clId="{22F0E7AE-821A-49BC-95B3-7D57E36F0A68}" dt="2025-12-04T13:12:36.636" v="832" actId="14100"/>
        <pc:sldMkLst>
          <pc:docMk/>
          <pc:sldMk cId="527647292" sldId="281"/>
        </pc:sldMkLst>
        <pc:spChg chg="mod">
          <ac:chgData name="gagana sarji" userId="e2d1ac419054d909" providerId="LiveId" clId="{22F0E7AE-821A-49BC-95B3-7D57E36F0A68}" dt="2025-12-04T13:10:51.486" v="825" actId="2711"/>
          <ac:spMkLst>
            <pc:docMk/>
            <pc:sldMk cId="527647292" sldId="281"/>
            <ac:spMk id="2" creationId="{DB34F79C-DFA3-4FBE-8592-F99C14A255E9}"/>
          </ac:spMkLst>
        </pc:spChg>
        <pc:spChg chg="mod">
          <ac:chgData name="gagana sarji" userId="e2d1ac419054d909" providerId="LiveId" clId="{22F0E7AE-821A-49BC-95B3-7D57E36F0A68}" dt="2025-12-04T13:12:36.636" v="832" actId="14100"/>
          <ac:spMkLst>
            <pc:docMk/>
            <pc:sldMk cId="527647292" sldId="281"/>
            <ac:spMk id="3" creationId="{04330329-F256-2E2C-071A-33605AC5CF36}"/>
          </ac:spMkLst>
        </pc:spChg>
        <pc:picChg chg="add mod">
          <ac:chgData name="gagana sarji" userId="e2d1ac419054d909" providerId="LiveId" clId="{22F0E7AE-821A-49BC-95B3-7D57E36F0A68}" dt="2025-12-04T12:50:56.181" v="588" actId="1076"/>
          <ac:picMkLst>
            <pc:docMk/>
            <pc:sldMk cId="527647292" sldId="281"/>
            <ac:picMk id="5" creationId="{DA2310AA-E76E-ACA6-1B17-C757D0DCE446}"/>
          </ac:picMkLst>
        </pc:picChg>
        <pc:picChg chg="add mod">
          <ac:chgData name="gagana sarji" userId="e2d1ac419054d909" providerId="LiveId" clId="{22F0E7AE-821A-49BC-95B3-7D57E36F0A68}" dt="2025-12-04T12:52:21.247" v="599" actId="14100"/>
          <ac:picMkLst>
            <pc:docMk/>
            <pc:sldMk cId="527647292" sldId="281"/>
            <ac:picMk id="7" creationId="{BC8E8329-ECDF-4C61-65D3-32A50EEE749F}"/>
          </ac:picMkLst>
        </pc:picChg>
      </pc:sldChg>
      <pc:sldChg chg="addSp modSp new mod">
        <pc:chgData name="gagana sarji" userId="e2d1ac419054d909" providerId="LiveId" clId="{22F0E7AE-821A-49BC-95B3-7D57E36F0A68}" dt="2025-12-04T13:12:04.275" v="828" actId="14100"/>
        <pc:sldMkLst>
          <pc:docMk/>
          <pc:sldMk cId="4137832038" sldId="282"/>
        </pc:sldMkLst>
        <pc:spChg chg="mod">
          <ac:chgData name="gagana sarji" userId="e2d1ac419054d909" providerId="LiveId" clId="{22F0E7AE-821A-49BC-95B3-7D57E36F0A68}" dt="2025-12-04T13:10:58.817" v="826" actId="2711"/>
          <ac:spMkLst>
            <pc:docMk/>
            <pc:sldMk cId="4137832038" sldId="282"/>
            <ac:spMk id="2" creationId="{A83941B6-DE15-39F9-937B-52F60B2C561E}"/>
          </ac:spMkLst>
        </pc:spChg>
        <pc:spChg chg="mod">
          <ac:chgData name="gagana sarji" userId="e2d1ac419054d909" providerId="LiveId" clId="{22F0E7AE-821A-49BC-95B3-7D57E36F0A68}" dt="2025-12-04T13:12:04.275" v="828" actId="14100"/>
          <ac:spMkLst>
            <pc:docMk/>
            <pc:sldMk cId="4137832038" sldId="282"/>
            <ac:spMk id="3" creationId="{605AE5F4-777D-0896-8D04-0EB45C8EB0C3}"/>
          </ac:spMkLst>
        </pc:spChg>
        <pc:picChg chg="add mod">
          <ac:chgData name="gagana sarji" userId="e2d1ac419054d909" providerId="LiveId" clId="{22F0E7AE-821A-49BC-95B3-7D57E36F0A68}" dt="2025-12-04T12:57:00.427" v="740" actId="1076"/>
          <ac:picMkLst>
            <pc:docMk/>
            <pc:sldMk cId="4137832038" sldId="282"/>
            <ac:picMk id="5" creationId="{1B3A80B1-33FF-5B50-5EB0-B97A7BF41553}"/>
          </ac:picMkLst>
        </pc:picChg>
        <pc:picChg chg="add mod">
          <ac:chgData name="gagana sarji" userId="e2d1ac419054d909" providerId="LiveId" clId="{22F0E7AE-821A-49BC-95B3-7D57E36F0A68}" dt="2025-12-04T12:56:32.157" v="734" actId="14100"/>
          <ac:picMkLst>
            <pc:docMk/>
            <pc:sldMk cId="4137832038" sldId="282"/>
            <ac:picMk id="7" creationId="{4FF8C360-286E-8BE4-C8EF-EEB26451A265}"/>
          </ac:picMkLst>
        </pc:picChg>
      </pc:sldChg>
      <pc:sldChg chg="addSp delSp modSp new mod">
        <pc:chgData name="gagana sarji" userId="e2d1ac419054d909" providerId="LiveId" clId="{22F0E7AE-821A-49BC-95B3-7D57E36F0A68}" dt="2025-12-04T13:10:09.955" v="821" actId="2711"/>
        <pc:sldMkLst>
          <pc:docMk/>
          <pc:sldMk cId="918649001" sldId="283"/>
        </pc:sldMkLst>
        <pc:spChg chg="mod">
          <ac:chgData name="gagana sarji" userId="e2d1ac419054d909" providerId="LiveId" clId="{22F0E7AE-821A-49BC-95B3-7D57E36F0A68}" dt="2025-12-04T13:10:09.955" v="821" actId="2711"/>
          <ac:spMkLst>
            <pc:docMk/>
            <pc:sldMk cId="918649001" sldId="283"/>
            <ac:spMk id="2" creationId="{E053F44D-4A51-F7D7-CD13-CC05DF757A49}"/>
          </ac:spMkLst>
        </pc:spChg>
        <pc:spChg chg="mod">
          <ac:chgData name="gagana sarji" userId="e2d1ac419054d909" providerId="LiveId" clId="{22F0E7AE-821A-49BC-95B3-7D57E36F0A68}" dt="2025-12-04T12:59:56.992" v="767" actId="20577"/>
          <ac:spMkLst>
            <pc:docMk/>
            <pc:sldMk cId="918649001" sldId="283"/>
            <ac:spMk id="3" creationId="{CB000DFE-050B-D88F-0FAC-3C8E10FE2A16}"/>
          </ac:spMkLst>
        </pc:spChg>
        <pc:graphicFrameChg chg="add del modGraphic">
          <ac:chgData name="gagana sarji" userId="e2d1ac419054d909" providerId="LiveId" clId="{22F0E7AE-821A-49BC-95B3-7D57E36F0A68}" dt="2025-12-04T12:58:44.571" v="747" actId="27309"/>
          <ac:graphicFrameMkLst>
            <pc:docMk/>
            <pc:sldMk cId="918649001" sldId="283"/>
            <ac:graphicFrameMk id="5" creationId="{8BFF977F-098C-15DD-F61E-0EC425BB428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546446C-ACB7-F609-E3AF-B9E96F831B3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56AABBF-557D-DCAC-7CC9-C4A5CE82D0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CD6A9E4A-3FA6-28E3-E70F-B7C4006319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5541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B0BF4C59-5207-9086-FE55-78C4A37F7C3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93AE93D-21FD-54A2-F98E-BD877804A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28AE156-B5ED-36B6-A008-994F9B6427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9602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1210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etda.libraries.psu.edu/catalog/19715zpj5026" TargetMode="External"/><Relationship Id="rId13" Type="http://schemas.openxmlformats.org/officeDocument/2006/relationships/hyperlink" Target="https://www.sciencedirect.com/science/article/abs/pii/S2214785322014602" TargetMode="External"/><Relationship Id="rId3" Type="http://schemas.openxmlformats.org/officeDocument/2006/relationships/hyperlink" Target="https://www.sciencedirect.com/science/article/abs/pii/S1474034615000233" TargetMode="External"/><Relationship Id="rId7" Type="http://schemas.openxmlformats.org/officeDocument/2006/relationships/hyperlink" Target="https://www.researchgate.net/publication/228662339" TargetMode="External"/><Relationship Id="rId12" Type="http://schemas.openxmlformats.org/officeDocument/2006/relationships/hyperlink" Target="https://www.researchgate.net/publication/374014867" TargetMode="External"/><Relationship Id="rId17" Type="http://schemas.openxmlformats.org/officeDocument/2006/relationships/hyperlink" Target="https://www.academia.edu/17128808" TargetMode="External"/><Relationship Id="rId2" Type="http://schemas.openxmlformats.org/officeDocument/2006/relationships/notesSlide" Target="../notesSlides/notesSlide8.xml"/><Relationship Id="rId16" Type="http://schemas.openxmlformats.org/officeDocument/2006/relationships/hyperlink" Target="https://www.sciencedirect.com/science/article/pii/S2666165923001291" TargetMode="External"/><Relationship Id="rId1" Type="http://schemas.openxmlformats.org/officeDocument/2006/relationships/slideLayout" Target="../slideLayouts/slideLayout2.xml"/><Relationship Id="rId6" Type="http://schemas.openxmlformats.org/officeDocument/2006/relationships/hyperlink" Target="https://www.iaarc.org/publications/fulltext/062_ISARC%202022_Paper_48.pdf" TargetMode="External"/><Relationship Id="rId11" Type="http://schemas.openxmlformats.org/officeDocument/2006/relationships/hyperlink" Target="https://www.iaarc.org/publications/2024_proceedings" TargetMode="External"/><Relationship Id="rId5" Type="http://schemas.openxmlformats.org/officeDocument/2006/relationships/hyperlink" Target="https://www.mdpi.com/2075-5309/12/7/1037" TargetMode="External"/><Relationship Id="rId15" Type="http://schemas.openxmlformats.org/officeDocument/2006/relationships/hyperlink" Target="https://www.sciencedirect.com/science/article/pii/S2666721524000346" TargetMode="External"/><Relationship Id="rId10" Type="http://schemas.openxmlformats.org/officeDocument/2006/relationships/hyperlink" Target="https://www.academia.edu/44587691/BIM_based_progress_monitoring" TargetMode="External"/><Relationship Id="rId4" Type="http://schemas.openxmlformats.org/officeDocument/2006/relationships/hyperlink" Target="https://www.mdpi.com/2076-3417/11/17/7840" TargetMode="External"/><Relationship Id="rId9" Type="http://schemas.openxmlformats.org/officeDocument/2006/relationships/hyperlink" Target="https://www.sciencedirect.com/science/article/abs/pii/S092658052200200X" TargetMode="External"/><Relationship Id="rId14" Type="http://schemas.openxmlformats.org/officeDocument/2006/relationships/hyperlink" Target="https://arxiv.org/abs/2210.1576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57316" y="1069102"/>
            <a:ext cx="11916697"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000" dirty="0">
                <a:solidFill>
                  <a:schemeClr val="tx1"/>
                </a:solidFill>
                <a:latin typeface="Cambria" panose="02040503050406030204" pitchFamily="18" charset="0"/>
                <a:ea typeface="Cambria" panose="02040503050406030204" pitchFamily="18" charset="0"/>
              </a:rPr>
              <a:t>UTILIZATION OF IMAGES FOR MONITORING OF PROGRESS OF CONSTRUCTION ACTIVITIES FOR BUILDING CONSTRUCTION PROJECTS</a:t>
            </a:r>
            <a:endParaRPr sz="20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Number:ISE_05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 Zafar Ali Khan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694630938"/>
              </p:ext>
            </p:extLst>
          </p:nvPr>
        </p:nvGraphicFramePr>
        <p:xfrm>
          <a:off x="1013843" y="2338948"/>
          <a:ext cx="5082157" cy="3009607"/>
        </p:xfrm>
        <a:graphic>
          <a:graphicData uri="http://schemas.openxmlformats.org/drawingml/2006/table">
            <a:tbl>
              <a:tblPr firstRow="1" bandRow="1">
                <a:noFill/>
                <a:tableStyleId>{57690726-49DA-4552-BDEB-330DD8EA8BD9}</a:tableStyleId>
              </a:tblPr>
              <a:tblGrid>
                <a:gridCol w="1737062">
                  <a:extLst>
                    <a:ext uri="{9D8B030D-6E8A-4147-A177-3AD203B41FA5}">
                      <a16:colId xmlns:a16="http://schemas.microsoft.com/office/drawing/2014/main" val="20000"/>
                    </a:ext>
                  </a:extLst>
                </a:gridCol>
                <a:gridCol w="3345095">
                  <a:extLst>
                    <a:ext uri="{9D8B030D-6E8A-4147-A177-3AD203B41FA5}">
                      <a16:colId xmlns:a16="http://schemas.microsoft.com/office/drawing/2014/main" val="20001"/>
                    </a:ext>
                  </a:extLst>
                </a:gridCol>
              </a:tblGrid>
              <a:tr h="252851">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p>
                      <a:pPr marL="0" marR="0" lvl="0" indent="0" algn="ctr" rtl="0">
                        <a:spcBef>
                          <a:spcPts val="0"/>
                        </a:spcBef>
                        <a:spcAft>
                          <a:spcPts val="0"/>
                        </a:spcAft>
                        <a:buNone/>
                      </a:pPr>
                      <a:r>
                        <a:rPr lang="en-GB" sz="1800" b="1" u="none" strike="noStrike" cap="none" dirty="0">
                          <a:solidFill>
                            <a:srgbClr val="17365D"/>
                          </a:solidFill>
                        </a:rPr>
                        <a:t>Student Name</a:t>
                      </a:r>
                    </a:p>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32117">
                <a:tc>
                  <a:txBody>
                    <a:bodyPr/>
                    <a:lstStyle/>
                    <a:p>
                      <a:pPr marL="0" marR="0" lvl="0" indent="0" algn="ctr" rtl="0">
                        <a:spcBef>
                          <a:spcPts val="0"/>
                        </a:spcBef>
                        <a:spcAft>
                          <a:spcPts val="0"/>
                        </a:spcAft>
                        <a:buFont typeface="+mj-l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7316" y="456750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B. Tech  Information Science Engineering(Robotics)</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Zafar Ali Khan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Ms. Suma N G</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4" name="Table 3">
            <a:extLst>
              <a:ext uri="{FF2B5EF4-FFF2-40B4-BE49-F238E27FC236}">
                <a16:creationId xmlns:a16="http://schemas.microsoft.com/office/drawing/2014/main" id="{2427DB48-8EF9-041D-F2F9-986322860BAC}"/>
              </a:ext>
            </a:extLst>
          </p:cNvPr>
          <p:cNvGraphicFramePr>
            <a:graphicFrameLocks noGrp="1"/>
          </p:cNvGraphicFramePr>
          <p:nvPr>
            <p:extLst>
              <p:ext uri="{D42A27DB-BD31-4B8C-83A1-F6EECF244321}">
                <p14:modId xmlns:p14="http://schemas.microsoft.com/office/powerpoint/2010/main" val="46322268"/>
              </p:ext>
            </p:extLst>
          </p:nvPr>
        </p:nvGraphicFramePr>
        <p:xfrm>
          <a:off x="393290" y="3114432"/>
          <a:ext cx="5574890" cy="1112520"/>
        </p:xfrm>
        <a:graphic>
          <a:graphicData uri="http://schemas.openxmlformats.org/drawingml/2006/table">
            <a:tbl>
              <a:tblPr firstRow="1" bandRow="1"/>
              <a:tblGrid>
                <a:gridCol w="2787445">
                  <a:extLst>
                    <a:ext uri="{9D8B030D-6E8A-4147-A177-3AD203B41FA5}">
                      <a16:colId xmlns:a16="http://schemas.microsoft.com/office/drawing/2014/main" val="3451246449"/>
                    </a:ext>
                  </a:extLst>
                </a:gridCol>
                <a:gridCol w="2787445">
                  <a:extLst>
                    <a:ext uri="{9D8B030D-6E8A-4147-A177-3AD203B41FA5}">
                      <a16:colId xmlns:a16="http://schemas.microsoft.com/office/drawing/2014/main" val="1867052762"/>
                    </a:ext>
                  </a:extLst>
                </a:gridCol>
              </a:tblGrid>
              <a:tr h="370840">
                <a:tc>
                  <a:txBody>
                    <a:bodyPr/>
                    <a:lstStyle/>
                    <a:p>
                      <a:r>
                        <a:rPr lang="en-IN" dirty="0">
                          <a:latin typeface="Cambria" panose="02040503050406030204" pitchFamily="18" charset="0"/>
                          <a:ea typeface="Cambria" panose="02040503050406030204" pitchFamily="18" charset="0"/>
                        </a:rPr>
                        <a:t>20221ISE0025</a:t>
                      </a:r>
                    </a:p>
                  </a:txBody>
                  <a:tcPr/>
                </a:tc>
                <a:tc>
                  <a:txBody>
                    <a:bodyPr/>
                    <a:lstStyle/>
                    <a:p>
                      <a:r>
                        <a:rPr lang="en-IN" dirty="0">
                          <a:latin typeface="Cambria" panose="02040503050406030204" pitchFamily="18" charset="0"/>
                          <a:ea typeface="Cambria" panose="02040503050406030204" pitchFamily="18" charset="0"/>
                        </a:rPr>
                        <a:t>GAGANA S R</a:t>
                      </a:r>
                    </a:p>
                  </a:txBody>
                  <a:tcPr/>
                </a:tc>
                <a:extLst>
                  <a:ext uri="{0D108BD9-81ED-4DB2-BD59-A6C34878D82A}">
                    <a16:rowId xmlns:a16="http://schemas.microsoft.com/office/drawing/2014/main" val="780661465"/>
                  </a:ext>
                </a:extLst>
              </a:tr>
              <a:tr h="370840">
                <a:tc>
                  <a:txBody>
                    <a:bodyPr/>
                    <a:lstStyle/>
                    <a:p>
                      <a:r>
                        <a:rPr lang="en-IN" dirty="0">
                          <a:latin typeface="Cambria" panose="02040503050406030204" pitchFamily="18" charset="0"/>
                          <a:ea typeface="Cambria" panose="02040503050406030204" pitchFamily="18" charset="0"/>
                        </a:rPr>
                        <a:t>20221ISE0021</a:t>
                      </a:r>
                    </a:p>
                  </a:txBody>
                  <a:tcPr/>
                </a:tc>
                <a:tc>
                  <a:txBody>
                    <a:bodyPr/>
                    <a:lstStyle/>
                    <a:p>
                      <a:r>
                        <a:rPr lang="en-IN" dirty="0">
                          <a:latin typeface="Cambria" panose="02040503050406030204" pitchFamily="18" charset="0"/>
                          <a:ea typeface="Cambria" panose="02040503050406030204" pitchFamily="18" charset="0"/>
                        </a:rPr>
                        <a:t>TANUSHREE M S</a:t>
                      </a:r>
                    </a:p>
                  </a:txBody>
                  <a:tcPr/>
                </a:tc>
                <a:extLst>
                  <a:ext uri="{0D108BD9-81ED-4DB2-BD59-A6C34878D82A}">
                    <a16:rowId xmlns:a16="http://schemas.microsoft.com/office/drawing/2014/main" val="671002727"/>
                  </a:ext>
                </a:extLst>
              </a:tr>
              <a:tr h="370840">
                <a:tc>
                  <a:txBody>
                    <a:bodyPr/>
                    <a:lstStyle/>
                    <a:p>
                      <a:r>
                        <a:rPr lang="en-IN" dirty="0">
                          <a:latin typeface="Cambria" panose="02040503050406030204" pitchFamily="18" charset="0"/>
                          <a:ea typeface="Cambria" panose="02040503050406030204" pitchFamily="18" charset="0"/>
                        </a:rPr>
                        <a:t>20221ISE0042</a:t>
                      </a:r>
                    </a:p>
                  </a:txBody>
                  <a:tcPr/>
                </a:tc>
                <a:tc>
                  <a:txBody>
                    <a:bodyPr/>
                    <a:lstStyle/>
                    <a:p>
                      <a:r>
                        <a:rPr lang="en-IN" dirty="0">
                          <a:latin typeface="Cambria" panose="02040503050406030204" pitchFamily="18" charset="0"/>
                          <a:ea typeface="Cambria" panose="02040503050406030204" pitchFamily="18" charset="0"/>
                        </a:rPr>
                        <a:t>SNEHA KUMARI</a:t>
                      </a:r>
                    </a:p>
                  </a:txBody>
                  <a:tcPr/>
                </a:tc>
                <a:extLst>
                  <a:ext uri="{0D108BD9-81ED-4DB2-BD59-A6C34878D82A}">
                    <a16:rowId xmlns:a16="http://schemas.microsoft.com/office/drawing/2014/main" val="384340795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4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Current Challenges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Base Paper</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Final Result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AI and similarity check of report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Declaration and Bonafide Certificate</a:t>
            </a:r>
          </a:p>
          <a:p>
            <a:pPr marL="495300" lvl="0" indent="-342900" algn="just">
              <a:lnSpc>
                <a:spcPct val="200000"/>
              </a:lnSpc>
              <a:spcBef>
                <a:spcPts val="0"/>
              </a:spcBef>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5876-BA65-3176-92D6-1A6E76D7626E}"/>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Abstract</a:t>
            </a:r>
            <a:endParaRPr lang="en-US" dirty="0"/>
          </a:p>
        </p:txBody>
      </p:sp>
      <p:sp>
        <p:nvSpPr>
          <p:cNvPr id="3" name="Text Placeholder 2">
            <a:extLst>
              <a:ext uri="{FF2B5EF4-FFF2-40B4-BE49-F238E27FC236}">
                <a16:creationId xmlns:a16="http://schemas.microsoft.com/office/drawing/2014/main" id="{A25F4A02-772E-CCD3-EF98-154EA74B6E31}"/>
              </a:ext>
            </a:extLst>
          </p:cNvPr>
          <p:cNvSpPr>
            <a:spLocks noGrp="1"/>
          </p:cNvSpPr>
          <p:nvPr>
            <p:ph type="body" idx="1"/>
          </p:nvPr>
        </p:nvSpPr>
        <p:spPr/>
        <p:txBody>
          <a:bodyPr>
            <a:normAutofit fontScale="70000" lnSpcReduction="20000"/>
          </a:bodyPr>
          <a:lstStyle/>
          <a:p>
            <a:pPr marL="76200" indent="0">
              <a:buNone/>
            </a:pPr>
            <a:r>
              <a:rPr lang="en-IN" sz="2200" dirty="0">
                <a:latin typeface="Cambria" panose="02040503050406030204" pitchFamily="18" charset="0"/>
                <a:ea typeface="Cambria" panose="02040503050406030204" pitchFamily="18" charset="0"/>
              </a:rPr>
              <a:t>In the contemporary construction sector, proper project monitoring and control are a very crucial element towards ensuring that, projects are delivered on time, cost effectively, and quality results. Conventional ways of measuring progress like manual inspection and paper reports can be slow, subjective and prone to human error. As a way of solving these problems, monitoring of construction progress through the use of images has become a new and reliable approach. This method presupposes capturing visual information on the construction sites by using digital cameras, smartphones, drones, and surveillance cameras every certain period throughout the project.</a:t>
            </a:r>
            <a:r>
              <a:rPr lang="en-US" sz="2200" dirty="0">
                <a:latin typeface="Cambria" panose="02040503050406030204" pitchFamily="18" charset="0"/>
                <a:ea typeface="Cambria" panose="02040503050406030204" pitchFamily="18" charset="0"/>
              </a:rPr>
              <a:t> </a:t>
            </a:r>
            <a:r>
              <a:rPr lang="en-IN" sz="2200" dirty="0">
                <a:latin typeface="Cambria" panose="02040503050406030204" pitchFamily="18" charset="0"/>
                <a:ea typeface="Cambria" panose="02040503050406030204" pitchFamily="18" charset="0"/>
              </a:rPr>
              <a:t>The photos taken are valuable documents of the work at the site. The stakeholders, project managers, and engineers can easily evaluate the progress of work visually. Comparison of images captured over time will be able to monitor the progress with reference to the scheduled times, identify delays or differences, and ensure the construction adheres to the design requirements. Monitoring through images provides an objective and data-based perspective of the situation at a site, eliminating the possibility of subjective human assessments.</a:t>
            </a:r>
            <a:r>
              <a:rPr lang="en-US" sz="2200" dirty="0">
                <a:latin typeface="Cambria" panose="02040503050406030204" pitchFamily="18" charset="0"/>
                <a:ea typeface="Cambria" panose="02040503050406030204" pitchFamily="18" charset="0"/>
              </a:rPr>
              <a:t> </a:t>
            </a:r>
            <a:r>
              <a:rPr lang="en-IN" sz="2200" dirty="0">
                <a:latin typeface="Cambria" panose="02040503050406030204" pitchFamily="18" charset="0"/>
                <a:ea typeface="Cambria" panose="02040503050406030204" pitchFamily="18" charset="0"/>
              </a:rPr>
              <a:t>Furthermore, the integration of the image analysis with such technologies as Artificial Intelligence (AI), Computer Vision, and Building Information </a:t>
            </a:r>
            <a:r>
              <a:rPr lang="en-IN" sz="2200" dirty="0" err="1">
                <a:latin typeface="Cambria" panose="02040503050406030204" pitchFamily="18" charset="0"/>
                <a:ea typeface="Cambria" panose="02040503050406030204" pitchFamily="18" charset="0"/>
              </a:rPr>
              <a:t>Modeling</a:t>
            </a:r>
            <a:r>
              <a:rPr lang="en-IN" sz="2200" dirty="0">
                <a:latin typeface="Cambria" panose="02040503050406030204" pitchFamily="18" charset="0"/>
                <a:ea typeface="Cambria" panose="02040503050406030204" pitchFamily="18" charset="0"/>
              </a:rPr>
              <a:t> (BIM) has significantly enhanced the accuracy of the progress tracking and has increased its efficiency. The AI algorithms are capable of automatically identifying structural parts, quantifying quantities and estimating the percentage completion on the basis of images. The visual insights when linked to BIM models could be compared to the digital plans to identify deviations, safety issues, or places that will require corrections. High-resolution drones provide aerial survey of a big or complicated location, which would otherwise be unfeasible by ground inspections.</a:t>
            </a:r>
            <a:r>
              <a:rPr lang="en-US" sz="2200" dirty="0">
                <a:latin typeface="Cambria" panose="02040503050406030204" pitchFamily="18" charset="0"/>
                <a:ea typeface="Cambria" panose="02040503050406030204" pitchFamily="18" charset="0"/>
              </a:rPr>
              <a:t> </a:t>
            </a:r>
            <a:r>
              <a:rPr lang="en-IN" sz="2200" dirty="0">
                <a:latin typeface="Cambria" panose="02040503050406030204" pitchFamily="18" charset="0"/>
                <a:ea typeface="Cambria" panose="02040503050406030204" pitchFamily="18" charset="0"/>
              </a:rPr>
              <a:t>The remote collaboration among the stakeholders of a project is also facilitated through the use of image-based monitoring systems. Cloud platforms can be used to share real-time visual updates and allow architects, engineers, and clients to check the site progress at any location. This improves the level of transparency, communication, and decision-making in the project. Also, maintaining history of documentation in picture form is an accountability measure and will assist in solving quality or time related </a:t>
            </a:r>
            <a:r>
              <a:rPr lang="en-IN" sz="2200" dirty="0" err="1">
                <a:latin typeface="Cambria" panose="02040503050406030204" pitchFamily="18" charset="0"/>
                <a:ea typeface="Cambria" panose="02040503050406030204" pitchFamily="18" charset="0"/>
              </a:rPr>
              <a:t>disputes.On</a:t>
            </a:r>
            <a:r>
              <a:rPr lang="en-IN" sz="2200" dirty="0">
                <a:latin typeface="Cambria" panose="02040503050406030204" pitchFamily="18" charset="0"/>
                <a:ea typeface="Cambria" panose="02040503050406030204" pitchFamily="18" charset="0"/>
              </a:rPr>
              <a:t> the whole, the ability to track the progress of the construction with the help of images is a great step towards more intelligent and effective project management. It does not only enhance precision and efficiency, but also enables sustainable business by minimizing field trips and maximizing on resource utilization. With the shift to the use of digital tools in the construction industry, the image-based monitoring can be considered as a low-cost, scalable, and potent solution to improve project results in a contemporary construction industry.</a:t>
            </a:r>
            <a:endParaRPr lang="en-US" sz="2200" dirty="0">
              <a:latin typeface="Cambria" panose="02040503050406030204" pitchFamily="18" charset="0"/>
              <a:ea typeface="Cambria" panose="02040503050406030204" pitchFamily="18" charset="0"/>
            </a:endParaRPr>
          </a:p>
          <a:p>
            <a:pPr marL="76200"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1021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351</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1400" b="1" dirty="0">
                <a:latin typeface="Cambria" panose="02040503050406030204" pitchFamily="18" charset="0"/>
                <a:ea typeface="Cambria" panose="02040503050406030204" pitchFamily="18" charset="0"/>
              </a:rPr>
              <a:t>Organization</a:t>
            </a:r>
            <a:r>
              <a:rPr lang="en-US" sz="1400" dirty="0">
                <a:latin typeface="Cambria" panose="02040503050406030204" pitchFamily="18" charset="0"/>
                <a:ea typeface="Cambria" panose="02040503050406030204" pitchFamily="18" charset="0"/>
              </a:rPr>
              <a:t>: Ministry of Housing and Urban Affairs</a:t>
            </a:r>
          </a:p>
          <a:p>
            <a:pPr marL="342900" lvl="0" indent="-190500" algn="just">
              <a:lnSpc>
                <a:spcPct val="200000"/>
              </a:lnSpc>
              <a:spcBef>
                <a:spcPts val="0"/>
              </a:spcBef>
              <a:buNone/>
            </a:pPr>
            <a:r>
              <a:rPr lang="en-US" sz="1400" b="1" dirty="0">
                <a:latin typeface="Cambria" panose="02040503050406030204" pitchFamily="18" charset="0"/>
                <a:ea typeface="Cambria" panose="02040503050406030204" pitchFamily="18" charset="0"/>
              </a:rPr>
              <a:t>Category (Hardware / Software / Both) </a:t>
            </a:r>
            <a:r>
              <a:rPr lang="en-US" sz="1400" dirty="0">
                <a:latin typeface="Cambria" panose="02040503050406030204" pitchFamily="18" charset="0"/>
                <a:ea typeface="Cambria" panose="02040503050406030204" pitchFamily="18" charset="0"/>
              </a:rPr>
              <a:t>:Software </a:t>
            </a:r>
          </a:p>
          <a:p>
            <a:pPr marL="342900" lvl="0" indent="-190500" algn="just">
              <a:lnSpc>
                <a:spcPct val="200000"/>
              </a:lnSpc>
              <a:spcBef>
                <a:spcPts val="0"/>
              </a:spcBef>
              <a:buNone/>
            </a:pPr>
            <a:r>
              <a:rPr lang="en-US" sz="1400" b="1" dirty="0">
                <a:latin typeface="Cambria" panose="02040503050406030204" pitchFamily="18" charset="0"/>
                <a:ea typeface="Cambria" panose="02040503050406030204" pitchFamily="18" charset="0"/>
              </a:rPr>
              <a:t>Problem Description </a:t>
            </a:r>
            <a:r>
              <a:rPr lang="en-US" sz="1400" dirty="0">
                <a:latin typeface="Cambria" panose="02040503050406030204" pitchFamily="18" charset="0"/>
                <a:ea typeface="Cambria" panose="02040503050406030204" pitchFamily="18" charset="0"/>
              </a:rPr>
              <a:t>: Monitoring the progress of building construction projects is often challenging due to the reliance on manual inspections and subjective reporting, which can lead to delays and errors. By systematically collecting and analyzing images, project managers can create visual progress records, compare actual work with planned schedules, generate quantitative progress metrics, and detect delays or quality issues early. This approach improves transparency, reduces the need for frequent site visits, and enhances decision-making, ultimately leading to more efficient project management.</a:t>
            </a:r>
          </a:p>
          <a:p>
            <a:pPr marL="342900" lvl="0" indent="-190500" algn="just">
              <a:lnSpc>
                <a:spcPct val="200000"/>
              </a:lnSpc>
              <a:spcBef>
                <a:spcPts val="0"/>
              </a:spcBef>
              <a:buNone/>
            </a:pPr>
            <a:r>
              <a:rPr lang="en-US" sz="1400" b="1" dirty="0">
                <a:latin typeface="Cambria" panose="02040503050406030204" pitchFamily="18" charset="0"/>
                <a:ea typeface="Cambria" panose="02040503050406030204" pitchFamily="18" charset="0"/>
              </a:rPr>
              <a:t>Expected output: </a:t>
            </a:r>
            <a:r>
              <a:rPr lang="en-US" sz="1400" dirty="0">
                <a:latin typeface="Cambria" panose="02040503050406030204" pitchFamily="18" charset="0"/>
                <a:ea typeface="Cambria" panose="02040503050406030204" pitchFamily="18" charset="0"/>
              </a:rPr>
              <a:t>Accurate visual records and measurable insights on construction progress, enabling early issue detection, reduced manual monitoring, and improved project management efficiency</a:t>
            </a:r>
          </a:p>
          <a:p>
            <a:pPr marL="342900" lvl="0" indent="-190500" algn="just">
              <a:lnSpc>
                <a:spcPct val="200000"/>
              </a:lnSpc>
              <a:spcBef>
                <a:spcPts val="0"/>
              </a:spcBef>
              <a:buNone/>
            </a:pPr>
            <a:r>
              <a:rPr lang="en-US" sz="1400" dirty="0">
                <a:latin typeface="Cambria" panose="02040503050406030204" pitchFamily="18" charset="0"/>
                <a:ea typeface="Cambria" panose="02040503050406030204" pitchFamily="18" charset="0"/>
              </a:rPr>
              <a:t>Problem Description:</a:t>
            </a:r>
          </a:p>
          <a:p>
            <a:pPr marL="342900" lvl="0" indent="-190500" algn="just">
              <a:spcBef>
                <a:spcPts val="0"/>
              </a:spcBef>
              <a:buNone/>
            </a:pPr>
            <a:endParaRPr lang="en-US" sz="1400" dirty="0">
              <a:latin typeface="Cambria" panose="02040503050406030204" pitchFamily="18" charset="0"/>
              <a:ea typeface="Cambria" panose="02040503050406030204" pitchFamily="18" charset="0"/>
            </a:endParaRPr>
          </a:p>
          <a:p>
            <a:endParaRPr lang="en-US" sz="1400" dirty="0"/>
          </a:p>
        </p:txBody>
      </p:sp>
    </p:spTree>
    <p:extLst>
      <p:ext uri="{BB962C8B-B14F-4D97-AF65-F5344CB8AC3E}">
        <p14:creationId xmlns:p14="http://schemas.microsoft.com/office/powerpoint/2010/main" val="21434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7E1F215-9B22-23AA-9F36-4BB289D7886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A31D5B9E-FF93-BDDD-734C-B6B0B30F922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a:extLst>
              <a:ext uri="{FF2B5EF4-FFF2-40B4-BE49-F238E27FC236}">
                <a16:creationId xmlns:a16="http://schemas.microsoft.com/office/drawing/2014/main" id="{9A4812CD-E595-2C41-A6A5-6A65D5FBC53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E4158712-FF8D-52DA-D18C-499F199FFF8E}"/>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3363A8BC-EFE3-5238-9F1C-087CCDEC3CAF}"/>
              </a:ext>
            </a:extLst>
          </p:cNvPr>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design and develop a software system that uses site images to monitor and evaluate the progress of construction activities. </a:t>
            </a:r>
          </a:p>
          <a:p>
            <a:pPr marL="495300" indent="-342900" algn="just">
              <a:spcBef>
                <a:spcPts val="0"/>
              </a:spcBef>
              <a:buSzPct val="100000"/>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automate the comparison of planned versus actual progress with image data.</a:t>
            </a:r>
            <a:r>
              <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provide visual dashboards and reports for project managers and stakeholders. </a:t>
            </a:r>
          </a:p>
          <a:p>
            <a:pPr marL="342900" indent="-190500" algn="just">
              <a:spcBef>
                <a:spcPts val="0"/>
              </a:spcBef>
              <a:buSzPct val="100000"/>
              <a:buNone/>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reduce manual effort, errors, and delays in construction monitoring</a:t>
            </a:r>
            <a:r>
              <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improve decision-making and transparency in construction projects.</a:t>
            </a:r>
          </a:p>
        </p:txBody>
      </p:sp>
    </p:spTree>
    <p:extLst>
      <p:ext uri="{BB962C8B-B14F-4D97-AF65-F5344CB8AC3E}">
        <p14:creationId xmlns:p14="http://schemas.microsoft.com/office/powerpoint/2010/main" val="153013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D327-E4FE-516D-86CB-5199E412B656}"/>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a:t>
            </a:r>
            <a:endParaRPr lang="en-US" dirty="0"/>
          </a:p>
        </p:txBody>
      </p:sp>
      <p:sp>
        <p:nvSpPr>
          <p:cNvPr id="3" name="Text Placeholder 2">
            <a:extLst>
              <a:ext uri="{FF2B5EF4-FFF2-40B4-BE49-F238E27FC236}">
                <a16:creationId xmlns:a16="http://schemas.microsoft.com/office/drawing/2014/main" id="{6A7DDAAC-3BD9-65B8-6165-D0DBA320CA3D}"/>
              </a:ext>
            </a:extLst>
          </p:cNvPr>
          <p:cNvSpPr>
            <a:spLocks noGrp="1"/>
          </p:cNvSpPr>
          <p:nvPr>
            <p:ph type="body" idx="1"/>
          </p:nvPr>
        </p:nvSpPr>
        <p:spPr/>
        <p:txBody>
          <a:bodyPr/>
          <a:lstStyle/>
          <a:p>
            <a:r>
              <a:rPr lang="en-US" dirty="0">
                <a:latin typeface="Cambria" panose="02040503050406030204" pitchFamily="18" charset="0"/>
                <a:ea typeface="Cambria" panose="02040503050406030204" pitchFamily="18" charset="0"/>
              </a:rPr>
              <a:t>Manual and Slow Process</a:t>
            </a:r>
          </a:p>
          <a:p>
            <a:r>
              <a:rPr lang="en-US" dirty="0">
                <a:latin typeface="Cambria" panose="02040503050406030204" pitchFamily="18" charset="0"/>
                <a:ea typeface="Cambria" panose="02040503050406030204" pitchFamily="18" charset="0"/>
              </a:rPr>
              <a:t>Quality and Site Challenges</a:t>
            </a:r>
          </a:p>
          <a:p>
            <a:r>
              <a:rPr lang="en-US" dirty="0">
                <a:latin typeface="Cambria" panose="02040503050406030204" pitchFamily="18" charset="0"/>
                <a:ea typeface="Cambria" panose="02040503050406030204" pitchFamily="18" charset="0"/>
              </a:rPr>
              <a:t>Data Management Difficulties</a:t>
            </a:r>
          </a:p>
          <a:p>
            <a:r>
              <a:rPr lang="en-US" dirty="0">
                <a:latin typeface="Cambria" panose="02040503050406030204" pitchFamily="18" charset="0"/>
                <a:ea typeface="Cambria" panose="02040503050406030204" pitchFamily="18" charset="0"/>
              </a:rPr>
              <a:t>Lack of Integration</a:t>
            </a:r>
          </a:p>
          <a:p>
            <a:r>
              <a:rPr lang="en-US" dirty="0">
                <a:latin typeface="Cambria" panose="02040503050406030204" pitchFamily="18" charset="0"/>
                <a:ea typeface="Cambria" panose="02040503050406030204" pitchFamily="18" charset="0"/>
              </a:rPr>
              <a:t>Need for Automation</a:t>
            </a:r>
          </a:p>
          <a:p>
            <a:endParaRPr lang="en-US" dirty="0"/>
          </a:p>
          <a:p>
            <a:endParaRPr lang="en-US" dirty="0"/>
          </a:p>
        </p:txBody>
      </p:sp>
    </p:spTree>
    <p:extLst>
      <p:ext uri="{BB962C8B-B14F-4D97-AF65-F5344CB8AC3E}">
        <p14:creationId xmlns:p14="http://schemas.microsoft.com/office/powerpoint/2010/main" val="317404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B4F9AA3-38C4-611D-3102-0E2F82D1B79B}"/>
            </a:ext>
          </a:extLst>
        </p:cNvPr>
        <p:cNvGrpSpPr/>
        <p:nvPr/>
      </p:nvGrpSpPr>
      <p:grpSpPr>
        <a:xfrm>
          <a:off x="0" y="0"/>
          <a:ext cx="0" cy="0"/>
          <a:chOff x="0" y="0"/>
          <a:chExt cx="0" cy="0"/>
        </a:xfrm>
      </p:grpSpPr>
      <p:sp>
        <p:nvSpPr>
          <p:cNvPr id="115" name="Google Shape;115;p17">
            <a:extLst>
              <a:ext uri="{FF2B5EF4-FFF2-40B4-BE49-F238E27FC236}">
                <a16:creationId xmlns:a16="http://schemas.microsoft.com/office/drawing/2014/main" id="{04AB48D7-45AE-5F7C-51CF-2D9A5B6383AD}"/>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A10F769A-818B-EDCD-88CF-90697D6B1F88}"/>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64FD54D5-D2DE-A24A-76E2-EB8C89CC02BB}"/>
              </a:ext>
            </a:extLst>
          </p:cNvPr>
          <p:cNvSpPr txBox="1">
            <a:spLocks/>
          </p:cNvSpPr>
          <p:nvPr/>
        </p:nvSpPr>
        <p:spPr>
          <a:xfrm>
            <a:off x="660400" y="1135624"/>
            <a:ext cx="10668000" cy="510540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buNone/>
            </a:pPr>
            <a:r>
              <a:rPr lang="en-US" sz="1600" b="1" dirty="0">
                <a:latin typeface="Cambria" panose="02040503050406030204" pitchFamily="18" charset="0"/>
                <a:ea typeface="Cambria" panose="02040503050406030204" pitchFamily="18" charset="0"/>
              </a:rPr>
              <a:t>Manual challenges:</a:t>
            </a:r>
          </a:p>
          <a:p>
            <a:r>
              <a:rPr lang="en-US" sz="1600" dirty="0">
                <a:latin typeface="Cambria" panose="02040503050406030204" pitchFamily="18" charset="0"/>
                <a:ea typeface="Cambria" panose="02040503050406030204" pitchFamily="18" charset="0"/>
              </a:rPr>
              <a:t>Not Enough Skilled Workers</a:t>
            </a:r>
          </a:p>
          <a:p>
            <a:r>
              <a:rPr lang="en-US" sz="1600" dirty="0">
                <a:latin typeface="Cambria" panose="02040503050406030204" pitchFamily="18" charset="0"/>
                <a:ea typeface="Cambria" panose="02040503050406030204" pitchFamily="18" charset="0"/>
              </a:rPr>
              <a:t>Projects Taking Longer Than Planned</a:t>
            </a:r>
          </a:p>
          <a:p>
            <a:r>
              <a:rPr lang="en-US" sz="1600" dirty="0">
                <a:latin typeface="Cambria" panose="02040503050406030204" pitchFamily="18" charset="0"/>
                <a:ea typeface="Cambria" panose="02040503050406030204" pitchFamily="18" charset="0"/>
              </a:rPr>
              <a:t>Going Over Budget</a:t>
            </a:r>
          </a:p>
          <a:p>
            <a:r>
              <a:rPr lang="en-US" sz="1600" dirty="0">
                <a:latin typeface="Cambria" panose="02040503050406030204" pitchFamily="18" charset="0"/>
                <a:ea typeface="Cambria" panose="02040503050406030204" pitchFamily="18" charset="0"/>
              </a:rPr>
              <a:t>Poor Communication</a:t>
            </a:r>
          </a:p>
          <a:p>
            <a:r>
              <a:rPr lang="en-US" sz="1600" dirty="0">
                <a:latin typeface="Cambria" panose="02040503050406030204" pitchFamily="18" charset="0"/>
                <a:ea typeface="Cambria" panose="02040503050406030204" pitchFamily="18" charset="0"/>
              </a:rPr>
              <a:t>Slow Use of New Technology</a:t>
            </a:r>
          </a:p>
          <a:p>
            <a:pPr marL="76200" indent="0">
              <a:buNone/>
            </a:pPr>
            <a:r>
              <a:rPr lang="en-US" sz="1600" b="1" dirty="0">
                <a:latin typeface="Cambria" panose="02040503050406030204" pitchFamily="18" charset="0"/>
                <a:ea typeface="Cambria" panose="02040503050406030204" pitchFamily="18" charset="0"/>
              </a:rPr>
              <a:t>Technical challenges: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Data Acquisition and Environmental Challenges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Data Processing and Integration Challenges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Data Management and Storage Challenges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Security and Ethical Challenges</a:t>
            </a: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Business and Operational Challenges</a:t>
            </a:r>
          </a:p>
        </p:txBody>
      </p:sp>
      <p:sp>
        <p:nvSpPr>
          <p:cNvPr id="3" name="Title 2">
            <a:extLst>
              <a:ext uri="{FF2B5EF4-FFF2-40B4-BE49-F238E27FC236}">
                <a16:creationId xmlns:a16="http://schemas.microsoft.com/office/drawing/2014/main" id="{151AC202-198B-B26A-139F-9BD4B967605B}"/>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Current Challenges</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69730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890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b="1">
                <a:solidFill>
                  <a:schemeClr val="accent2">
                    <a:lumMod val="75000"/>
                  </a:schemeClr>
                </a:solidFill>
                <a:latin typeface="Cambria" panose="02040503050406030204" pitchFamily="18" charset="0"/>
                <a:ea typeface="Cambria" panose="02040503050406030204" pitchFamily="18" charset="0"/>
              </a:rPr>
              <a:t>https://github.com/Tanushreems/Utilization-of-images-for-monitoring-of-progress-of-construction-activities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3" name="Title 2">
            <a:extLst>
              <a:ext uri="{FF2B5EF4-FFF2-40B4-BE49-F238E27FC236}">
                <a16:creationId xmlns:a16="http://schemas.microsoft.com/office/drawing/2014/main" id="{2DC9151D-E07B-0851-D12E-D107DDB3BCA2}"/>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Timeline of the Project (Gantt Chart)</a:t>
            </a:r>
            <a:endParaRPr lang="en-US" dirty="0"/>
          </a:p>
        </p:txBody>
      </p:sp>
      <p:pic>
        <p:nvPicPr>
          <p:cNvPr id="12" name="Picture 11">
            <a:extLst>
              <a:ext uri="{FF2B5EF4-FFF2-40B4-BE49-F238E27FC236}">
                <a16:creationId xmlns:a16="http://schemas.microsoft.com/office/drawing/2014/main" id="{FE11A2A3-EF4F-D07F-84BA-CDD3B44BB0B0}"/>
              </a:ext>
            </a:extLst>
          </p:cNvPr>
          <p:cNvPicPr>
            <a:picLocks noChangeAspect="1"/>
          </p:cNvPicPr>
          <p:nvPr/>
        </p:nvPicPr>
        <p:blipFill>
          <a:blip r:embed="rId3"/>
          <a:stretch>
            <a:fillRect/>
          </a:stretch>
        </p:blipFill>
        <p:spPr>
          <a:xfrm>
            <a:off x="971550" y="1058489"/>
            <a:ext cx="9591675" cy="443699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40000" lnSpcReduction="200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 M. </a:t>
            </a:r>
            <a:r>
              <a:rPr lang="en-US" dirty="0" err="1">
                <a:latin typeface="Cambria" panose="02040503050406030204" pitchFamily="18" charset="0"/>
                <a:ea typeface="Cambria" panose="02040503050406030204" pitchFamily="18" charset="0"/>
              </a:rPr>
              <a:t>Golparvar</a:t>
            </a:r>
            <a:r>
              <a:rPr lang="en-US" dirty="0">
                <a:latin typeface="Cambria" panose="02040503050406030204" pitchFamily="18" charset="0"/>
                <a:ea typeface="Cambria" panose="02040503050406030204" pitchFamily="18" charset="0"/>
              </a:rPr>
              <a:t>-Fard, F. Pena-Mora, and C. A. Arboleda, “Construction performance monitoring via still images, time-lapse photos, and video streams: Now, tomorrow, and the future,” </a:t>
            </a:r>
            <a:r>
              <a:rPr lang="en-US" i="1" dirty="0">
                <a:latin typeface="Cambria" panose="02040503050406030204" pitchFamily="18" charset="0"/>
                <a:ea typeface="Cambria" panose="02040503050406030204" pitchFamily="18" charset="0"/>
              </a:rPr>
              <a:t>Automation in Construction</a:t>
            </a:r>
            <a:r>
              <a:rPr lang="en-US" dirty="0">
                <a:latin typeface="Cambria" panose="02040503050406030204" pitchFamily="18" charset="0"/>
                <a:ea typeface="Cambria" panose="02040503050406030204" pitchFamily="18" charset="0"/>
              </a:rPr>
              <a:t>, 2012. [Online]. Available: </a:t>
            </a:r>
            <a:r>
              <a:rPr lang="en-US" u="sng" dirty="0">
                <a:latin typeface="Cambria" panose="02040503050406030204" pitchFamily="18" charset="0"/>
                <a:ea typeface="Cambria" panose="02040503050406030204" pitchFamily="18" charset="0"/>
                <a:hlinkClick r:id="rId3"/>
              </a:rPr>
              <a:t>https://www.sciencedirect.com/science/article/abs/pii/S1474034615000233</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[2] R. Zheng, J. Liu, and Y. Xu, “Review of Image-Based 3D Reconstruction of Building for Automated Construction Progress Monitoring,” </a:t>
            </a:r>
            <a:r>
              <a:rPr lang="en-US" i="1" dirty="0">
                <a:latin typeface="Cambria" panose="02040503050406030204" pitchFamily="18" charset="0"/>
                <a:ea typeface="Cambria" panose="02040503050406030204" pitchFamily="18" charset="0"/>
              </a:rPr>
              <a:t>Applied Sciences</a:t>
            </a:r>
            <a:r>
              <a:rPr lang="en-US" dirty="0">
                <a:latin typeface="Cambria" panose="02040503050406030204" pitchFamily="18" charset="0"/>
                <a:ea typeface="Cambria" panose="02040503050406030204" pitchFamily="18" charset="0"/>
              </a:rPr>
              <a:t>, 2021. [Online]. Available: </a:t>
            </a:r>
            <a:r>
              <a:rPr lang="en-US" u="sng" dirty="0">
                <a:latin typeface="Cambria" panose="02040503050406030204" pitchFamily="18" charset="0"/>
                <a:ea typeface="Cambria" panose="02040503050406030204" pitchFamily="18" charset="0"/>
                <a:hlinkClick r:id="rId4"/>
              </a:rPr>
              <a:t>https://www.mdpi.com/2076-3417/11/17/7840</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[3] B. Ekanayake and L. S. Marasinghe, “Automated Computer Vision-Based Construction Progress Monitoring: A Systematic Review,” </a:t>
            </a:r>
            <a:r>
              <a:rPr lang="en-US" i="1" dirty="0">
                <a:latin typeface="Cambria" panose="02040503050406030204" pitchFamily="18" charset="0"/>
                <a:ea typeface="Cambria" panose="02040503050406030204" pitchFamily="18" charset="0"/>
              </a:rPr>
              <a:t>Buildings</a:t>
            </a:r>
            <a:r>
              <a:rPr lang="en-US" dirty="0">
                <a:latin typeface="Cambria" panose="02040503050406030204" pitchFamily="18" charset="0"/>
                <a:ea typeface="Cambria" panose="02040503050406030204" pitchFamily="18" charset="0"/>
              </a:rPr>
              <a:t>, 2022. [Online]. Available: </a:t>
            </a:r>
            <a:r>
              <a:rPr lang="en-US" u="sng" dirty="0">
                <a:latin typeface="Cambria" panose="02040503050406030204" pitchFamily="18" charset="0"/>
                <a:ea typeface="Cambria" panose="02040503050406030204" pitchFamily="18" charset="0"/>
                <a:hlinkClick r:id="rId5"/>
              </a:rPr>
              <a:t>https://www.mdpi.com/2075-5309/12/7/1037</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[4] B. Ekanayake and L. S. Marasinghe, “Construction Progress Monitoring and Reporting using Computer Vision Techniques – A Review,” </a:t>
            </a:r>
            <a:r>
              <a:rPr lang="en-US" i="1" dirty="0">
                <a:latin typeface="Cambria" panose="02040503050406030204" pitchFamily="18" charset="0"/>
                <a:ea typeface="Cambria" panose="02040503050406030204" pitchFamily="18" charset="0"/>
              </a:rPr>
              <a:t>ISARC</a:t>
            </a:r>
            <a:r>
              <a:rPr lang="en-US" dirty="0">
                <a:latin typeface="Cambria" panose="02040503050406030204" pitchFamily="18" charset="0"/>
                <a:ea typeface="Cambria" panose="02040503050406030204" pitchFamily="18" charset="0"/>
              </a:rPr>
              <a:t>, 2022. [Online]. Available: </a:t>
            </a:r>
            <a:r>
              <a:rPr lang="en-US" u="sng" dirty="0">
                <a:latin typeface="Cambria" panose="02040503050406030204" pitchFamily="18" charset="0"/>
                <a:ea typeface="Cambria" panose="02040503050406030204" pitchFamily="18" charset="0"/>
                <a:hlinkClick r:id="rId6"/>
              </a:rPr>
              <a:t>https://www.iaarc.org/publications/fulltext/062_ISARC%202022_Paper_48.pdf</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[5] M. </a:t>
            </a:r>
            <a:r>
              <a:rPr lang="en-US" dirty="0" err="1">
                <a:latin typeface="Cambria" panose="02040503050406030204" pitchFamily="18" charset="0"/>
                <a:ea typeface="Cambria" panose="02040503050406030204" pitchFamily="18" charset="0"/>
              </a:rPr>
              <a:t>Golparvar</a:t>
            </a:r>
            <a:r>
              <a:rPr lang="en-US" dirty="0">
                <a:latin typeface="Cambria" panose="02040503050406030204" pitchFamily="18" charset="0"/>
                <a:ea typeface="Cambria" panose="02040503050406030204" pitchFamily="18" charset="0"/>
              </a:rPr>
              <a:t>-Fard, S. Bohn, and F. Pena-Mora, “Visualization of Construction Progress Monitoring with 4D Simulation Model Overlaid on Time-Lapsed Photographs,” </a:t>
            </a:r>
            <a:r>
              <a:rPr lang="en-US" i="1" dirty="0">
                <a:latin typeface="Cambria" panose="02040503050406030204" pitchFamily="18" charset="0"/>
                <a:ea typeface="Cambria" panose="02040503050406030204" pitchFamily="18" charset="0"/>
              </a:rPr>
              <a:t>Journal of Computing in Civil Engineering</a:t>
            </a:r>
            <a:r>
              <a:rPr lang="en-US" dirty="0">
                <a:latin typeface="Cambria" panose="02040503050406030204" pitchFamily="18" charset="0"/>
                <a:ea typeface="Cambria" panose="02040503050406030204" pitchFamily="18" charset="0"/>
              </a:rPr>
              <a:t>, 2009. [Online]. Available: </a:t>
            </a:r>
            <a:r>
              <a:rPr lang="en-US" u="sng" dirty="0">
                <a:latin typeface="Cambria" panose="02040503050406030204" pitchFamily="18" charset="0"/>
                <a:ea typeface="Cambria" panose="02040503050406030204" pitchFamily="18" charset="0"/>
                <a:hlinkClick r:id="rId7"/>
              </a:rPr>
              <a:t>https://www.researchgate.net/publication/228662339</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[6] Z. Jiang, “Automated Construction Progress Monitoring using Image Segmentation and Building Information Models,” </a:t>
            </a:r>
            <a:r>
              <a:rPr lang="en-US" i="1" dirty="0">
                <a:latin typeface="Cambria" panose="02040503050406030204" pitchFamily="18" charset="0"/>
                <a:ea typeface="Cambria" panose="02040503050406030204" pitchFamily="18" charset="0"/>
              </a:rPr>
              <a:t>Pennsylvania State Univ. Dissertation</a:t>
            </a:r>
            <a:r>
              <a:rPr lang="en-US" dirty="0">
                <a:latin typeface="Cambria" panose="02040503050406030204" pitchFamily="18" charset="0"/>
                <a:ea typeface="Cambria" panose="02040503050406030204" pitchFamily="18" charset="0"/>
              </a:rPr>
              <a:t>, 2023. [Online]. Available: </a:t>
            </a:r>
            <a:r>
              <a:rPr lang="en-US" u="sng" dirty="0">
                <a:latin typeface="Cambria" panose="02040503050406030204" pitchFamily="18" charset="0"/>
                <a:ea typeface="Cambria" panose="02040503050406030204" pitchFamily="18" charset="0"/>
                <a:hlinkClick r:id="rId8"/>
              </a:rPr>
              <a:t>https://etda.libraries.psu.edu/catalog/19715zpj5026</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[7] W. Wei, et al., “Integrated vision-based automated progress monitoring of indoor construction using mask region-based convolutional neural networks and BIM,” </a:t>
            </a:r>
            <a:r>
              <a:rPr lang="en-US" i="1" dirty="0">
                <a:latin typeface="Cambria" panose="02040503050406030204" pitchFamily="18" charset="0"/>
                <a:ea typeface="Cambria" panose="02040503050406030204" pitchFamily="18" charset="0"/>
              </a:rPr>
              <a:t>Automation in Construction</a:t>
            </a:r>
            <a:r>
              <a:rPr lang="en-US" dirty="0">
                <a:latin typeface="Cambria" panose="02040503050406030204" pitchFamily="18" charset="0"/>
                <a:ea typeface="Cambria" panose="02040503050406030204" pitchFamily="18" charset="0"/>
              </a:rPr>
              <a:t>, 2022. [Online]. Available: </a:t>
            </a:r>
            <a:r>
              <a:rPr lang="en-US" u="sng" dirty="0">
                <a:latin typeface="Cambria" panose="02040503050406030204" pitchFamily="18" charset="0"/>
                <a:ea typeface="Cambria" panose="02040503050406030204" pitchFamily="18" charset="0"/>
                <a:hlinkClick r:id="rId9"/>
              </a:rPr>
              <a:t>https://www.sciencedirect.com/science/article/abs/pii/S092658052200200X</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[8] A. Braun, et al., “BIM-based progress monitoring,” </a:t>
            </a:r>
            <a:r>
              <a:rPr lang="en-US" i="1" dirty="0">
                <a:latin typeface="Cambria" panose="02040503050406030204" pitchFamily="18" charset="0"/>
                <a:ea typeface="Cambria" panose="02040503050406030204" pitchFamily="18" charset="0"/>
              </a:rPr>
              <a:t>Automation in Construction</a:t>
            </a:r>
            <a:r>
              <a:rPr lang="en-US" dirty="0">
                <a:latin typeface="Cambria" panose="02040503050406030204" pitchFamily="18" charset="0"/>
                <a:ea typeface="Cambria" panose="02040503050406030204" pitchFamily="18" charset="0"/>
              </a:rPr>
              <a:t>, 2017. [Online]. Available: </a:t>
            </a:r>
            <a:r>
              <a:rPr lang="en-US" u="sng" dirty="0">
                <a:latin typeface="Cambria" panose="02040503050406030204" pitchFamily="18" charset="0"/>
                <a:ea typeface="Cambria" panose="02040503050406030204" pitchFamily="18" charset="0"/>
                <a:hlinkClick r:id="rId10"/>
              </a:rPr>
              <a:t>https://www.academia.edu/44587691/BIM_based_progress_monitoring</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[9] C. C. Hsieh, et al., “Integration of Construction Progress Monitoring Results using AI Image Recognition from Multiple Cameras onto a BIM,” </a:t>
            </a:r>
            <a:r>
              <a:rPr lang="en-US" i="1" dirty="0">
                <a:latin typeface="Cambria" panose="02040503050406030204" pitchFamily="18" charset="0"/>
                <a:ea typeface="Cambria" panose="02040503050406030204" pitchFamily="18" charset="0"/>
              </a:rPr>
              <a:t>ISARC</a:t>
            </a:r>
            <a:r>
              <a:rPr lang="en-US" dirty="0">
                <a:latin typeface="Cambria" panose="02040503050406030204" pitchFamily="18" charset="0"/>
                <a:ea typeface="Cambria" panose="02040503050406030204" pitchFamily="18" charset="0"/>
              </a:rPr>
              <a:t>, 2024. [Online]. Available: </a:t>
            </a:r>
            <a:r>
              <a:rPr lang="en-US" u="sng" dirty="0">
                <a:latin typeface="Cambria" panose="02040503050406030204" pitchFamily="18" charset="0"/>
                <a:ea typeface="Cambria" panose="02040503050406030204" pitchFamily="18" charset="0"/>
                <a:hlinkClick r:id="rId11"/>
              </a:rPr>
              <a:t>https://www.iaarc.org/publications/2024_proceedings</a:t>
            </a:r>
            <a:r>
              <a:rPr lang="en-US" dirty="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[10] A. S. Greeshma and R. B. </a:t>
            </a:r>
            <a:r>
              <a:rPr lang="en-US" dirty="0" err="1">
                <a:latin typeface="Cambria" panose="02040503050406030204" pitchFamily="18" charset="0"/>
                <a:ea typeface="Cambria" panose="02040503050406030204" pitchFamily="18" charset="0"/>
              </a:rPr>
              <a:t>Edayadiyil</a:t>
            </a:r>
            <a:r>
              <a:rPr lang="en-US" dirty="0">
                <a:latin typeface="Cambria" panose="02040503050406030204" pitchFamily="18" charset="0"/>
                <a:ea typeface="Cambria" panose="02040503050406030204" pitchFamily="18" charset="0"/>
              </a:rPr>
              <a:t>, “Computer Vision for Construction Progress Monitoring: A Real-Time Object Detection Approach,” </a:t>
            </a:r>
            <a:r>
              <a:rPr lang="en-US" i="1" dirty="0" err="1">
                <a:latin typeface="Cambria" panose="02040503050406030204" pitchFamily="18" charset="0"/>
                <a:ea typeface="Cambria" panose="02040503050406030204" pitchFamily="18" charset="0"/>
              </a:rPr>
              <a:t>arXiv</a:t>
            </a:r>
            <a:r>
              <a:rPr lang="en-US" i="1" dirty="0">
                <a:latin typeface="Cambria" panose="02040503050406030204" pitchFamily="18" charset="0"/>
                <a:ea typeface="Cambria" panose="02040503050406030204" pitchFamily="18" charset="0"/>
              </a:rPr>
              <a:t> preprint</a:t>
            </a:r>
            <a:r>
              <a:rPr lang="en-US" dirty="0">
                <a:latin typeface="Cambria" panose="02040503050406030204" pitchFamily="18" charset="0"/>
                <a:ea typeface="Cambria" panose="02040503050406030204" pitchFamily="18" charset="0"/>
              </a:rPr>
              <a:t>, 2023. [Online]. Available: </a:t>
            </a:r>
            <a:r>
              <a:rPr lang="en-US" u="sng" dirty="0">
                <a:latin typeface="Cambria" panose="02040503050406030204" pitchFamily="18" charset="0"/>
                <a:ea typeface="Cambria" panose="02040503050406030204" pitchFamily="18" charset="0"/>
                <a:hlinkClick r:id="rId12"/>
              </a:rPr>
              <a:t>https://www.researchgate.net/publication/374014867</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[11] A. S. Greeshma and R. B. </a:t>
            </a:r>
            <a:r>
              <a:rPr lang="en-US" dirty="0" err="1">
                <a:latin typeface="Cambria" panose="02040503050406030204" pitchFamily="18" charset="0"/>
                <a:ea typeface="Cambria" panose="02040503050406030204" pitchFamily="18" charset="0"/>
              </a:rPr>
              <a:t>Edayadiyil</a:t>
            </a:r>
            <a:r>
              <a:rPr lang="en-US" dirty="0">
                <a:latin typeface="Cambria" panose="02040503050406030204" pitchFamily="18" charset="0"/>
                <a:ea typeface="Cambria" panose="02040503050406030204" pitchFamily="18" charset="0"/>
              </a:rPr>
              <a:t>, “Automated progress monitoring of construction projects using Machine learning and image processing approach,” </a:t>
            </a:r>
            <a:r>
              <a:rPr lang="en-US" i="1" dirty="0">
                <a:latin typeface="Cambria" panose="02040503050406030204" pitchFamily="18" charset="0"/>
                <a:ea typeface="Cambria" panose="02040503050406030204" pitchFamily="18" charset="0"/>
              </a:rPr>
              <a:t>Materials Today: Proceedings</a:t>
            </a:r>
            <a:r>
              <a:rPr lang="en-US" dirty="0">
                <a:latin typeface="Cambria" panose="02040503050406030204" pitchFamily="18" charset="0"/>
                <a:ea typeface="Cambria" panose="02040503050406030204" pitchFamily="18" charset="0"/>
              </a:rPr>
              <a:t>, 2022. [Online]. Available: </a:t>
            </a:r>
            <a:r>
              <a:rPr lang="en-US" u="sng" dirty="0">
                <a:latin typeface="Cambria" panose="02040503050406030204" pitchFamily="18" charset="0"/>
                <a:ea typeface="Cambria" panose="02040503050406030204" pitchFamily="18" charset="0"/>
                <a:hlinkClick r:id="rId13"/>
              </a:rPr>
              <a:t>https://www.sciencedirect.com/science/article/abs/pii/S2214785322014602</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[12] M. </a:t>
            </a:r>
            <a:r>
              <a:rPr lang="en-US" dirty="0" err="1">
                <a:latin typeface="Cambria" panose="02040503050406030204" pitchFamily="18" charset="0"/>
                <a:ea typeface="Cambria" panose="02040503050406030204" pitchFamily="18" charset="0"/>
              </a:rPr>
              <a:t>Bonyani</a:t>
            </a:r>
            <a:r>
              <a:rPr lang="en-US" dirty="0">
                <a:latin typeface="Cambria" panose="02040503050406030204" pitchFamily="18" charset="0"/>
                <a:ea typeface="Cambria" panose="02040503050406030204" pitchFamily="18" charset="0"/>
              </a:rPr>
              <a:t> and M. Soleymani, “Towards Improving Workers' Safety and Progress Monitoring of Construction Sites Through Construction Site Understanding,” </a:t>
            </a:r>
            <a:r>
              <a:rPr lang="en-US" i="1" dirty="0" err="1">
                <a:latin typeface="Cambria" panose="02040503050406030204" pitchFamily="18" charset="0"/>
                <a:ea typeface="Cambria" panose="02040503050406030204" pitchFamily="18" charset="0"/>
              </a:rPr>
              <a:t>arXiv</a:t>
            </a:r>
            <a:r>
              <a:rPr lang="en-US" i="1" dirty="0">
                <a:latin typeface="Cambria" panose="02040503050406030204" pitchFamily="18" charset="0"/>
                <a:ea typeface="Cambria" panose="02040503050406030204" pitchFamily="18" charset="0"/>
              </a:rPr>
              <a:t> preprint</a:t>
            </a:r>
            <a:r>
              <a:rPr lang="en-US" dirty="0">
                <a:latin typeface="Cambria" panose="02040503050406030204" pitchFamily="18" charset="0"/>
                <a:ea typeface="Cambria" panose="02040503050406030204" pitchFamily="18" charset="0"/>
              </a:rPr>
              <a:t>, 2022. [Online]. Available: </a:t>
            </a:r>
            <a:r>
              <a:rPr lang="en-US" u="sng" dirty="0">
                <a:latin typeface="Cambria" panose="02040503050406030204" pitchFamily="18" charset="0"/>
                <a:ea typeface="Cambria" panose="02040503050406030204" pitchFamily="18" charset="0"/>
                <a:hlinkClick r:id="rId14"/>
              </a:rPr>
              <a:t>https://arxiv.org/abs/2210.15760</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[13] B. Ekanayake and L. S. Marasinghe, “Deep learning-based computer vision in project management: Automating indoor construction progress monitoring,” </a:t>
            </a:r>
            <a:r>
              <a:rPr lang="en-US" i="1" dirty="0">
                <a:latin typeface="Cambria" panose="02040503050406030204" pitchFamily="18" charset="0"/>
                <a:ea typeface="Cambria" panose="02040503050406030204" pitchFamily="18" charset="0"/>
              </a:rPr>
              <a:t>Project Leadership and Society</a:t>
            </a:r>
            <a:r>
              <a:rPr lang="en-US" dirty="0">
                <a:latin typeface="Cambria" panose="02040503050406030204" pitchFamily="18" charset="0"/>
                <a:ea typeface="Cambria" panose="02040503050406030204" pitchFamily="18" charset="0"/>
              </a:rPr>
              <a:t>, 2024. [Online]. Available: </a:t>
            </a:r>
            <a:r>
              <a:rPr lang="en-US" u="sng" dirty="0">
                <a:latin typeface="Cambria" panose="02040503050406030204" pitchFamily="18" charset="0"/>
                <a:ea typeface="Cambria" panose="02040503050406030204" pitchFamily="18" charset="0"/>
                <a:hlinkClick r:id="rId15"/>
              </a:rPr>
              <a:t>https://www.sciencedirect.com/science/article/pii/S2666721524000346</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[14] A. Pal, J. J. Lin, S. H. Hsieh, and M. </a:t>
            </a:r>
            <a:r>
              <a:rPr lang="en-US" dirty="0" err="1">
                <a:latin typeface="Cambria" panose="02040503050406030204" pitchFamily="18" charset="0"/>
                <a:ea typeface="Cambria" panose="02040503050406030204" pitchFamily="18" charset="0"/>
              </a:rPr>
              <a:t>Golparvar</a:t>
            </a:r>
            <a:r>
              <a:rPr lang="en-US" dirty="0">
                <a:latin typeface="Cambria" panose="02040503050406030204" pitchFamily="18" charset="0"/>
                <a:ea typeface="Cambria" panose="02040503050406030204" pitchFamily="18" charset="0"/>
              </a:rPr>
              <a:t>-Fard, “Automated Vision-Based Construction Progress Monitoring in Built Environment through Digital Twin,” </a:t>
            </a:r>
            <a:r>
              <a:rPr lang="en-US" i="1" dirty="0">
                <a:latin typeface="Cambria" panose="02040503050406030204" pitchFamily="18" charset="0"/>
                <a:ea typeface="Cambria" panose="02040503050406030204" pitchFamily="18" charset="0"/>
              </a:rPr>
              <a:t>Developments in the Built Environment</a:t>
            </a:r>
            <a:r>
              <a:rPr lang="en-US" dirty="0">
                <a:latin typeface="Cambria" panose="02040503050406030204" pitchFamily="18" charset="0"/>
                <a:ea typeface="Cambria" panose="02040503050406030204" pitchFamily="18" charset="0"/>
              </a:rPr>
              <a:t>, vol. 16, Article 100247, 2023. [Online]. Available: </a:t>
            </a:r>
            <a:r>
              <a:rPr lang="en-US" u="sng" dirty="0">
                <a:latin typeface="Cambria" panose="02040503050406030204" pitchFamily="18" charset="0"/>
                <a:ea typeface="Cambria" panose="02040503050406030204" pitchFamily="18" charset="0"/>
                <a:hlinkClick r:id="rId16"/>
              </a:rPr>
              <a:t>https://www.sciencedirect.com/science/article/pii/S2666165923001291</a:t>
            </a:r>
            <a:endParaRPr lang="en-US" b="1"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[15] W. Jung and Y. Kang, “Automated progress measurement using a novel image recognition method for civil engineering applications,” </a:t>
            </a:r>
            <a:r>
              <a:rPr lang="en-US" i="1" dirty="0">
                <a:latin typeface="Cambria" panose="02040503050406030204" pitchFamily="18" charset="0"/>
                <a:ea typeface="Cambria" panose="02040503050406030204" pitchFamily="18" charset="0"/>
              </a:rPr>
              <a:t>Automation in Construction</a:t>
            </a:r>
            <a:r>
              <a:rPr lang="en-US" dirty="0">
                <a:latin typeface="Cambria" panose="02040503050406030204" pitchFamily="18" charset="0"/>
                <a:ea typeface="Cambria" panose="02040503050406030204" pitchFamily="18" charset="0"/>
              </a:rPr>
              <a:t>, 2014. [Online]. Available: </a:t>
            </a:r>
            <a:r>
              <a:rPr lang="en-US" u="sng" dirty="0">
                <a:latin typeface="Cambria" panose="02040503050406030204" pitchFamily="18" charset="0"/>
                <a:ea typeface="Cambria" panose="02040503050406030204" pitchFamily="18" charset="0"/>
                <a:hlinkClick r:id="rId17"/>
              </a:rPr>
              <a:t>https://www.academia.edu/17128808</a:t>
            </a:r>
            <a:endParaRPr lang="en-US" b="1"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07889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F44D-4A51-F7D7-CD13-CC05DF757A4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Base Paper</a:t>
            </a:r>
          </a:p>
        </p:txBody>
      </p:sp>
      <p:sp>
        <p:nvSpPr>
          <p:cNvPr id="3" name="Text Placeholder 2">
            <a:extLst>
              <a:ext uri="{FF2B5EF4-FFF2-40B4-BE49-F238E27FC236}">
                <a16:creationId xmlns:a16="http://schemas.microsoft.com/office/drawing/2014/main" id="{CB000DFE-050B-D88F-0FAC-3C8E10FE2A16}"/>
              </a:ext>
            </a:extLst>
          </p:cNvPr>
          <p:cNvSpPr>
            <a:spLocks noGrp="1"/>
          </p:cNvSpPr>
          <p:nvPr>
            <p:ph type="body" idx="1"/>
          </p:nvPr>
        </p:nvSpPr>
        <p:spPr/>
        <p:txBody>
          <a:bodyPr>
            <a:normAutofit fontScale="55000" lnSpcReduction="20000"/>
          </a:bodyPr>
          <a:lstStyle/>
          <a:p>
            <a:pPr marL="76200" indent="0">
              <a:buNone/>
            </a:pPr>
            <a:r>
              <a:rPr lang="en-US" b="1" dirty="0">
                <a:latin typeface="Cambria" panose="02040503050406030204" pitchFamily="18" charset="0"/>
                <a:ea typeface="Cambria" panose="02040503050406030204" pitchFamily="18" charset="0"/>
              </a:rPr>
              <a:t>“Deep-Learning-Based Automated Building Construction Progress Monitoring for Prefabricated Prefinished Volumetric Construction</a:t>
            </a:r>
            <a:r>
              <a:rPr lang="en-IN" b="1"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marL="76200" lvl="0" indent="0">
              <a:buNone/>
            </a:pPr>
            <a:r>
              <a:rPr lang="en-IN" b="1" dirty="0">
                <a:latin typeface="Cambria" panose="02040503050406030204" pitchFamily="18" charset="0"/>
                <a:ea typeface="Cambria" panose="02040503050406030204" pitchFamily="18" charset="0"/>
              </a:rPr>
              <a:t>Open PDF</a:t>
            </a:r>
            <a:r>
              <a:rPr lang="en-IN" dirty="0">
                <a:latin typeface="Cambria" panose="02040503050406030204" pitchFamily="18" charset="0"/>
                <a:ea typeface="Cambria" panose="02040503050406030204" pitchFamily="18" charset="0"/>
              </a:rPr>
              <a:t>: https://www.mdpi.com/1424-8220/24/21/7074</a:t>
            </a:r>
            <a:endParaRPr lang="en-US" dirty="0">
              <a:latin typeface="Cambria" panose="02040503050406030204" pitchFamily="18" charset="0"/>
              <a:ea typeface="Cambria" panose="02040503050406030204" pitchFamily="18" charset="0"/>
            </a:endParaRPr>
          </a:p>
          <a:p>
            <a:pPr marL="76200" lvl="0" indent="0">
              <a:buNone/>
            </a:pPr>
            <a:r>
              <a:rPr lang="en-US" b="1" dirty="0">
                <a:latin typeface="Cambria" panose="02040503050406030204" pitchFamily="18" charset="0"/>
                <a:ea typeface="Cambria" panose="02040503050406030204" pitchFamily="18" charset="0"/>
              </a:rPr>
              <a:t>Author</a:t>
            </a:r>
            <a:r>
              <a:rPr lang="en-IN" b="1"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Wei </a:t>
            </a:r>
            <a:r>
              <a:rPr lang="en-IN" dirty="0" err="1">
                <a:latin typeface="Cambria" panose="02040503050406030204" pitchFamily="18" charset="0"/>
                <a:ea typeface="Cambria" panose="02040503050406030204" pitchFamily="18" charset="0"/>
              </a:rPr>
              <a:t>Png</a:t>
            </a:r>
            <a:r>
              <a:rPr lang="en-IN" dirty="0">
                <a:latin typeface="Cambria" panose="02040503050406030204" pitchFamily="18" charset="0"/>
                <a:ea typeface="Cambria" panose="02040503050406030204" pitchFamily="18" charset="0"/>
              </a:rPr>
              <a:t> Chua, Chien Chern Cheah</a:t>
            </a:r>
            <a:r>
              <a:rPr lang="en-US" dirty="0">
                <a:latin typeface="Cambria" panose="02040503050406030204" pitchFamily="18" charset="0"/>
                <a:ea typeface="Cambria" panose="02040503050406030204" pitchFamily="18" charset="0"/>
              </a:rPr>
              <a:t>,</a:t>
            </a:r>
          </a:p>
          <a:p>
            <a:pPr marL="76200" lvl="0" indent="0">
              <a:buNone/>
            </a:pPr>
            <a:r>
              <a:rPr lang="en-IN" b="1" dirty="0">
                <a:latin typeface="Cambria" panose="02040503050406030204" pitchFamily="18" charset="0"/>
                <a:ea typeface="Cambria" panose="02040503050406030204" pitchFamily="18" charset="0"/>
              </a:rPr>
              <a:t>Published in:</a:t>
            </a:r>
            <a:r>
              <a:rPr lang="en-IN" dirty="0">
                <a:latin typeface="Cambria" panose="02040503050406030204" pitchFamily="18" charset="0"/>
                <a:ea typeface="Cambria" panose="02040503050406030204" pitchFamily="18" charset="0"/>
              </a:rPr>
              <a:t> Sensors, 2024, 24(21), Article no. 7074</a:t>
            </a:r>
            <a:endParaRPr lang="en-US" dirty="0">
              <a:latin typeface="Cambria" panose="02040503050406030204" pitchFamily="18" charset="0"/>
              <a:ea typeface="Cambria" panose="02040503050406030204" pitchFamily="18" charset="0"/>
            </a:endParaRPr>
          </a:p>
          <a:p>
            <a:pPr marL="76200" indent="0">
              <a:buNone/>
            </a:pPr>
            <a:r>
              <a:rPr lang="en-IN"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Summary:</a:t>
            </a:r>
            <a:endParaRPr lang="en-US" dirty="0">
              <a:latin typeface="Cambria" panose="02040503050406030204" pitchFamily="18" charset="0"/>
              <a:ea typeface="Cambria" panose="02040503050406030204" pitchFamily="18" charset="0"/>
            </a:endParaRPr>
          </a:p>
          <a:p>
            <a:pPr marL="76200" indent="0">
              <a:buNone/>
            </a:pPr>
            <a:r>
              <a:rPr lang="en-IN" dirty="0">
                <a:latin typeface="Cambria" panose="02040503050406030204" pitchFamily="18" charset="0"/>
                <a:ea typeface="Cambria" panose="02040503050406030204" pitchFamily="18" charset="0"/>
              </a:rPr>
              <a:t>The WAVBCPM System, an automated system for monitoring Prefabricated Prefinished Volumetric Construction (PPVC) construction progress via image processing and deep learning computer vision. The main goal of WAVBCPM is to determine the amount of progress made with respect to the original plans by verifying the alignment of the existing windows in relation to the architectural drawings</a:t>
            </a:r>
            <a:r>
              <a:rPr lang="en-US" dirty="0">
                <a:latin typeface="Cambria" panose="02040503050406030204" pitchFamily="18" charset="0"/>
                <a:ea typeface="Cambria" panose="02040503050406030204" pitchFamily="18" charset="0"/>
              </a:rPr>
              <a:t>.</a:t>
            </a:r>
          </a:p>
          <a:p>
            <a:pPr marL="76200" indent="0">
              <a:buNone/>
            </a:pPr>
            <a:r>
              <a:rPr lang="en-US" b="1" dirty="0">
                <a:latin typeface="Cambria" panose="02040503050406030204" pitchFamily="18" charset="0"/>
                <a:ea typeface="Cambria" panose="02040503050406030204" pitchFamily="18" charset="0"/>
              </a:rPr>
              <a:t>WAVBCPM characteristics include:</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Utilization of YOLOv5 technology for window identification on the exterior of buildings. Picture masking techniques enable reliable window identification and recreate previously obstructed windows along the façades through use of geometric characteristics associated with a façade.</a:t>
            </a:r>
          </a:p>
          <a:p>
            <a:pPr marL="76200" indent="0">
              <a:buNone/>
            </a:pPr>
            <a:r>
              <a:rPr lang="en-US" dirty="0">
                <a:latin typeface="Cambria" panose="02040503050406030204" pitchFamily="18" charset="0"/>
                <a:ea typeface="Cambria" panose="02040503050406030204" pitchFamily="18" charset="0"/>
              </a:rPr>
              <a:t>Automatically computes construction status in relation to how many windows have been located already against how many are expected to be on a job site.</a:t>
            </a:r>
          </a:p>
          <a:p>
            <a:pPr marL="76200" indent="0">
              <a:buNone/>
            </a:pPr>
            <a:r>
              <a:rPr lang="en-US" dirty="0">
                <a:latin typeface="Cambria" panose="02040503050406030204" pitchFamily="18" charset="0"/>
                <a:ea typeface="Cambria" panose="02040503050406030204" pitchFamily="18" charset="0"/>
              </a:rPr>
              <a:t>WAVBCPM has been demonstrated as a tremendous success when compared to object detection techniques used in the construction field, as occluded windows, light variations, and other obstacles will all affect object detection in realistic construction environments.</a:t>
            </a:r>
          </a:p>
          <a:p>
            <a:pPr marL="76200" indent="0">
              <a:buNone/>
            </a:pPr>
            <a:r>
              <a:rPr lang="en-US" b="1" dirty="0">
                <a:latin typeface="Cambria" panose="02040503050406030204" pitchFamily="18" charset="0"/>
                <a:ea typeface="Cambria" panose="02040503050406030204" pitchFamily="18" charset="0"/>
              </a:rPr>
              <a:t>Limits of use</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 The use of image processing and AI to evaluate the construction progress works optimally with regularly arranged prefab window layouts</a:t>
            </a:r>
          </a:p>
          <a:p>
            <a:pPr marL="76200" indent="0">
              <a:buNone/>
            </a:pPr>
            <a:r>
              <a:rPr lang="en-US" dirty="0">
                <a:latin typeface="Cambria" panose="02040503050406030204" pitchFamily="18" charset="0"/>
                <a:ea typeface="Cambria" panose="02040503050406030204" pitchFamily="18" charset="0"/>
              </a:rPr>
              <a:t> The system will only track progress externally. Internal construction and progress will not be tracked</a:t>
            </a:r>
          </a:p>
          <a:p>
            <a:pPr marL="76200" indent="0">
              <a:buNone/>
            </a:pPr>
            <a:r>
              <a:rPr lang="en-US" dirty="0">
                <a:latin typeface="Cambria" panose="02040503050406030204" pitchFamily="18" charset="0"/>
                <a:ea typeface="Cambria" panose="02040503050406030204" pitchFamily="18" charset="0"/>
              </a:rPr>
              <a:t> To achieve an optimum degree of accuracy, clear images of the exterior façade of the project must be captured</a:t>
            </a:r>
          </a:p>
          <a:p>
            <a:pPr marL="76200" indent="0">
              <a:buNone/>
            </a:pPr>
            <a:r>
              <a:rPr lang="en-US" dirty="0">
                <a:latin typeface="Cambria" panose="02040503050406030204" pitchFamily="18" charset="0"/>
                <a:ea typeface="Cambria" panose="02040503050406030204" pitchFamily="18" charset="0"/>
              </a:rPr>
              <a:t> The ability to evaluate the level of completion through image processing and AI supports the project objective to measure building progress, accurately and efficiently by the use of photographic images of the development of the structure.</a:t>
            </a:r>
          </a:p>
          <a:p>
            <a:endParaRPr lang="en-US" dirty="0"/>
          </a:p>
        </p:txBody>
      </p:sp>
    </p:spTree>
    <p:extLst>
      <p:ext uri="{BB962C8B-B14F-4D97-AF65-F5344CB8AC3E}">
        <p14:creationId xmlns:p14="http://schemas.microsoft.com/office/powerpoint/2010/main" val="918649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5DCF2-E1D4-C683-2CC9-7F4A197DC6CC}"/>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Final Result</a:t>
            </a:r>
          </a:p>
        </p:txBody>
      </p:sp>
      <p:sp>
        <p:nvSpPr>
          <p:cNvPr id="3" name="Text Placeholder 2">
            <a:extLst>
              <a:ext uri="{FF2B5EF4-FFF2-40B4-BE49-F238E27FC236}">
                <a16:creationId xmlns:a16="http://schemas.microsoft.com/office/drawing/2014/main" id="{9C54843F-FD34-21CD-231B-16F44570DA57}"/>
              </a:ext>
            </a:extLst>
          </p:cNvPr>
          <p:cNvSpPr>
            <a:spLocks noGrp="1"/>
          </p:cNvSpPr>
          <p:nvPr>
            <p:ph type="body" idx="1"/>
          </p:nvPr>
        </p:nvSpPr>
        <p:spPr/>
        <p:txBody>
          <a:bodyPr/>
          <a:lstStyle/>
          <a:p>
            <a:pPr marL="76200" indent="0">
              <a:buNone/>
            </a:pPr>
            <a:r>
              <a:rPr lang="en-US" dirty="0">
                <a:latin typeface="Cambria" panose="02040503050406030204" pitchFamily="18" charset="0"/>
                <a:ea typeface="Cambria" panose="02040503050406030204" pitchFamily="18" charset="0"/>
              </a:rPr>
              <a:t>Here we are uploading the images and it will </a:t>
            </a:r>
          </a:p>
          <a:p>
            <a:pPr marL="76200" indent="0">
              <a:buNone/>
            </a:pPr>
            <a:r>
              <a:rPr lang="en-US" dirty="0">
                <a:latin typeface="Cambria" panose="02040503050406030204" pitchFamily="18" charset="0"/>
                <a:ea typeface="Cambria" panose="02040503050406030204" pitchFamily="18" charset="0"/>
              </a:rPr>
              <a:t>Shows the how much construction work </a:t>
            </a:r>
          </a:p>
          <a:p>
            <a:pPr marL="76200" indent="0">
              <a:buNone/>
            </a:pPr>
            <a:r>
              <a:rPr lang="en-US" dirty="0">
                <a:latin typeface="Cambria" panose="02040503050406030204" pitchFamily="18" charset="0"/>
                <a:ea typeface="Cambria" panose="02040503050406030204" pitchFamily="18" charset="0"/>
              </a:rPr>
              <a:t>is completed</a:t>
            </a:r>
          </a:p>
        </p:txBody>
      </p:sp>
      <p:pic>
        <p:nvPicPr>
          <p:cNvPr id="5" name="Picture 4">
            <a:extLst>
              <a:ext uri="{FF2B5EF4-FFF2-40B4-BE49-F238E27FC236}">
                <a16:creationId xmlns:a16="http://schemas.microsoft.com/office/drawing/2014/main" id="{C0A60F4F-2A3F-AA18-5535-5E7D88A3B8C2}"/>
              </a:ext>
            </a:extLst>
          </p:cNvPr>
          <p:cNvPicPr>
            <a:picLocks noChangeAspect="1"/>
          </p:cNvPicPr>
          <p:nvPr/>
        </p:nvPicPr>
        <p:blipFill>
          <a:blip r:embed="rId2"/>
          <a:stretch>
            <a:fillRect/>
          </a:stretch>
        </p:blipFill>
        <p:spPr>
          <a:xfrm>
            <a:off x="887513" y="2723631"/>
            <a:ext cx="6175206" cy="3253562"/>
          </a:xfrm>
          <a:prstGeom prst="rect">
            <a:avLst/>
          </a:prstGeom>
        </p:spPr>
      </p:pic>
      <p:pic>
        <p:nvPicPr>
          <p:cNvPr id="7" name="Picture 6">
            <a:extLst>
              <a:ext uri="{FF2B5EF4-FFF2-40B4-BE49-F238E27FC236}">
                <a16:creationId xmlns:a16="http://schemas.microsoft.com/office/drawing/2014/main" id="{06D4E956-2E2A-757D-82B6-EA86B08B4EE6}"/>
              </a:ext>
            </a:extLst>
          </p:cNvPr>
          <p:cNvPicPr>
            <a:picLocks noChangeAspect="1"/>
          </p:cNvPicPr>
          <p:nvPr/>
        </p:nvPicPr>
        <p:blipFill>
          <a:blip r:embed="rId3"/>
          <a:stretch>
            <a:fillRect/>
          </a:stretch>
        </p:blipFill>
        <p:spPr>
          <a:xfrm>
            <a:off x="7137432" y="1143000"/>
            <a:ext cx="3468546" cy="4834193"/>
          </a:xfrm>
          <a:prstGeom prst="rect">
            <a:avLst/>
          </a:prstGeom>
        </p:spPr>
      </p:pic>
    </p:spTree>
    <p:extLst>
      <p:ext uri="{BB962C8B-B14F-4D97-AF65-F5344CB8AC3E}">
        <p14:creationId xmlns:p14="http://schemas.microsoft.com/office/powerpoint/2010/main" val="1812986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C0F6-0176-A2FA-1F01-572E3798E383}"/>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Final Result</a:t>
            </a:r>
          </a:p>
        </p:txBody>
      </p:sp>
      <p:sp>
        <p:nvSpPr>
          <p:cNvPr id="3" name="Text Placeholder 2">
            <a:extLst>
              <a:ext uri="{FF2B5EF4-FFF2-40B4-BE49-F238E27FC236}">
                <a16:creationId xmlns:a16="http://schemas.microsoft.com/office/drawing/2014/main" id="{49DEC683-C1E8-0138-FE72-213B8EF84E7F}"/>
              </a:ext>
            </a:extLst>
          </p:cNvPr>
          <p:cNvSpPr>
            <a:spLocks noGrp="1"/>
          </p:cNvSpPr>
          <p:nvPr>
            <p:ph type="body" idx="1"/>
          </p:nvPr>
        </p:nvSpPr>
        <p:spPr/>
        <p:txBody>
          <a:bodyPr/>
          <a:lstStyle/>
          <a:p>
            <a:pPr marL="76200" indent="0">
              <a:buNone/>
            </a:pPr>
            <a:r>
              <a:rPr lang="en-US" dirty="0">
                <a:latin typeface="Cambria" panose="02040503050406030204" pitchFamily="18" charset="0"/>
                <a:ea typeface="Cambria" panose="02040503050406030204" pitchFamily="18" charset="0"/>
              </a:rPr>
              <a:t>After uploading the</a:t>
            </a:r>
          </a:p>
          <a:p>
            <a:pPr marL="76200" indent="0">
              <a:buNone/>
            </a:pPr>
            <a:r>
              <a:rPr lang="en-US" dirty="0">
                <a:latin typeface="Cambria" panose="02040503050406030204" pitchFamily="18" charset="0"/>
                <a:ea typeface="Cambria" panose="02040503050406030204" pitchFamily="18" charset="0"/>
              </a:rPr>
              <a:t>Images model will predict </a:t>
            </a:r>
          </a:p>
          <a:p>
            <a:pPr marL="76200" indent="0">
              <a:buNone/>
            </a:pPr>
            <a:r>
              <a:rPr lang="en-US" dirty="0">
                <a:latin typeface="Cambria" panose="02040503050406030204" pitchFamily="18" charset="0"/>
                <a:ea typeface="Cambria" panose="02040503050406030204" pitchFamily="18" charset="0"/>
              </a:rPr>
              <a:t>The completed</a:t>
            </a:r>
          </a:p>
          <a:p>
            <a:pPr marL="76200" indent="0">
              <a:buNone/>
            </a:pPr>
            <a:r>
              <a:rPr lang="en-US" dirty="0">
                <a:latin typeface="Cambria" panose="02040503050406030204" pitchFamily="18" charset="0"/>
                <a:ea typeface="Cambria" panose="02040503050406030204" pitchFamily="18" charset="0"/>
              </a:rPr>
              <a:t>Construction work.</a:t>
            </a:r>
          </a:p>
        </p:txBody>
      </p:sp>
      <p:pic>
        <p:nvPicPr>
          <p:cNvPr id="9" name="Picture 8">
            <a:extLst>
              <a:ext uri="{FF2B5EF4-FFF2-40B4-BE49-F238E27FC236}">
                <a16:creationId xmlns:a16="http://schemas.microsoft.com/office/drawing/2014/main" id="{42706D61-C19D-EF21-2736-39C851242E8F}"/>
              </a:ext>
            </a:extLst>
          </p:cNvPr>
          <p:cNvPicPr>
            <a:picLocks noChangeAspect="1"/>
          </p:cNvPicPr>
          <p:nvPr/>
        </p:nvPicPr>
        <p:blipFill>
          <a:blip r:embed="rId2"/>
          <a:stretch>
            <a:fillRect/>
          </a:stretch>
        </p:blipFill>
        <p:spPr>
          <a:xfrm>
            <a:off x="4507977" y="1304926"/>
            <a:ext cx="2848270" cy="4791076"/>
          </a:xfrm>
          <a:prstGeom prst="rect">
            <a:avLst/>
          </a:prstGeom>
        </p:spPr>
      </p:pic>
      <p:pic>
        <p:nvPicPr>
          <p:cNvPr id="11" name="Picture 10">
            <a:extLst>
              <a:ext uri="{FF2B5EF4-FFF2-40B4-BE49-F238E27FC236}">
                <a16:creationId xmlns:a16="http://schemas.microsoft.com/office/drawing/2014/main" id="{822F6C38-489E-D670-552C-5D7918674EBE}"/>
              </a:ext>
            </a:extLst>
          </p:cNvPr>
          <p:cNvPicPr>
            <a:picLocks noChangeAspect="1"/>
          </p:cNvPicPr>
          <p:nvPr/>
        </p:nvPicPr>
        <p:blipFill>
          <a:blip r:embed="rId3"/>
          <a:stretch>
            <a:fillRect/>
          </a:stretch>
        </p:blipFill>
        <p:spPr>
          <a:xfrm>
            <a:off x="7524751" y="1350689"/>
            <a:ext cx="3136054" cy="4745312"/>
          </a:xfrm>
          <a:prstGeom prst="rect">
            <a:avLst/>
          </a:prstGeom>
        </p:spPr>
      </p:pic>
    </p:spTree>
    <p:extLst>
      <p:ext uri="{BB962C8B-B14F-4D97-AF65-F5344CB8AC3E}">
        <p14:creationId xmlns:p14="http://schemas.microsoft.com/office/powerpoint/2010/main" val="1236818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4F79C-DFA3-4FBE-8592-F99C14A255E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AI and similarity check of report</a:t>
            </a:r>
          </a:p>
        </p:txBody>
      </p:sp>
      <p:sp>
        <p:nvSpPr>
          <p:cNvPr id="3" name="Text Placeholder 2">
            <a:extLst>
              <a:ext uri="{FF2B5EF4-FFF2-40B4-BE49-F238E27FC236}">
                <a16:creationId xmlns:a16="http://schemas.microsoft.com/office/drawing/2014/main" id="{04330329-F256-2E2C-071A-33605AC5CF36}"/>
              </a:ext>
            </a:extLst>
          </p:cNvPr>
          <p:cNvSpPr>
            <a:spLocks noGrp="1"/>
          </p:cNvSpPr>
          <p:nvPr>
            <p:ph type="body" idx="1"/>
          </p:nvPr>
        </p:nvSpPr>
        <p:spPr>
          <a:xfrm>
            <a:off x="965200" y="1244601"/>
            <a:ext cx="10360926" cy="4851399"/>
          </a:xfrm>
        </p:spPr>
        <p:txBody>
          <a:bodyPr/>
          <a:lstStyle/>
          <a:p>
            <a:endParaRPr lang="en-US" dirty="0"/>
          </a:p>
        </p:txBody>
      </p:sp>
      <p:pic>
        <p:nvPicPr>
          <p:cNvPr id="5" name="Picture 4">
            <a:extLst>
              <a:ext uri="{FF2B5EF4-FFF2-40B4-BE49-F238E27FC236}">
                <a16:creationId xmlns:a16="http://schemas.microsoft.com/office/drawing/2014/main" id="{DA2310AA-E76E-ACA6-1B17-C757D0DCE446}"/>
              </a:ext>
            </a:extLst>
          </p:cNvPr>
          <p:cNvPicPr>
            <a:picLocks noChangeAspect="1"/>
          </p:cNvPicPr>
          <p:nvPr/>
        </p:nvPicPr>
        <p:blipFill>
          <a:blip r:embed="rId2"/>
          <a:stretch>
            <a:fillRect/>
          </a:stretch>
        </p:blipFill>
        <p:spPr>
          <a:xfrm>
            <a:off x="6311900" y="1244601"/>
            <a:ext cx="5014226" cy="4749800"/>
          </a:xfrm>
          <a:prstGeom prst="rect">
            <a:avLst/>
          </a:prstGeom>
        </p:spPr>
      </p:pic>
      <p:pic>
        <p:nvPicPr>
          <p:cNvPr id="7" name="Picture 6">
            <a:extLst>
              <a:ext uri="{FF2B5EF4-FFF2-40B4-BE49-F238E27FC236}">
                <a16:creationId xmlns:a16="http://schemas.microsoft.com/office/drawing/2014/main" id="{BC8E8329-ECDF-4C61-65D3-32A50EEE749F}"/>
              </a:ext>
            </a:extLst>
          </p:cNvPr>
          <p:cNvPicPr>
            <a:picLocks noChangeAspect="1"/>
          </p:cNvPicPr>
          <p:nvPr/>
        </p:nvPicPr>
        <p:blipFill>
          <a:blip r:embed="rId3"/>
          <a:stretch>
            <a:fillRect/>
          </a:stretch>
        </p:blipFill>
        <p:spPr>
          <a:xfrm>
            <a:off x="865874" y="1244602"/>
            <a:ext cx="4546600" cy="4616448"/>
          </a:xfrm>
          <a:prstGeom prst="rect">
            <a:avLst/>
          </a:prstGeom>
        </p:spPr>
      </p:pic>
    </p:spTree>
    <p:extLst>
      <p:ext uri="{BB962C8B-B14F-4D97-AF65-F5344CB8AC3E}">
        <p14:creationId xmlns:p14="http://schemas.microsoft.com/office/powerpoint/2010/main" val="527647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941B6-DE15-39F9-937B-52F60B2C561E}"/>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Declaration and Bonafide Certificate</a:t>
            </a:r>
          </a:p>
        </p:txBody>
      </p:sp>
      <p:sp>
        <p:nvSpPr>
          <p:cNvPr id="3" name="Text Placeholder 2">
            <a:extLst>
              <a:ext uri="{FF2B5EF4-FFF2-40B4-BE49-F238E27FC236}">
                <a16:creationId xmlns:a16="http://schemas.microsoft.com/office/drawing/2014/main" id="{605AE5F4-777D-0896-8D04-0EB45C8EB0C3}"/>
              </a:ext>
            </a:extLst>
          </p:cNvPr>
          <p:cNvSpPr>
            <a:spLocks noGrp="1"/>
          </p:cNvSpPr>
          <p:nvPr>
            <p:ph type="body" idx="1"/>
          </p:nvPr>
        </p:nvSpPr>
        <p:spPr>
          <a:xfrm>
            <a:off x="996950" y="1143001"/>
            <a:ext cx="10198100" cy="4953000"/>
          </a:xfrm>
        </p:spPr>
        <p:txBody>
          <a:bodyPr/>
          <a:lstStyle/>
          <a:p>
            <a:endParaRPr lang="en-US" dirty="0"/>
          </a:p>
        </p:txBody>
      </p:sp>
      <p:pic>
        <p:nvPicPr>
          <p:cNvPr id="5" name="Picture 4">
            <a:extLst>
              <a:ext uri="{FF2B5EF4-FFF2-40B4-BE49-F238E27FC236}">
                <a16:creationId xmlns:a16="http://schemas.microsoft.com/office/drawing/2014/main" id="{1B3A80B1-33FF-5B50-5EB0-B97A7BF41553}"/>
              </a:ext>
            </a:extLst>
          </p:cNvPr>
          <p:cNvPicPr>
            <a:picLocks noChangeAspect="1"/>
          </p:cNvPicPr>
          <p:nvPr/>
        </p:nvPicPr>
        <p:blipFill>
          <a:blip r:embed="rId2"/>
          <a:stretch>
            <a:fillRect/>
          </a:stretch>
        </p:blipFill>
        <p:spPr>
          <a:xfrm>
            <a:off x="6356352" y="1154174"/>
            <a:ext cx="4838698" cy="4953000"/>
          </a:xfrm>
          <a:prstGeom prst="rect">
            <a:avLst/>
          </a:prstGeom>
        </p:spPr>
      </p:pic>
      <p:pic>
        <p:nvPicPr>
          <p:cNvPr id="7" name="Picture 6">
            <a:extLst>
              <a:ext uri="{FF2B5EF4-FFF2-40B4-BE49-F238E27FC236}">
                <a16:creationId xmlns:a16="http://schemas.microsoft.com/office/drawing/2014/main" id="{4FF8C360-286E-8BE4-C8EF-EEB26451A265}"/>
              </a:ext>
            </a:extLst>
          </p:cNvPr>
          <p:cNvPicPr>
            <a:picLocks noChangeAspect="1"/>
          </p:cNvPicPr>
          <p:nvPr/>
        </p:nvPicPr>
        <p:blipFill>
          <a:blip r:embed="rId3"/>
          <a:stretch>
            <a:fillRect/>
          </a:stretch>
        </p:blipFill>
        <p:spPr>
          <a:xfrm>
            <a:off x="996950" y="1131828"/>
            <a:ext cx="4946650" cy="5024697"/>
          </a:xfrm>
          <a:prstGeom prst="rect">
            <a:avLst/>
          </a:prstGeom>
        </p:spPr>
      </p:pic>
    </p:spTree>
    <p:extLst>
      <p:ext uri="{BB962C8B-B14F-4D97-AF65-F5344CB8AC3E}">
        <p14:creationId xmlns:p14="http://schemas.microsoft.com/office/powerpoint/2010/main" val="4137832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2116</Words>
  <Application>Microsoft Office PowerPoint</Application>
  <PresentationFormat>Widescreen</PresentationFormat>
  <Paragraphs>142</Paragraphs>
  <Slides>16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Cambria</vt:lpstr>
      <vt:lpstr>Times New Roman</vt:lpstr>
      <vt:lpstr>Verdana</vt:lpstr>
      <vt:lpstr>Wingdings</vt:lpstr>
      <vt:lpstr>Bioinformatics</vt:lpstr>
      <vt:lpstr>UTILIZATION OF IMAGES FOR MONITORING OF PROGRESS OF CONSTRUCTION ACTIVITIES FOR BUILDING CONSTRUCTION PROJECTS</vt:lpstr>
      <vt:lpstr>Content</vt:lpstr>
      <vt:lpstr>Abstract</vt:lpstr>
      <vt:lpstr>Problem Statement Number: 351</vt:lpstr>
      <vt:lpstr>Objectives</vt:lpstr>
      <vt:lpstr>Analysis of Problem Statement</vt:lpstr>
      <vt:lpstr>Current Challenges</vt:lpstr>
      <vt:lpstr>Github Link</vt:lpstr>
      <vt:lpstr>Timeline of the Project (Gantt Chart)</vt:lpstr>
      <vt:lpstr>References (IEEE Paper format)</vt:lpstr>
      <vt:lpstr>Base Paper</vt:lpstr>
      <vt:lpstr>Final Result</vt:lpstr>
      <vt:lpstr>Final Result</vt:lpstr>
      <vt:lpstr>AI and similarity check of report</vt:lpstr>
      <vt:lpstr>Declaration and Bonafide Certificate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gagana sarji</cp:lastModifiedBy>
  <cp:revision>42</cp:revision>
  <dcterms:modified xsi:type="dcterms:W3CDTF">2025-12-04T13:17:44Z</dcterms:modified>
</cp:coreProperties>
</file>