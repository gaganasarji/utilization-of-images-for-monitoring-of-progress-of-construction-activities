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7"/>
  </p:notesMasterIdLst>
  <p:sldIdLst>
    <p:sldId id="256" r:id="rId2"/>
    <p:sldId id="269" r:id="rId3"/>
    <p:sldId id="257" r:id="rId4"/>
    <p:sldId id="275" r:id="rId5"/>
    <p:sldId id="273" r:id="rId6"/>
    <p:sldId id="279" r:id="rId7"/>
    <p:sldId id="272" r:id="rId8"/>
    <p:sldId id="277" r:id="rId9"/>
    <p:sldId id="278" r:id="rId10"/>
    <p:sldId id="276" r:id="rId11"/>
    <p:sldId id="268" r:id="rId12"/>
    <p:sldId id="271" r:id="rId13"/>
    <p:sldId id="270" r:id="rId14"/>
    <p:sldId id="265" r:id="rId15"/>
    <p:sldId id="26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6" d="100"/>
          <a:sy n="86" d="100"/>
        </p:scale>
        <p:origin x="288"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05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42109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lvl="0" algn="ctr"/>
            <a:r>
              <a:rPr lang="en-GB" sz="2400" dirty="0">
                <a:solidFill>
                  <a:schemeClr val="tx1"/>
                </a:solidFill>
                <a:latin typeface="Cambria" panose="02040503050406030204" pitchFamily="18" charset="0"/>
                <a:ea typeface="Cambria" panose="02040503050406030204" pitchFamily="18" charset="0"/>
              </a:rPr>
              <a:t>UTILIZATION OF IMAGES FOR MONITORING OF PROGRESS OF CONSTRUCTION ACTIVITIES FOR BUILDING CONSTRUCTION PROJECTS</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 ISE_05</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lnSpcReduction="10000"/>
          </a:bodyPr>
          <a:lstStyle/>
          <a:p>
            <a:pPr lvl="0" algn="ctr">
              <a:buClr>
                <a:srgbClr val="17365D"/>
              </a:buClr>
              <a:buSzPts val="2000"/>
            </a:pPr>
            <a:r>
              <a:rPr lang="en-US" sz="2000" b="1"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lang="en-US" sz="2000" dirty="0">
              <a:latin typeface="Cambria" panose="02040503050406030204" pitchFamily="18" charset="0"/>
              <a:ea typeface="Cambria" panose="02040503050406030204" pitchFamily="18" charset="0"/>
            </a:endParaRPr>
          </a:p>
          <a:p>
            <a:pPr lvl="0" algn="ctr">
              <a:spcBef>
                <a:spcPts val="400"/>
              </a:spcBef>
              <a:buClr>
                <a:srgbClr val="17365D"/>
              </a:buClr>
              <a:buSzPts val="2000"/>
            </a:pPr>
            <a:endParaRPr lang="en-US" sz="2400" b="1" dirty="0">
              <a:solidFill>
                <a:srgbClr val="17365D"/>
              </a:solidFill>
              <a:latin typeface="Cambria" panose="02040503050406030204" pitchFamily="18" charset="0"/>
              <a:ea typeface="Cambria" panose="02040503050406030204" pitchFamily="18" charset="0"/>
              <a:cs typeface="Verdana"/>
              <a:sym typeface="Verdana"/>
            </a:endParaRPr>
          </a:p>
          <a:p>
            <a:pPr lvl="0">
              <a:spcBef>
                <a:spcPts val="340"/>
              </a:spcBef>
              <a:buClr>
                <a:srgbClr val="17365D"/>
              </a:buClr>
              <a:buSzPts val="1700"/>
            </a:pPr>
            <a:r>
              <a:rPr lang="en-US" sz="2000" b="1" dirty="0">
                <a:solidFill>
                  <a:srgbClr val="17365D"/>
                </a:solidFill>
                <a:latin typeface="Cambria" panose="02040503050406030204" pitchFamily="18" charset="0"/>
                <a:ea typeface="Cambria" panose="02040503050406030204" pitchFamily="18" charset="0"/>
                <a:cs typeface="Verdana"/>
                <a:sym typeface="Verdana"/>
              </a:rPr>
              <a:t>Dr . Zafar Ali Khan </a:t>
            </a:r>
            <a:endParaRPr lang="en-US" sz="2000" dirty="0">
              <a:latin typeface="Cambria" panose="02040503050406030204" pitchFamily="18" charset="0"/>
              <a:ea typeface="Cambria" panose="02040503050406030204" pitchFamily="18" charset="0"/>
            </a:endParaRPr>
          </a:p>
          <a:p>
            <a:pPr lvl="0">
              <a:spcBef>
                <a:spcPts val="340"/>
              </a:spcBef>
              <a:buClr>
                <a:srgbClr val="17365D"/>
              </a:buClr>
              <a:buSzPts val="1700"/>
            </a:pPr>
            <a:r>
              <a:rPr lang="en-US" sz="2000" b="1" dirty="0">
                <a:solidFill>
                  <a:srgbClr val="17365D"/>
                </a:solidFill>
                <a:latin typeface="Cambria" panose="02040503050406030204" pitchFamily="18" charset="0"/>
                <a:ea typeface="Cambria" panose="02040503050406030204" pitchFamily="18" charset="0"/>
                <a:cs typeface="Verdana"/>
                <a:sym typeface="Verdana"/>
              </a:rPr>
              <a:t>Professor</a:t>
            </a:r>
            <a:endParaRPr lang="en-US" sz="2000" dirty="0">
              <a:latin typeface="Cambria" panose="02040503050406030204" pitchFamily="18" charset="0"/>
              <a:ea typeface="Cambria" panose="02040503050406030204" pitchFamily="18" charset="0"/>
            </a:endParaRPr>
          </a:p>
          <a:p>
            <a:pPr lvl="0">
              <a:spcBef>
                <a:spcPts val="340"/>
              </a:spcBef>
              <a:buClr>
                <a:srgbClr val="17365D"/>
              </a:buClr>
              <a:buSzPts val="1700"/>
            </a:pPr>
            <a:r>
              <a:rPr lang="en-US" sz="2000" b="1"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lang="en-US" sz="2000" dirty="0">
              <a:latin typeface="Cambria" panose="02040503050406030204" pitchFamily="18" charset="0"/>
              <a:ea typeface="Cambria" panose="02040503050406030204" pitchFamily="18" charset="0"/>
            </a:endParaRPr>
          </a:p>
          <a:p>
            <a:pPr lvl="0">
              <a:spcBef>
                <a:spcPts val="340"/>
              </a:spcBef>
              <a:buClr>
                <a:srgbClr val="17365D"/>
              </a:buClr>
              <a:buSzPts val="1700"/>
            </a:pPr>
            <a:r>
              <a:rPr lang="en-US" sz="2000" b="1" dirty="0">
                <a:solidFill>
                  <a:srgbClr val="17365D"/>
                </a:solidFill>
                <a:latin typeface="Cambria" panose="02040503050406030204" pitchFamily="18" charset="0"/>
                <a:ea typeface="Cambria" panose="02040503050406030204" pitchFamily="18" charset="0"/>
                <a:cs typeface="Verdana"/>
                <a:sym typeface="Verdana"/>
              </a:rPr>
              <a:t>Presidency University</a:t>
            </a:r>
            <a:endParaRPr lang="en-US" sz="2000" dirty="0">
              <a:latin typeface="Cambria" panose="02040503050406030204" pitchFamily="18" charset="0"/>
              <a:ea typeface="Cambria" panose="02040503050406030204" pitchFamily="18" charset="0"/>
            </a:endParaRPr>
          </a:p>
          <a:p>
            <a:pPr lvl="0">
              <a:spcBef>
                <a:spcPts val="400"/>
              </a:spcBef>
              <a:buClr>
                <a:srgbClr val="17365D"/>
              </a:buClr>
              <a:buSzPts val="2000"/>
            </a:pPr>
            <a:endParaRPr lang="en-US" sz="2400" b="1" dirty="0">
              <a:solidFill>
                <a:srgbClr val="17365D"/>
              </a:solidFill>
              <a:latin typeface="Cambria" panose="02040503050406030204" pitchFamily="18" charset="0"/>
              <a:ea typeface="Cambria" panose="02040503050406030204" pitchFamily="18" charset="0"/>
              <a:cs typeface="Verdana"/>
              <a:sym typeface="Verdana"/>
            </a:endParaRPr>
          </a:p>
          <a:p>
            <a:pPr lvl="0">
              <a:spcBef>
                <a:spcPts val="400"/>
              </a:spcBef>
              <a:buClr>
                <a:srgbClr val="17365D"/>
              </a:buClr>
              <a:buSzPts val="2000"/>
            </a:pPr>
            <a:endParaRPr lang="en-US" sz="2000" b="1"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400"/>
              </a:spcBef>
              <a:spcAft>
                <a:spcPts val="0"/>
              </a:spcAft>
              <a:buClr>
                <a:srgbClr val="17365D"/>
              </a:buClr>
              <a:buSzPts val="2000"/>
              <a:buFont typeface="Arial"/>
              <a:buNone/>
            </a:pPr>
            <a:endParaRPr lang="en-US"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267111852"/>
              </p:ext>
            </p:extLst>
          </p:nvPr>
        </p:nvGraphicFramePr>
        <p:xfrm>
          <a:off x="553347" y="2721840"/>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0">
                <a:tc>
                  <a:txBody>
                    <a:bodyPr/>
                    <a:lstStyle/>
                    <a:p>
                      <a:pPr marL="0" marR="0" lvl="0" indent="0" algn="ctr" rtl="0">
                        <a:spcBef>
                          <a:spcPts val="0"/>
                        </a:spcBef>
                        <a:spcAft>
                          <a:spcPts val="0"/>
                        </a:spcAft>
                        <a:buFont typeface="+mj-l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Review-2</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1800" b="1" dirty="0">
                <a:solidFill>
                  <a:schemeClr val="tx1"/>
                </a:solidFill>
                <a:latin typeface="Cambria" panose="02040503050406030204" pitchFamily="18" charset="0"/>
                <a:ea typeface="Cambria" panose="02040503050406030204" pitchFamily="18" charset="0"/>
                <a:cs typeface="Verdana"/>
                <a:sym typeface="Verdana"/>
              </a:rPr>
              <a:t>B. Tech  Information Science Engineering(Robotics)</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a:t>
            </a:r>
            <a:r>
              <a:rPr lang="en-US" sz="1800" b="1" dirty="0" err="1">
                <a:solidFill>
                  <a:schemeClr val="accent1"/>
                </a:solidFill>
                <a:latin typeface="Cambria" panose="02040503050406030204" pitchFamily="18" charset="0"/>
                <a:ea typeface="Cambria" panose="02040503050406030204" pitchFamily="18" charset="0"/>
                <a:cs typeface="Verdana"/>
                <a:sym typeface="Verdana"/>
              </a:rPr>
              <a:t>HoD</a:t>
            </a:r>
            <a:r>
              <a:rPr lang="en-US" sz="1800" b="1" dirty="0">
                <a:solidFill>
                  <a:schemeClr val="accent1"/>
                </a:solidFill>
                <a:latin typeface="Cambria" panose="02040503050406030204" pitchFamily="18" charset="0"/>
                <a:ea typeface="Cambria" panose="02040503050406030204" pitchFamily="18" charset="0"/>
                <a:cs typeface="Verdana"/>
                <a:sym typeface="Verdana"/>
              </a:rPr>
              <a:t>: </a:t>
            </a:r>
            <a:r>
              <a:rPr lang="en-US" sz="1800" b="1" dirty="0">
                <a:solidFill>
                  <a:schemeClr val="tx1"/>
                </a:solidFill>
                <a:latin typeface="Cambria" panose="02040503050406030204" pitchFamily="18" charset="0"/>
                <a:ea typeface="Cambria" panose="02040503050406030204" pitchFamily="18" charset="0"/>
                <a:cs typeface="Verdana"/>
                <a:sym typeface="Verdana"/>
              </a:rPr>
              <a:t>Dr. Zafar Ali Khan</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dirty="0">
                <a:solidFill>
                  <a:schemeClr val="tx1"/>
                </a:solidFill>
                <a:latin typeface="Cambria" panose="02040503050406030204" pitchFamily="18" charset="0"/>
                <a:ea typeface="Cambria" panose="02040503050406030204" pitchFamily="18" charset="0"/>
                <a:cs typeface="Verdana"/>
                <a:sym typeface="Verdana"/>
              </a:rPr>
              <a:t>Ms. Suma N G</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dirty="0">
                <a:solidFill>
                  <a:schemeClr val="tx1"/>
                </a:solidFill>
                <a:latin typeface="Cambria" panose="02040503050406030204" pitchFamily="18" charset="0"/>
                <a:ea typeface="Cambria" panose="02040503050406030204" pitchFamily="18" charset="0"/>
                <a:cs typeface="Verdana"/>
                <a:sym typeface="Verdana"/>
              </a:rPr>
              <a:t>Dr. Sampath A K, Dr. Geetha  A </a:t>
            </a:r>
          </a:p>
          <a:p>
            <a:pPr marL="0" marR="0" lvl="0" indent="0" rtl="0">
              <a:spcBef>
                <a:spcPts val="0"/>
              </a:spcBef>
              <a:spcAft>
                <a:spcPts val="0"/>
              </a:spcAft>
              <a:buClr>
                <a:srgbClr val="17365D"/>
              </a:buClr>
              <a:buSzPct val="100000"/>
              <a:buFont typeface="Arial"/>
              <a:buNone/>
            </a:pP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graphicFrame>
        <p:nvGraphicFramePr>
          <p:cNvPr id="3" name="Table 2">
            <a:extLst>
              <a:ext uri="{FF2B5EF4-FFF2-40B4-BE49-F238E27FC236}">
                <a16:creationId xmlns:a16="http://schemas.microsoft.com/office/drawing/2014/main" id="{C3A6F801-B502-413E-4984-AC99986DA3D1}"/>
              </a:ext>
            </a:extLst>
          </p:cNvPr>
          <p:cNvGraphicFramePr>
            <a:graphicFrameLocks noGrp="1"/>
          </p:cNvGraphicFramePr>
          <p:nvPr>
            <p:extLst>
              <p:ext uri="{D42A27DB-BD31-4B8C-83A1-F6EECF244321}">
                <p14:modId xmlns:p14="http://schemas.microsoft.com/office/powerpoint/2010/main" val="4188900927"/>
              </p:ext>
            </p:extLst>
          </p:nvPr>
        </p:nvGraphicFramePr>
        <p:xfrm>
          <a:off x="327908" y="2710678"/>
          <a:ext cx="5869552" cy="1604200"/>
        </p:xfrm>
        <a:graphic>
          <a:graphicData uri="http://schemas.openxmlformats.org/drawingml/2006/table">
            <a:tbl>
              <a:tblPr firstRow="1" bandRow="1"/>
              <a:tblGrid>
                <a:gridCol w="2934776">
                  <a:extLst>
                    <a:ext uri="{9D8B030D-6E8A-4147-A177-3AD203B41FA5}">
                      <a16:colId xmlns:a16="http://schemas.microsoft.com/office/drawing/2014/main" val="3683117135"/>
                    </a:ext>
                  </a:extLst>
                </a:gridCol>
                <a:gridCol w="2934776">
                  <a:extLst>
                    <a:ext uri="{9D8B030D-6E8A-4147-A177-3AD203B41FA5}">
                      <a16:colId xmlns:a16="http://schemas.microsoft.com/office/drawing/2014/main" val="3350845273"/>
                    </a:ext>
                  </a:extLst>
                </a:gridCol>
              </a:tblGrid>
              <a:tr h="365273">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086984728"/>
                  </a:ext>
                </a:extLst>
              </a:tr>
              <a:tr h="365273">
                <a:tc>
                  <a:txBody>
                    <a:bodyPr/>
                    <a:lstStyle/>
                    <a:p>
                      <a:r>
                        <a:rPr lang="en-IN" dirty="0"/>
                        <a:t>20221ISE0025</a:t>
                      </a:r>
                    </a:p>
                  </a:txBody>
                  <a:tcPr/>
                </a:tc>
                <a:tc>
                  <a:txBody>
                    <a:bodyPr/>
                    <a:lstStyle/>
                    <a:p>
                      <a:r>
                        <a:rPr lang="en-IN" dirty="0"/>
                        <a:t>GAGANA S R</a:t>
                      </a:r>
                    </a:p>
                  </a:txBody>
                  <a:tcPr/>
                </a:tc>
                <a:extLst>
                  <a:ext uri="{0D108BD9-81ED-4DB2-BD59-A6C34878D82A}">
                    <a16:rowId xmlns:a16="http://schemas.microsoft.com/office/drawing/2014/main" val="2652795543"/>
                  </a:ext>
                </a:extLst>
              </a:tr>
              <a:tr h="508381">
                <a:tc>
                  <a:txBody>
                    <a:bodyPr/>
                    <a:lstStyle/>
                    <a:p>
                      <a:r>
                        <a:rPr lang="en-IN" dirty="0"/>
                        <a:t>20221ISE0021</a:t>
                      </a:r>
                    </a:p>
                  </a:txBody>
                  <a:tcPr/>
                </a:tc>
                <a:tc>
                  <a:txBody>
                    <a:bodyPr/>
                    <a:lstStyle/>
                    <a:p>
                      <a:r>
                        <a:rPr lang="en-IN" dirty="0"/>
                        <a:t>TANUSHREE M S</a:t>
                      </a:r>
                    </a:p>
                  </a:txBody>
                  <a:tcPr/>
                </a:tc>
                <a:extLst>
                  <a:ext uri="{0D108BD9-81ED-4DB2-BD59-A6C34878D82A}">
                    <a16:rowId xmlns:a16="http://schemas.microsoft.com/office/drawing/2014/main" val="2470052109"/>
                  </a:ext>
                </a:extLst>
              </a:tr>
              <a:tr h="365273">
                <a:tc>
                  <a:txBody>
                    <a:bodyPr/>
                    <a:lstStyle/>
                    <a:p>
                      <a:r>
                        <a:rPr lang="en-IN" dirty="0"/>
                        <a:t>20221ISE0042</a:t>
                      </a:r>
                    </a:p>
                  </a:txBody>
                  <a:tcPr/>
                </a:tc>
                <a:tc>
                  <a:txBody>
                    <a:bodyPr/>
                    <a:lstStyle/>
                    <a:p>
                      <a:r>
                        <a:rPr lang="en-IN" dirty="0"/>
                        <a:t>SNEHA KUMARI</a:t>
                      </a:r>
                    </a:p>
                  </a:txBody>
                  <a:tcPr/>
                </a:tc>
                <a:extLst>
                  <a:ext uri="{0D108BD9-81ED-4DB2-BD59-A6C34878D82A}">
                    <a16:rowId xmlns:a16="http://schemas.microsoft.com/office/drawing/2014/main" val="520767121"/>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62500" lnSpcReduction="20000"/>
          </a:bodyPr>
          <a:lstStyle/>
          <a:p>
            <a:pPr marL="342900" lvl="0" indent="-190500" algn="just">
              <a:spcBef>
                <a:spcPts val="0"/>
              </a:spcBef>
              <a:buNone/>
            </a:pPr>
            <a:r>
              <a:rPr lang="en-US" b="1" dirty="0">
                <a:latin typeface="Cambria" panose="02040503050406030204" pitchFamily="18" charset="0"/>
                <a:ea typeface="Cambria" panose="02040503050406030204" pitchFamily="18" charset="0"/>
              </a:rPr>
              <a:t>Organization</a:t>
            </a:r>
            <a:r>
              <a:rPr lang="en-US" dirty="0">
                <a:latin typeface="Cambria" panose="02040503050406030204" pitchFamily="18" charset="0"/>
                <a:ea typeface="Cambria" panose="02040503050406030204" pitchFamily="18" charset="0"/>
              </a:rPr>
              <a:t>: Ministry of Housing and Urban Affairs</a:t>
            </a:r>
          </a:p>
          <a:p>
            <a:pPr marL="342900" lvl="0" indent="-190500" algn="just">
              <a:lnSpc>
                <a:spcPct val="200000"/>
              </a:lnSpc>
              <a:spcBef>
                <a:spcPts val="0"/>
              </a:spcBef>
              <a:buNone/>
            </a:pPr>
            <a:r>
              <a:rPr lang="en-US" b="1" dirty="0">
                <a:latin typeface="Cambria" panose="02040503050406030204" pitchFamily="18" charset="0"/>
                <a:ea typeface="Cambria" panose="02040503050406030204" pitchFamily="18" charset="0"/>
              </a:rPr>
              <a:t>Category (Hardware / Software / Both) </a:t>
            </a:r>
            <a:r>
              <a:rPr lang="en-US" dirty="0">
                <a:latin typeface="Cambria" panose="02040503050406030204" pitchFamily="18" charset="0"/>
                <a:ea typeface="Cambria" panose="02040503050406030204" pitchFamily="18" charset="0"/>
              </a:rPr>
              <a:t>:Software </a:t>
            </a:r>
          </a:p>
          <a:p>
            <a:pPr marL="342900" lvl="0" indent="-190500" algn="just">
              <a:lnSpc>
                <a:spcPct val="200000"/>
              </a:lnSpc>
              <a:spcBef>
                <a:spcPts val="0"/>
              </a:spcBef>
              <a:buNone/>
            </a:pPr>
            <a:r>
              <a:rPr lang="en-US" b="1" dirty="0">
                <a:latin typeface="Cambria" panose="02040503050406030204" pitchFamily="18" charset="0"/>
                <a:ea typeface="Cambria" panose="02040503050406030204" pitchFamily="18" charset="0"/>
              </a:rPr>
              <a:t>Problem Description </a:t>
            </a:r>
            <a:r>
              <a:rPr lang="en-US" dirty="0">
                <a:latin typeface="Cambria" panose="02040503050406030204" pitchFamily="18" charset="0"/>
                <a:ea typeface="Cambria" panose="02040503050406030204" pitchFamily="18" charset="0"/>
              </a:rPr>
              <a:t>: Monitoring the progress of building construction projects is often challenging due to the reliance on manual inspections and subjective reporting, which can lead to delays and errors. By systematically collecting and analyzing images, project managers can create visual progress records, compare actual work with planned schedules, generate quantitative progress metrics, and detect delays or quality issues early. This approach improves transparency, reduces the need for frequent site visits, and enhances decision-making, ultimately leading to more efficient project management.</a:t>
            </a:r>
          </a:p>
          <a:p>
            <a:pPr marL="342900" lvl="0" indent="-190500" algn="just">
              <a:lnSpc>
                <a:spcPct val="200000"/>
              </a:lnSpc>
              <a:spcBef>
                <a:spcPts val="0"/>
              </a:spcBef>
              <a:buNone/>
            </a:pPr>
            <a:r>
              <a:rPr lang="en-US" b="1" dirty="0">
                <a:latin typeface="Cambria" panose="02040503050406030204" pitchFamily="18" charset="0"/>
                <a:ea typeface="Cambria" panose="02040503050406030204" pitchFamily="18" charset="0"/>
              </a:rPr>
              <a:t>Expected output: </a:t>
            </a:r>
            <a:r>
              <a:rPr lang="en-US" dirty="0">
                <a:latin typeface="Cambria" panose="02040503050406030204" pitchFamily="18" charset="0"/>
                <a:ea typeface="Cambria" panose="02040503050406030204" pitchFamily="18" charset="0"/>
              </a:rPr>
              <a:t>Accurate visual records and measurable insights on construction progress, enabling early issue detection, reduced manual monitoring, and improved project management efficiency</a:t>
            </a:r>
          </a:p>
          <a:p>
            <a:pPr marL="342900" lvl="0" indent="-190500" algn="just">
              <a:lnSpc>
                <a:spcPct val="200000"/>
              </a:lnSpc>
              <a:spcBef>
                <a:spcPts val="0"/>
              </a:spcBef>
              <a:buNone/>
            </a:pPr>
            <a:r>
              <a:rPr lang="en-US" dirty="0">
                <a:latin typeface="Cambria" panose="02040503050406030204" pitchFamily="18" charset="0"/>
                <a:ea typeface="Cambria" panose="02040503050406030204" pitchFamily="18" charset="0"/>
              </a:rPr>
              <a:t>Problem Description:</a:t>
            </a: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70000" lnSpcReduction="20000"/>
          </a:bodyPr>
          <a:lstStyle/>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Problem Statement</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Objectives</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Background and Related work for title Selection</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Analysis of Problem Statement</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Innovation or Novel Contributions</a:t>
            </a:r>
            <a:endParaRPr lang="en-US" sz="32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dirty="0" err="1">
                <a:latin typeface="Cambria" panose="02040503050406030204" pitchFamily="18" charset="0"/>
                <a:ea typeface="Cambria" panose="02040503050406030204" pitchFamily="18" charset="0"/>
              </a:rPr>
              <a:t>Git</a:t>
            </a:r>
            <a:r>
              <a:rPr lang="en-US" dirty="0">
                <a:latin typeface="Cambria" panose="02040503050406030204" pitchFamily="18" charset="0"/>
                <a:ea typeface="Cambria" panose="02040503050406030204" pitchFamily="18" charset="0"/>
              </a:rPr>
              <a:t>-hub Link</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Timeline of the Project</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31492-2B02-E9A8-22F6-8FC1202A68AF}"/>
              </a:ext>
            </a:extLst>
          </p:cNvPr>
          <p:cNvSpPr>
            <a:spLocks noGrp="1"/>
          </p:cNvSpPr>
          <p:nvPr>
            <p:ph type="title"/>
          </p:nvPr>
        </p:nvSpPr>
        <p:spPr/>
        <p:txBody>
          <a:bodyPr/>
          <a:lstStyle/>
          <a:p>
            <a:r>
              <a:rPr lang="en-US" dirty="0"/>
              <a:t>Problem Statement</a:t>
            </a:r>
          </a:p>
        </p:txBody>
      </p:sp>
      <p:sp>
        <p:nvSpPr>
          <p:cNvPr id="3" name="Text Placeholder 2">
            <a:extLst>
              <a:ext uri="{FF2B5EF4-FFF2-40B4-BE49-F238E27FC236}">
                <a16:creationId xmlns:a16="http://schemas.microsoft.com/office/drawing/2014/main" id="{F535B033-2CDD-3C35-41A1-E0CACB2E3241}"/>
              </a:ext>
            </a:extLst>
          </p:cNvPr>
          <p:cNvSpPr>
            <a:spLocks noGrp="1"/>
          </p:cNvSpPr>
          <p:nvPr>
            <p:ph type="body" idx="1"/>
          </p:nvPr>
        </p:nvSpPr>
        <p:spPr>
          <a:xfrm>
            <a:off x="812800" y="1374338"/>
            <a:ext cx="9880752" cy="3230515"/>
          </a:xfrm>
        </p:spPr>
        <p:txBody>
          <a:bodyPr>
            <a:normAutofit/>
          </a:bodyPr>
          <a:lstStyle/>
          <a:p>
            <a:pPr marL="76200" indent="0">
              <a:buNone/>
            </a:pPr>
            <a:r>
              <a:rPr lang="en-US" dirty="0">
                <a:latin typeface="Times New Roman" panose="02020603050405020304" pitchFamily="18" charset="0"/>
                <a:cs typeface="Times New Roman" panose="02020603050405020304" pitchFamily="18" charset="0"/>
              </a:rPr>
              <a:t>The main problem is that construction progress monitoring using images is often slow, manual, and prone to errors due to poor image quality and difficult site conditions. Managing and analyzing large amounts of images is hard, and current systems don’t integrate well with project tools, causing communication gaps and delays. There is a need for automated, accurate, and easy-to-use image monitoring systems to improve efficiency and timely decision-making in construction projects.</a:t>
            </a:r>
            <a:endParaRPr lang="en-US" dirty="0">
              <a:latin typeface="Times New Roman" panose="020206030504050203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35454853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lnSpcReduction="10000"/>
          </a:bodyPr>
          <a:lstStyle/>
          <a:p>
            <a:r>
              <a:rPr lang="en-US" sz="2200" b="1" dirty="0">
                <a:latin typeface="Cambria" panose="02040503050406030204" pitchFamily="18" charset="0"/>
                <a:ea typeface="Cambria" panose="02040503050406030204" pitchFamily="18" charset="0"/>
              </a:rPr>
              <a:t>Manual and Slow Process</a:t>
            </a:r>
            <a:r>
              <a:rPr lang="en-US" sz="2200" dirty="0">
                <a:latin typeface="Cambria" panose="02040503050406030204" pitchFamily="18" charset="0"/>
                <a:ea typeface="Cambria" panose="02040503050406030204" pitchFamily="18" charset="0"/>
              </a:rPr>
              <a:t>: Construction progress monitoring using images is often manual and slow, which leads to inefficiencies and delays in capturing and reporting progress.</a:t>
            </a:r>
          </a:p>
          <a:p>
            <a:r>
              <a:rPr lang="en-US" sz="2200" b="1" dirty="0">
                <a:latin typeface="Cambria" panose="02040503050406030204" pitchFamily="18" charset="0"/>
                <a:ea typeface="Cambria" panose="02040503050406030204" pitchFamily="18" charset="0"/>
              </a:rPr>
              <a:t>Quality and Site Challenges</a:t>
            </a:r>
            <a:r>
              <a:rPr lang="en-US" sz="2200" dirty="0">
                <a:latin typeface="Cambria" panose="02040503050406030204" pitchFamily="18" charset="0"/>
                <a:ea typeface="Cambria" panose="02040503050406030204" pitchFamily="18" charset="0"/>
              </a:rPr>
              <a:t>: Poor image quality caused by difficult site conditions such as lighting, occlusions, and clutter make it hard to accurately analyze progress from images.</a:t>
            </a:r>
          </a:p>
          <a:p>
            <a:r>
              <a:rPr lang="en-US" sz="2200" b="1" dirty="0">
                <a:latin typeface="Cambria" panose="02040503050406030204" pitchFamily="18" charset="0"/>
                <a:ea typeface="Cambria" panose="02040503050406030204" pitchFamily="18" charset="0"/>
              </a:rPr>
              <a:t>Data Management Difficulties</a:t>
            </a:r>
            <a:r>
              <a:rPr lang="en-US" sz="2200" dirty="0">
                <a:latin typeface="Cambria" panose="02040503050406030204" pitchFamily="18" charset="0"/>
                <a:ea typeface="Cambria" panose="02040503050406030204" pitchFamily="18" charset="0"/>
              </a:rPr>
              <a:t>: Handling and analyzing large volumes of images is challenging without efficient storage, retrieval, and processing systems.</a:t>
            </a:r>
          </a:p>
          <a:p>
            <a:r>
              <a:rPr lang="en-US" sz="2200" b="1" dirty="0">
                <a:latin typeface="Cambria" panose="02040503050406030204" pitchFamily="18" charset="0"/>
                <a:ea typeface="Cambria" panose="02040503050406030204" pitchFamily="18" charset="0"/>
              </a:rPr>
              <a:t>Lack of Integration</a:t>
            </a:r>
            <a:r>
              <a:rPr lang="en-US" sz="2200" dirty="0">
                <a:latin typeface="Cambria" panose="02040503050406030204" pitchFamily="18" charset="0"/>
                <a:ea typeface="Cambria" panose="02040503050406030204" pitchFamily="18" charset="0"/>
              </a:rPr>
              <a:t>: Current image monitoring systems do not integrate well with project management tools, causing delays and communication gaps among stakeholders.</a:t>
            </a:r>
          </a:p>
          <a:p>
            <a:r>
              <a:rPr lang="en-US" sz="2200" b="1" dirty="0">
                <a:latin typeface="Cambria" panose="02040503050406030204" pitchFamily="18" charset="0"/>
                <a:ea typeface="Cambria" panose="02040503050406030204" pitchFamily="18" charset="0"/>
              </a:rPr>
              <a:t>Need for Automation</a:t>
            </a:r>
            <a:r>
              <a:rPr lang="en-US" sz="2200" dirty="0">
                <a:latin typeface="Cambria" panose="02040503050406030204" pitchFamily="18" charset="0"/>
                <a:ea typeface="Cambria" panose="02040503050406030204" pitchFamily="18" charset="0"/>
              </a:rPr>
              <a:t>: There is a pressing need for automated, accurate, and user-friendly image processing and monitoring systems to improve data quality, reduce errors, and enable timely decision-making, which can lead to better project outcomes.</a:t>
            </a:r>
          </a:p>
          <a:p>
            <a:pPr marL="342900" lvl="0" indent="-190500" algn="just" rtl="0">
              <a:spcBef>
                <a:spcPts val="0"/>
              </a:spcBef>
              <a:spcAft>
                <a:spcPts val="0"/>
              </a:spcAft>
              <a:buClr>
                <a:schemeClr val="dk1"/>
              </a:buClr>
              <a:buSzPct val="100000"/>
              <a:buNone/>
            </a:pPr>
            <a:endParaRPr lang="en-US" sz="2200"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308161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E4A36-4A00-BA09-3E1A-D6D15402290A}"/>
              </a:ext>
            </a:extLst>
          </p:cNvPr>
          <p:cNvSpPr>
            <a:spLocks noGrp="1"/>
          </p:cNvSpPr>
          <p:nvPr>
            <p:ph type="title"/>
          </p:nvPr>
        </p:nvSpPr>
        <p:spPr/>
        <p:txBody>
          <a:bodyPr/>
          <a:lstStyle/>
          <a:p>
            <a:r>
              <a:rPr lang="en-US" dirty="0"/>
              <a:t>How to overcome this problem..</a:t>
            </a:r>
          </a:p>
        </p:txBody>
      </p:sp>
      <p:sp>
        <p:nvSpPr>
          <p:cNvPr id="3" name="Text Placeholder 2">
            <a:extLst>
              <a:ext uri="{FF2B5EF4-FFF2-40B4-BE49-F238E27FC236}">
                <a16:creationId xmlns:a16="http://schemas.microsoft.com/office/drawing/2014/main" id="{0F926DD6-BE17-221A-F164-09A8860ECA81}"/>
              </a:ext>
            </a:extLst>
          </p:cNvPr>
          <p:cNvSpPr>
            <a:spLocks noGrp="1"/>
          </p:cNvSpPr>
          <p:nvPr>
            <p:ph type="body" idx="1"/>
          </p:nvPr>
        </p:nvSpPr>
        <p:spPr/>
        <p:txBody>
          <a:bodyPr>
            <a:normAutofit fontScale="70000" lnSpcReduction="20000"/>
          </a:bodyPr>
          <a:lstStyle/>
          <a:p>
            <a:pPr marL="590550" indent="-514350">
              <a:buFont typeface="+mj-lt"/>
              <a:buAutoNum type="arabicPeriod"/>
            </a:pPr>
            <a:r>
              <a:rPr lang="en-US" sz="2600" b="1" dirty="0">
                <a:latin typeface="Cambria" panose="02040503050406030204" pitchFamily="18" charset="0"/>
                <a:ea typeface="Cambria" panose="02040503050406030204" pitchFamily="18" charset="0"/>
              </a:rPr>
              <a:t>Automate Data Collection with Drones and Robots :</a:t>
            </a:r>
            <a:br>
              <a:rPr lang="en-US" sz="2600" dirty="0">
                <a:latin typeface="Cambria" panose="02040503050406030204" pitchFamily="18" charset="0"/>
                <a:ea typeface="Cambria" panose="02040503050406030204" pitchFamily="18" charset="0"/>
              </a:rPr>
            </a:br>
            <a:r>
              <a:rPr lang="en-US" sz="2600" dirty="0">
                <a:latin typeface="Cambria" panose="02040503050406030204" pitchFamily="18" charset="0"/>
                <a:ea typeface="Cambria" panose="02040503050406030204" pitchFamily="18" charset="0"/>
              </a:rPr>
              <a:t>Use unmanned aerial systems (UAS) or autonomous robots equipped with high-resolution cameras to capture images and videos automatically, increasing speed and reducing manual effort.</a:t>
            </a:r>
          </a:p>
          <a:p>
            <a:pPr marL="590550" indent="-514350">
              <a:buFont typeface="+mj-lt"/>
              <a:buAutoNum type="arabicPeriod"/>
            </a:pPr>
            <a:r>
              <a:rPr lang="en-US" sz="2600" b="1" dirty="0">
                <a:latin typeface="Cambria" panose="02040503050406030204" pitchFamily="18" charset="0"/>
                <a:ea typeface="Cambria" panose="02040503050406030204" pitchFamily="18" charset="0"/>
              </a:rPr>
              <a:t>Apply AI and Machine Learning for Image Processing :</a:t>
            </a:r>
            <a:br>
              <a:rPr lang="en-US" sz="2600" dirty="0">
                <a:latin typeface="Cambria" panose="02040503050406030204" pitchFamily="18" charset="0"/>
                <a:ea typeface="Cambria" panose="02040503050406030204" pitchFamily="18" charset="0"/>
              </a:rPr>
            </a:br>
            <a:r>
              <a:rPr lang="en-US" sz="2600" dirty="0">
                <a:latin typeface="Cambria" panose="02040503050406030204" pitchFamily="18" charset="0"/>
                <a:ea typeface="Cambria" panose="02040503050406030204" pitchFamily="18" charset="0"/>
              </a:rPr>
              <a:t>Implement AI-powered tools that can automatically analyze images for progress detection, defect identification, and site condition assessment, improving accuracy despite varying site conditions.</a:t>
            </a:r>
          </a:p>
          <a:p>
            <a:pPr marL="590550" indent="-514350">
              <a:buFont typeface="+mj-lt"/>
              <a:buAutoNum type="arabicPeriod"/>
            </a:pPr>
            <a:r>
              <a:rPr lang="en-US" sz="2600" b="1" dirty="0">
                <a:latin typeface="Cambria" panose="02040503050406030204" pitchFamily="18" charset="0"/>
                <a:ea typeface="Cambria" panose="02040503050406030204" pitchFamily="18" charset="0"/>
              </a:rPr>
              <a:t>Improve Image Quality and Coverage :</a:t>
            </a:r>
            <a:br>
              <a:rPr lang="en-US" sz="2600" dirty="0">
                <a:latin typeface="Cambria" panose="02040503050406030204" pitchFamily="18" charset="0"/>
                <a:ea typeface="Cambria" panose="02040503050406030204" pitchFamily="18" charset="0"/>
              </a:rPr>
            </a:br>
            <a:r>
              <a:rPr lang="en-US" sz="2600" dirty="0">
                <a:latin typeface="Cambria" panose="02040503050406030204" pitchFamily="18" charset="0"/>
                <a:ea typeface="Cambria" panose="02040503050406030204" pitchFamily="18" charset="0"/>
              </a:rPr>
              <a:t>Utilize technologies like photogrammetry and multiple cameras to capture better quality images, overcoming challenges like poor lighting, occlusions, and clutter on construction sites.</a:t>
            </a:r>
          </a:p>
          <a:p>
            <a:pPr marL="590550" indent="-514350">
              <a:buFont typeface="+mj-lt"/>
              <a:buAutoNum type="arabicPeriod"/>
            </a:pPr>
            <a:r>
              <a:rPr lang="en-US" sz="2600" b="1" dirty="0">
                <a:latin typeface="Cambria" panose="02040503050406030204" pitchFamily="18" charset="0"/>
                <a:ea typeface="Cambria" panose="02040503050406030204" pitchFamily="18" charset="0"/>
              </a:rPr>
              <a:t>Develop Efficient Data Storage and Management Systems :</a:t>
            </a:r>
            <a:br>
              <a:rPr lang="en-US" sz="2600" dirty="0">
                <a:latin typeface="Cambria" panose="02040503050406030204" pitchFamily="18" charset="0"/>
                <a:ea typeface="Cambria" panose="02040503050406030204" pitchFamily="18" charset="0"/>
              </a:rPr>
            </a:br>
            <a:r>
              <a:rPr lang="en-US" sz="2600" dirty="0">
                <a:latin typeface="Cambria" panose="02040503050406030204" pitchFamily="18" charset="0"/>
                <a:ea typeface="Cambria" panose="02040503050406030204" pitchFamily="18" charset="0"/>
              </a:rPr>
              <a:t>Use cloud platforms and optimized databases to store, organize, and quickly retrieve large volumes of image data, making it easier to analyze and reference.</a:t>
            </a:r>
          </a:p>
          <a:p>
            <a:pPr marL="590550" indent="-514350">
              <a:buFont typeface="+mj-lt"/>
              <a:buAutoNum type="arabicPeriod"/>
            </a:pPr>
            <a:r>
              <a:rPr lang="en-US" sz="2600" b="1" dirty="0">
                <a:latin typeface="Cambria" panose="02040503050406030204" pitchFamily="18" charset="0"/>
                <a:ea typeface="Cambria" panose="02040503050406030204" pitchFamily="18" charset="0"/>
              </a:rPr>
              <a:t>Integrate Image Monitoring with Project Management Tools :</a:t>
            </a:r>
            <a:br>
              <a:rPr lang="en-US" sz="2600" dirty="0">
                <a:latin typeface="Cambria" panose="02040503050406030204" pitchFamily="18" charset="0"/>
                <a:ea typeface="Cambria" panose="02040503050406030204" pitchFamily="18" charset="0"/>
              </a:rPr>
            </a:br>
            <a:r>
              <a:rPr lang="en-US" sz="2600" dirty="0">
                <a:latin typeface="Cambria" panose="02040503050406030204" pitchFamily="18" charset="0"/>
                <a:ea typeface="Cambria" panose="02040503050406030204" pitchFamily="18" charset="0"/>
              </a:rPr>
              <a:t>Connect image-based progress monitoring systems directly to project management software (like BIM or scheduling tools) for real-time updates, seamless communication, and better decision-making.</a:t>
            </a:r>
          </a:p>
          <a:p>
            <a:pPr marL="590550" indent="-514350">
              <a:buFont typeface="+mj-lt"/>
              <a:buAutoNum type="arabicPeriod"/>
            </a:pPr>
            <a:r>
              <a:rPr lang="en-US" sz="2600" b="1" dirty="0">
                <a:latin typeface="Cambria" panose="02040503050406030204" pitchFamily="18" charset="0"/>
                <a:ea typeface="Cambria" panose="02040503050406030204" pitchFamily="18" charset="0"/>
              </a:rPr>
              <a:t>Create User-Friendly Interfaces :</a:t>
            </a:r>
            <a:br>
              <a:rPr lang="en-US" sz="2600" dirty="0">
                <a:latin typeface="Cambria" panose="02040503050406030204" pitchFamily="18" charset="0"/>
                <a:ea typeface="Cambria" panose="02040503050406030204" pitchFamily="18" charset="0"/>
              </a:rPr>
            </a:br>
            <a:r>
              <a:rPr lang="en-US" sz="2600" dirty="0">
                <a:latin typeface="Cambria" panose="02040503050406030204" pitchFamily="18" charset="0"/>
                <a:ea typeface="Cambria" panose="02040503050406030204" pitchFamily="18" charset="0"/>
              </a:rPr>
              <a:t>Design intuitive dashboards and applications that allow project managers and stakeholders to access image data easily and interpret progress with automated reports.</a:t>
            </a:r>
          </a:p>
          <a:p>
            <a:endParaRPr lang="en-US" dirty="0"/>
          </a:p>
        </p:txBody>
      </p:sp>
    </p:spTree>
    <p:extLst>
      <p:ext uri="{BB962C8B-B14F-4D97-AF65-F5344CB8AC3E}">
        <p14:creationId xmlns:p14="http://schemas.microsoft.com/office/powerpoint/2010/main" val="352742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495300" indent="-342900" algn="just">
              <a:spcBef>
                <a:spcPts val="0"/>
              </a:spcBef>
              <a:buSzPct val="100000"/>
            </a:pPr>
            <a:r>
              <a:rPr lang="en-US" dirty="0">
                <a:solidFill>
                  <a:schemeClr val="tx1">
                    <a:lumMod val="85000"/>
                    <a:lumOff val="15000"/>
                  </a:schemeClr>
                </a:solidFill>
                <a:latin typeface="Times New Roman" panose="02020603050405020304" pitchFamily="18" charset="0"/>
                <a:ea typeface="Cambria" panose="02040503050406030204" pitchFamily="18" charset="0"/>
                <a:cs typeface="Times New Roman" panose="02020603050405020304" pitchFamily="18" charset="0"/>
              </a:rPr>
              <a:t>To design and develop a software system that uses site images to monitor and evaluate the progress of construction activities. </a:t>
            </a:r>
          </a:p>
          <a:p>
            <a:pPr marL="495300" indent="-342900" algn="just">
              <a:spcBef>
                <a:spcPts val="0"/>
              </a:spcBef>
              <a:buSzPct val="100000"/>
            </a:pPr>
            <a:endParaRPr lang="en-US" dirty="0">
              <a:solidFill>
                <a:schemeClr val="accent2">
                  <a:lumMod val="75000"/>
                </a:schemeClr>
              </a:solidFill>
              <a:latin typeface="Times New Roman" panose="02020603050405020304" pitchFamily="18" charset="0"/>
              <a:ea typeface="Cambria" panose="02040503050406030204" pitchFamily="18" charset="0"/>
              <a:cs typeface="Times New Roman" panose="02020603050405020304" pitchFamily="18" charset="0"/>
            </a:endParaRPr>
          </a:p>
          <a:p>
            <a:pPr marL="495300" indent="-342900" algn="just">
              <a:spcBef>
                <a:spcPts val="0"/>
              </a:spcBef>
              <a:buSzPct val="100000"/>
            </a:pPr>
            <a:r>
              <a:rPr lang="en-US" dirty="0">
                <a:solidFill>
                  <a:schemeClr val="tx1">
                    <a:lumMod val="85000"/>
                    <a:lumOff val="15000"/>
                  </a:schemeClr>
                </a:solidFill>
                <a:latin typeface="Times New Roman" panose="02020603050405020304" pitchFamily="18" charset="0"/>
                <a:ea typeface="Cambria" panose="02040503050406030204" pitchFamily="18" charset="0"/>
                <a:cs typeface="Times New Roman" panose="02020603050405020304" pitchFamily="18" charset="0"/>
              </a:rPr>
              <a:t>To automate the comparison of planned versus actual progress with image data.</a:t>
            </a:r>
            <a:r>
              <a:rPr lang="en-US" dirty="0">
                <a:solidFill>
                  <a:schemeClr val="accent2">
                    <a:lumMod val="75000"/>
                  </a:schemeClr>
                </a:solidFill>
                <a:latin typeface="Times New Roman" panose="02020603050405020304" pitchFamily="18" charset="0"/>
                <a:ea typeface="Cambria" panose="02040503050406030204" pitchFamily="18" charset="0"/>
                <a:cs typeface="Times New Roman" panose="02020603050405020304" pitchFamily="18" charset="0"/>
              </a:rPr>
              <a:t> </a:t>
            </a:r>
          </a:p>
          <a:p>
            <a:pPr marL="342900" indent="-190500" algn="just">
              <a:spcBef>
                <a:spcPts val="0"/>
              </a:spcBef>
              <a:buSzPct val="100000"/>
              <a:buNone/>
            </a:pPr>
            <a:endParaRPr lang="en-US" dirty="0">
              <a:solidFill>
                <a:schemeClr val="accent2">
                  <a:lumMod val="75000"/>
                </a:schemeClr>
              </a:solidFill>
              <a:latin typeface="Times New Roman" panose="02020603050405020304" pitchFamily="18" charset="0"/>
              <a:ea typeface="Cambria" panose="02040503050406030204" pitchFamily="18" charset="0"/>
              <a:cs typeface="Times New Roman" panose="02020603050405020304" pitchFamily="18" charset="0"/>
            </a:endParaRPr>
          </a:p>
          <a:p>
            <a:pPr marL="495300" indent="-342900" algn="just">
              <a:spcBef>
                <a:spcPts val="0"/>
              </a:spcBef>
              <a:buSzPct val="100000"/>
            </a:pPr>
            <a:r>
              <a:rPr lang="en-US" dirty="0">
                <a:solidFill>
                  <a:schemeClr val="tx1">
                    <a:lumMod val="85000"/>
                    <a:lumOff val="15000"/>
                  </a:schemeClr>
                </a:solidFill>
                <a:latin typeface="Times New Roman" panose="02020603050405020304" pitchFamily="18" charset="0"/>
                <a:ea typeface="Cambria" panose="02040503050406030204" pitchFamily="18" charset="0"/>
                <a:cs typeface="Times New Roman" panose="02020603050405020304" pitchFamily="18" charset="0"/>
              </a:rPr>
              <a:t>To provide visual dashboards and reports for project managers and stakeholders. </a:t>
            </a:r>
          </a:p>
          <a:p>
            <a:pPr marL="342900" indent="-190500" algn="just">
              <a:spcBef>
                <a:spcPts val="0"/>
              </a:spcBef>
              <a:buSzPct val="100000"/>
              <a:buNone/>
            </a:pPr>
            <a:endParaRPr lang="en-US" dirty="0">
              <a:solidFill>
                <a:schemeClr val="accent2">
                  <a:lumMod val="75000"/>
                </a:schemeClr>
              </a:solidFill>
              <a:latin typeface="Times New Roman" panose="02020603050405020304" pitchFamily="18" charset="0"/>
              <a:ea typeface="Cambria" panose="02040503050406030204" pitchFamily="18" charset="0"/>
              <a:cs typeface="Times New Roman" panose="02020603050405020304" pitchFamily="18" charset="0"/>
            </a:endParaRPr>
          </a:p>
          <a:p>
            <a:pPr marL="495300" indent="-342900" algn="just">
              <a:spcBef>
                <a:spcPts val="0"/>
              </a:spcBef>
              <a:buSzPct val="100000"/>
            </a:pPr>
            <a:r>
              <a:rPr lang="en-US" dirty="0">
                <a:solidFill>
                  <a:schemeClr val="tx1">
                    <a:lumMod val="85000"/>
                    <a:lumOff val="15000"/>
                  </a:schemeClr>
                </a:solidFill>
                <a:latin typeface="Times New Roman" panose="02020603050405020304" pitchFamily="18" charset="0"/>
                <a:ea typeface="Cambria" panose="02040503050406030204" pitchFamily="18" charset="0"/>
                <a:cs typeface="Times New Roman" panose="02020603050405020304" pitchFamily="18" charset="0"/>
              </a:rPr>
              <a:t>To reduce manual effort, errors, and delays in construction monitoring</a:t>
            </a:r>
            <a:r>
              <a:rPr lang="en-US" dirty="0">
                <a:solidFill>
                  <a:schemeClr val="accent2">
                    <a:lumMod val="75000"/>
                  </a:schemeClr>
                </a:solidFill>
                <a:latin typeface="Times New Roman" panose="02020603050405020304" pitchFamily="18" charset="0"/>
                <a:ea typeface="Cambria" panose="02040503050406030204" pitchFamily="18" charset="0"/>
                <a:cs typeface="Times New Roman" panose="02020603050405020304" pitchFamily="18" charset="0"/>
              </a:rPr>
              <a:t>. </a:t>
            </a:r>
          </a:p>
          <a:p>
            <a:pPr marL="342900" indent="-190500" algn="just">
              <a:spcBef>
                <a:spcPts val="0"/>
              </a:spcBef>
              <a:buSzPct val="100000"/>
              <a:buNone/>
            </a:pPr>
            <a:endParaRPr lang="en-US" dirty="0">
              <a:solidFill>
                <a:schemeClr val="accent2">
                  <a:lumMod val="75000"/>
                </a:schemeClr>
              </a:solidFill>
              <a:latin typeface="Times New Roman" panose="02020603050405020304" pitchFamily="18" charset="0"/>
              <a:ea typeface="Cambria" panose="02040503050406030204" pitchFamily="18" charset="0"/>
              <a:cs typeface="Times New Roman" panose="02020603050405020304" pitchFamily="18" charset="0"/>
            </a:endParaRPr>
          </a:p>
          <a:p>
            <a:pPr marL="495300" indent="-342900" algn="just">
              <a:spcBef>
                <a:spcPts val="0"/>
              </a:spcBef>
              <a:buSzPct val="100000"/>
            </a:pPr>
            <a:r>
              <a:rPr lang="en-US" dirty="0">
                <a:solidFill>
                  <a:schemeClr val="tx1">
                    <a:lumMod val="85000"/>
                    <a:lumOff val="15000"/>
                  </a:schemeClr>
                </a:solidFill>
                <a:latin typeface="Times New Roman" panose="02020603050405020304" pitchFamily="18" charset="0"/>
                <a:ea typeface="Cambria" panose="02040503050406030204" pitchFamily="18" charset="0"/>
                <a:cs typeface="Times New Roman" panose="02020603050405020304" pitchFamily="18" charset="0"/>
              </a:rPr>
              <a:t>To improve decision-making and transparency in construction projects.</a:t>
            </a: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3" name="Title 2">
            <a:extLst>
              <a:ext uri="{FF2B5EF4-FFF2-40B4-BE49-F238E27FC236}">
                <a16:creationId xmlns:a16="http://schemas.microsoft.com/office/drawing/2014/main" id="{B26C3E2C-C932-8806-B02A-477F80CF1575}"/>
              </a:ext>
            </a:extLst>
          </p:cNvPr>
          <p:cNvSpPr>
            <a:spLocks noGrp="1"/>
          </p:cNvSpPr>
          <p:nvPr>
            <p:ph type="title"/>
          </p:nvPr>
        </p:nvSpPr>
        <p:spPr/>
        <p:txBody>
          <a:bodyPr/>
          <a:lstStyle/>
          <a:p>
            <a:r>
              <a:rPr lang="en-US" dirty="0"/>
              <a:t>Objectives</a:t>
            </a:r>
          </a:p>
        </p:txBody>
      </p:sp>
    </p:spTree>
    <p:extLst>
      <p:ext uri="{BB962C8B-B14F-4D97-AF65-F5344CB8AC3E}">
        <p14:creationId xmlns:p14="http://schemas.microsoft.com/office/powerpoint/2010/main" val="33388325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4357C-C8A1-466E-6D13-5DD811AFEB60}"/>
              </a:ext>
            </a:extLst>
          </p:cNvPr>
          <p:cNvSpPr>
            <a:spLocks noGrp="1"/>
          </p:cNvSpPr>
          <p:nvPr>
            <p:ph type="title"/>
          </p:nvPr>
        </p:nvSpPr>
        <p:spPr/>
        <p:txBody>
          <a:bodyPr/>
          <a:lstStyle/>
          <a:p>
            <a:r>
              <a:rPr lang="en-US" dirty="0"/>
              <a:t>Current Challenges</a:t>
            </a:r>
          </a:p>
        </p:txBody>
      </p:sp>
      <p:sp>
        <p:nvSpPr>
          <p:cNvPr id="3" name="Text Placeholder 2">
            <a:extLst>
              <a:ext uri="{FF2B5EF4-FFF2-40B4-BE49-F238E27FC236}">
                <a16:creationId xmlns:a16="http://schemas.microsoft.com/office/drawing/2014/main" id="{8B2DA7D8-B85D-0168-38FE-C1B77FBBDB1F}"/>
              </a:ext>
            </a:extLst>
          </p:cNvPr>
          <p:cNvSpPr>
            <a:spLocks noGrp="1"/>
          </p:cNvSpPr>
          <p:nvPr>
            <p:ph type="body" idx="1"/>
          </p:nvPr>
        </p:nvSpPr>
        <p:spPr/>
        <p:txBody>
          <a:bodyPr>
            <a:noAutofit/>
          </a:bodyPr>
          <a:lstStyle/>
          <a:p>
            <a:pPr marL="533400" indent="-457200">
              <a:buFont typeface="+mj-lt"/>
              <a:buAutoNum type="arabicPeriod"/>
            </a:pPr>
            <a:r>
              <a:rPr lang="en-US" sz="2000" b="1" dirty="0">
                <a:latin typeface="Cambria" panose="02040503050406030204" pitchFamily="18" charset="0"/>
                <a:ea typeface="Cambria" panose="02040503050406030204" pitchFamily="18" charset="0"/>
              </a:rPr>
              <a:t>Not Enough Skilled Workers :</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There aren’t enough trained workers, which slows down work, raises wages, and can cause mistakes on site.</a:t>
            </a:r>
          </a:p>
          <a:p>
            <a:pPr marL="533400" indent="-457200">
              <a:buFont typeface="+mj-lt"/>
              <a:buAutoNum type="arabicPeriod"/>
            </a:pPr>
            <a:r>
              <a:rPr lang="en-US" sz="2000" b="1" dirty="0">
                <a:latin typeface="Cambria" panose="02040503050406030204" pitchFamily="18" charset="0"/>
                <a:ea typeface="Cambria" panose="02040503050406030204" pitchFamily="18" charset="0"/>
              </a:rPr>
              <a:t>Projects Taking Longer Than Planned :</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Delays happen due to bad weather, supply problems, or poor planning, which pushes back project timelines.</a:t>
            </a:r>
          </a:p>
          <a:p>
            <a:pPr marL="533400" indent="-457200">
              <a:buFont typeface="+mj-lt"/>
              <a:buAutoNum type="arabicPeriod"/>
            </a:pPr>
            <a:r>
              <a:rPr lang="en-US" sz="2000" b="1" dirty="0">
                <a:latin typeface="Cambria" panose="02040503050406030204" pitchFamily="18" charset="0"/>
                <a:ea typeface="Cambria" panose="02040503050406030204" pitchFamily="18" charset="0"/>
              </a:rPr>
              <a:t>Going Over Budget :</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Costs often exceed estimates because of rising material prices, unexpected expenses, and weak budget control.</a:t>
            </a:r>
          </a:p>
          <a:p>
            <a:pPr marL="533400" indent="-457200">
              <a:buFont typeface="+mj-lt"/>
              <a:buAutoNum type="arabicPeriod"/>
            </a:pPr>
            <a:r>
              <a:rPr lang="en-US" sz="2000" b="1" dirty="0">
                <a:latin typeface="Cambria" panose="02040503050406030204" pitchFamily="18" charset="0"/>
                <a:ea typeface="Cambria" panose="02040503050406030204" pitchFamily="18" charset="0"/>
              </a:rPr>
              <a:t>Poor Communication :</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Miscommunication between team members, contractors, and clients leads to mistakes, rework, and lost time.</a:t>
            </a:r>
          </a:p>
          <a:p>
            <a:pPr marL="533400" indent="-457200">
              <a:buFont typeface="+mj-lt"/>
              <a:buAutoNum type="arabicPeriod"/>
            </a:pPr>
            <a:r>
              <a:rPr lang="en-US" sz="2000" b="1" dirty="0">
                <a:latin typeface="Cambria" panose="02040503050406030204" pitchFamily="18" charset="0"/>
                <a:ea typeface="Cambria" panose="02040503050406030204" pitchFamily="18" charset="0"/>
              </a:rPr>
              <a:t>Slow Use of New Technology :</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Many companies hesitate to use digital tools and software, missing chances to work faster and smarter.</a:t>
            </a:r>
          </a:p>
          <a:p>
            <a:endParaRPr lang="en-US"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0320629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30E3C-4FB8-C0B4-DACD-E66D6FA36CBD}"/>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Opportunities with Image Use</a:t>
            </a:r>
            <a:endParaRPr lang="en-US" dirty="0"/>
          </a:p>
        </p:txBody>
      </p:sp>
      <p:sp>
        <p:nvSpPr>
          <p:cNvPr id="3" name="Text Placeholder 2">
            <a:extLst>
              <a:ext uri="{FF2B5EF4-FFF2-40B4-BE49-F238E27FC236}">
                <a16:creationId xmlns:a16="http://schemas.microsoft.com/office/drawing/2014/main" id="{394CB911-D307-6F53-792F-383CB584EFCA}"/>
              </a:ext>
            </a:extLst>
          </p:cNvPr>
          <p:cNvSpPr>
            <a:spLocks noGrp="1"/>
          </p:cNvSpPr>
          <p:nvPr>
            <p:ph type="body" idx="1"/>
          </p:nvPr>
        </p:nvSpPr>
        <p:spPr/>
        <p:txBody>
          <a:bodyPr>
            <a:normAutofit lnSpcReduction="10000"/>
          </a:bodyPr>
          <a:lstStyle/>
          <a:p>
            <a:pPr marL="533400" indent="-457200">
              <a:buFont typeface="+mj-lt"/>
              <a:buAutoNum type="arabicPeriod"/>
            </a:pPr>
            <a:r>
              <a:rPr lang="en-US" sz="2200" b="1" dirty="0">
                <a:latin typeface="Cambria" panose="02040503050406030204" pitchFamily="18" charset="0"/>
                <a:ea typeface="Cambria" panose="02040503050406030204" pitchFamily="18" charset="0"/>
              </a:rPr>
              <a:t>Track Progress Easily :</a:t>
            </a:r>
            <a:br>
              <a:rPr lang="en-US" sz="2200" dirty="0">
                <a:latin typeface="Cambria" panose="02040503050406030204" pitchFamily="18" charset="0"/>
                <a:ea typeface="Cambria" panose="02040503050406030204" pitchFamily="18" charset="0"/>
              </a:rPr>
            </a:br>
            <a:r>
              <a:rPr lang="en-US" sz="2200" dirty="0">
                <a:latin typeface="Cambria" panose="02040503050406030204" pitchFamily="18" charset="0"/>
                <a:ea typeface="Cambria" panose="02040503050406030204" pitchFamily="18" charset="0"/>
              </a:rPr>
              <a:t>Using photos and videos helps see the actual work done on site anytime without waiting for reports.</a:t>
            </a:r>
          </a:p>
          <a:p>
            <a:pPr marL="533400" indent="-457200">
              <a:buFont typeface="+mj-lt"/>
              <a:buAutoNum type="arabicPeriod"/>
            </a:pPr>
            <a:r>
              <a:rPr lang="en-US" sz="2200" b="1" dirty="0">
                <a:latin typeface="Cambria" panose="02040503050406030204" pitchFamily="18" charset="0"/>
                <a:ea typeface="Cambria" panose="02040503050406030204" pitchFamily="18" charset="0"/>
              </a:rPr>
              <a:t>Solve Problems Faster :</a:t>
            </a:r>
            <a:br>
              <a:rPr lang="en-US" sz="2200" dirty="0">
                <a:latin typeface="Cambria" panose="02040503050406030204" pitchFamily="18" charset="0"/>
                <a:ea typeface="Cambria" panose="02040503050406030204" pitchFamily="18" charset="0"/>
              </a:rPr>
            </a:br>
            <a:r>
              <a:rPr lang="en-US" sz="2200" dirty="0">
                <a:latin typeface="Cambria" panose="02040503050406030204" pitchFamily="18" charset="0"/>
                <a:ea typeface="Cambria" panose="02040503050406030204" pitchFamily="18" charset="0"/>
              </a:rPr>
              <a:t>Images help spot mistakes or safety issues early, so they can be fixed before causing bigger delays.</a:t>
            </a:r>
          </a:p>
          <a:p>
            <a:pPr marL="533400" indent="-457200">
              <a:buFont typeface="+mj-lt"/>
              <a:buAutoNum type="arabicPeriod"/>
            </a:pPr>
            <a:r>
              <a:rPr lang="en-US" sz="2200" b="1" dirty="0">
                <a:latin typeface="Cambria" panose="02040503050406030204" pitchFamily="18" charset="0"/>
                <a:ea typeface="Cambria" panose="02040503050406030204" pitchFamily="18" charset="0"/>
              </a:rPr>
              <a:t>Better Communication :</a:t>
            </a:r>
            <a:br>
              <a:rPr lang="en-US" sz="2200" dirty="0">
                <a:latin typeface="Cambria" panose="02040503050406030204" pitchFamily="18" charset="0"/>
                <a:ea typeface="Cambria" panose="02040503050406030204" pitchFamily="18" charset="0"/>
              </a:rPr>
            </a:br>
            <a:r>
              <a:rPr lang="en-US" sz="2200" dirty="0">
                <a:latin typeface="Cambria" panose="02040503050406030204" pitchFamily="18" charset="0"/>
                <a:ea typeface="Cambria" panose="02040503050406030204" pitchFamily="18" charset="0"/>
              </a:rPr>
              <a:t>Sharing pictures instantly keeps everyone informed and reduces misunderstandings between teams.</a:t>
            </a:r>
          </a:p>
          <a:p>
            <a:pPr marL="533400" indent="-457200">
              <a:buFont typeface="+mj-lt"/>
              <a:buAutoNum type="arabicPeriod"/>
            </a:pPr>
            <a:r>
              <a:rPr lang="en-US" sz="2200" b="1" dirty="0">
                <a:latin typeface="Cambria" panose="02040503050406030204" pitchFamily="18" charset="0"/>
                <a:ea typeface="Cambria" panose="02040503050406030204" pitchFamily="18" charset="0"/>
              </a:rPr>
              <a:t>Keep Clear Records :</a:t>
            </a:r>
            <a:br>
              <a:rPr lang="en-US" sz="2200" dirty="0">
                <a:latin typeface="Cambria" panose="02040503050406030204" pitchFamily="18" charset="0"/>
                <a:ea typeface="Cambria" panose="02040503050406030204" pitchFamily="18" charset="0"/>
              </a:rPr>
            </a:br>
            <a:r>
              <a:rPr lang="en-US" sz="2200" dirty="0">
                <a:latin typeface="Cambria" panose="02040503050406030204" pitchFamily="18" charset="0"/>
                <a:ea typeface="Cambria" panose="02040503050406030204" pitchFamily="18" charset="0"/>
              </a:rPr>
              <a:t>Photos act as proof of work done and site conditions, which helps during audits or resolving disputes.</a:t>
            </a:r>
          </a:p>
          <a:p>
            <a:pPr marL="533400" indent="-457200">
              <a:buFont typeface="+mj-lt"/>
              <a:buAutoNum type="arabicPeriod"/>
            </a:pPr>
            <a:r>
              <a:rPr lang="en-US" sz="2200" b="1" dirty="0">
                <a:latin typeface="Cambria" panose="02040503050406030204" pitchFamily="18" charset="0"/>
                <a:ea typeface="Cambria" panose="02040503050406030204" pitchFamily="18" charset="0"/>
              </a:rPr>
              <a:t>Monitor Remotely :</a:t>
            </a:r>
            <a:br>
              <a:rPr lang="en-US" sz="2200" dirty="0">
                <a:latin typeface="Cambria" panose="02040503050406030204" pitchFamily="18" charset="0"/>
                <a:ea typeface="Cambria" panose="02040503050406030204" pitchFamily="18" charset="0"/>
              </a:rPr>
            </a:br>
            <a:r>
              <a:rPr lang="en-US" sz="2200" dirty="0">
                <a:latin typeface="Cambria" panose="02040503050406030204" pitchFamily="18" charset="0"/>
                <a:ea typeface="Cambria" panose="02040503050406030204" pitchFamily="18" charset="0"/>
              </a:rPr>
              <a:t>Project teams can check the site’s progress from anywhere, saving travel time and cost.</a:t>
            </a:r>
          </a:p>
          <a:p>
            <a:endParaRPr lang="en-US" dirty="0"/>
          </a:p>
        </p:txBody>
      </p:sp>
    </p:spTree>
    <p:extLst>
      <p:ext uri="{BB962C8B-B14F-4D97-AF65-F5344CB8AC3E}">
        <p14:creationId xmlns:p14="http://schemas.microsoft.com/office/powerpoint/2010/main" val="608115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C7801-56C3-D16B-25E5-DE4EBD70D258}"/>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Novel Contributions</a:t>
            </a:r>
            <a:endParaRPr lang="en-US" dirty="0"/>
          </a:p>
        </p:txBody>
      </p:sp>
      <p:sp>
        <p:nvSpPr>
          <p:cNvPr id="3" name="Text Placeholder 2">
            <a:extLst>
              <a:ext uri="{FF2B5EF4-FFF2-40B4-BE49-F238E27FC236}">
                <a16:creationId xmlns:a16="http://schemas.microsoft.com/office/drawing/2014/main" id="{052F0C54-8CC7-DC24-A644-973CF0703ED5}"/>
              </a:ext>
            </a:extLst>
          </p:cNvPr>
          <p:cNvSpPr>
            <a:spLocks noGrp="1"/>
          </p:cNvSpPr>
          <p:nvPr>
            <p:ph type="body" idx="1"/>
          </p:nvPr>
        </p:nvSpPr>
        <p:spPr/>
        <p:txBody>
          <a:bodyPr>
            <a:normAutofit fontScale="85000" lnSpcReduction="20000"/>
          </a:bodyPr>
          <a:lstStyle/>
          <a:p>
            <a:pPr marL="342900" indent="-190500" algn="just">
              <a:spcBef>
                <a:spcPts val="0"/>
              </a:spcBef>
              <a:buSzPct val="100000"/>
              <a:buNone/>
            </a:pPr>
            <a:r>
              <a:rPr lang="en-US" b="1" dirty="0">
                <a:solidFill>
                  <a:schemeClr val="tx1">
                    <a:lumMod val="85000"/>
                    <a:lumOff val="15000"/>
                  </a:schemeClr>
                </a:solidFill>
                <a:latin typeface="Cambria" panose="02040503050406030204" pitchFamily="18" charset="0"/>
                <a:ea typeface="Cambria" panose="02040503050406030204" pitchFamily="18" charset="0"/>
              </a:rPr>
              <a:t>The proposed project introduces a software-based image monitoring system with the following innovative aspects:</a:t>
            </a:r>
          </a:p>
          <a:p>
            <a:pPr marL="342900" indent="-190500" algn="just">
              <a:spcBef>
                <a:spcPts val="0"/>
              </a:spcBef>
              <a:buSzPct val="100000"/>
              <a:buNone/>
            </a:pPr>
            <a:endParaRPr lang="en-US" sz="1200" b="1" dirty="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None/>
            </a:pPr>
            <a:endParaRPr lang="en-US" b="1" dirty="0">
              <a:latin typeface="Cambria" panose="02040503050406030204" pitchFamily="18" charset="0"/>
              <a:ea typeface="Cambria" panose="02040503050406030204" pitchFamily="18" charset="0"/>
            </a:endParaRPr>
          </a:p>
          <a:p>
            <a:pPr marL="342900" indent="-190500" algn="just">
              <a:spcBef>
                <a:spcPts val="0"/>
              </a:spcBef>
              <a:buSzPct val="100000"/>
              <a:buNone/>
            </a:pPr>
            <a:endParaRPr lang="en-US" sz="2000" b="1" dirty="0">
              <a:latin typeface="Cambria" panose="02040503050406030204" pitchFamily="18" charset="0"/>
              <a:ea typeface="Cambria" panose="02040503050406030204" pitchFamily="18" charset="0"/>
            </a:endParaRPr>
          </a:p>
          <a:p>
            <a:pPr marL="342900" indent="-190500" algn="just">
              <a:spcBef>
                <a:spcPts val="0"/>
              </a:spcBef>
              <a:buSzPct val="100000"/>
              <a:buNone/>
            </a:pPr>
            <a:r>
              <a:rPr lang="en-US" sz="2000" b="1" dirty="0">
                <a:latin typeface="Cambria" panose="02040503050406030204" pitchFamily="18" charset="0"/>
                <a:ea typeface="Cambria" panose="02040503050406030204" pitchFamily="18" charset="0"/>
              </a:rPr>
              <a:t>Affordable &amp; Accessible </a:t>
            </a:r>
            <a:r>
              <a:rPr lang="en-US" sz="2000"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Unlike high-cost BIM or drone solutions, the system is designed as a low-cost software tool accessible to small and medium construction firms.</a:t>
            </a:r>
          </a:p>
          <a:p>
            <a:pPr marL="342900" indent="-190500" algn="just">
              <a:spcBef>
                <a:spcPts val="0"/>
              </a:spcBef>
              <a:buSzPct val="100000"/>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None/>
            </a:pPr>
            <a:r>
              <a:rPr lang="en-US" b="1" dirty="0">
                <a:latin typeface="Cambria" panose="02040503050406030204" pitchFamily="18" charset="0"/>
                <a:ea typeface="Cambria" panose="02040503050406030204" pitchFamily="18" charset="0"/>
              </a:rPr>
              <a:t>Automated Progress Tracking </a:t>
            </a:r>
            <a:r>
              <a:rPr lang="en-US" dirty="0">
                <a:latin typeface="Cambria" panose="02040503050406030204" pitchFamily="18" charset="0"/>
                <a:ea typeface="Cambria" panose="02040503050406030204" pitchFamily="18" charset="0"/>
              </a:rPr>
              <a:t>– Uses image processing to automatically compare site progress with planned schedules.</a:t>
            </a:r>
          </a:p>
          <a:p>
            <a:pPr marL="342900" indent="-190500" algn="just">
              <a:spcBef>
                <a:spcPts val="0"/>
              </a:spcBef>
              <a:buSzPct val="100000"/>
              <a:buNone/>
            </a:pPr>
            <a:endParaRPr lang="en-US" sz="2000" dirty="0">
              <a:latin typeface="Cambria" panose="02040503050406030204" pitchFamily="18" charset="0"/>
              <a:ea typeface="Cambria" panose="02040503050406030204" pitchFamily="18" charset="0"/>
            </a:endParaRPr>
          </a:p>
          <a:p>
            <a:pPr marL="342900" indent="-190500" algn="just">
              <a:spcBef>
                <a:spcPts val="0"/>
              </a:spcBef>
              <a:buSzPct val="100000"/>
              <a:buNone/>
            </a:pPr>
            <a:r>
              <a:rPr lang="en-US" b="1" dirty="0">
                <a:latin typeface="Cambria" panose="02040503050406030204" pitchFamily="18" charset="0"/>
                <a:ea typeface="Cambria" panose="02040503050406030204" pitchFamily="18" charset="0"/>
              </a:rPr>
              <a:t>Visual Evidence Reporting </a:t>
            </a:r>
            <a:r>
              <a:rPr lang="en-US" sz="2000"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Generates dashboards and reports enriched with visual proof (before/after images).</a:t>
            </a:r>
          </a:p>
          <a:p>
            <a:pPr marL="342900" indent="-190500" algn="just">
              <a:spcBef>
                <a:spcPts val="0"/>
              </a:spcBef>
              <a:buSzPct val="100000"/>
              <a:buNone/>
            </a:pPr>
            <a:endParaRPr lang="en-US" sz="2000" dirty="0">
              <a:latin typeface="Cambria" panose="02040503050406030204" pitchFamily="18" charset="0"/>
              <a:ea typeface="Cambria" panose="02040503050406030204" pitchFamily="18" charset="0"/>
            </a:endParaRPr>
          </a:p>
          <a:p>
            <a:pPr marL="342900" indent="-190500" algn="just">
              <a:spcBef>
                <a:spcPts val="0"/>
              </a:spcBef>
              <a:buSzPct val="100000"/>
              <a:buNone/>
            </a:pPr>
            <a:r>
              <a:rPr lang="en-US" b="1" dirty="0">
                <a:latin typeface="Cambria" panose="02040503050406030204" pitchFamily="18" charset="0"/>
                <a:ea typeface="Cambria" panose="02040503050406030204" pitchFamily="18" charset="0"/>
              </a:rPr>
              <a:t>Integration with Databases </a:t>
            </a:r>
            <a:r>
              <a:rPr lang="en-US" sz="2000"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Stores progress history for transparency, reducing disputes among stakeholders.</a:t>
            </a:r>
          </a:p>
          <a:p>
            <a:pPr marL="342900" indent="-190500" algn="just">
              <a:spcBef>
                <a:spcPts val="0"/>
              </a:spcBef>
              <a:buSzPct val="100000"/>
              <a:buNone/>
            </a:pPr>
            <a:endParaRPr lang="en-US" sz="2000" dirty="0">
              <a:latin typeface="Cambria" panose="02040503050406030204" pitchFamily="18" charset="0"/>
              <a:ea typeface="Cambria" panose="02040503050406030204" pitchFamily="18" charset="0"/>
            </a:endParaRPr>
          </a:p>
          <a:p>
            <a:pPr marL="342900" indent="-190500" algn="just">
              <a:spcBef>
                <a:spcPts val="0"/>
              </a:spcBef>
              <a:buSzPct val="100000"/>
              <a:buNone/>
            </a:pPr>
            <a:r>
              <a:rPr lang="en-US" b="1" dirty="0">
                <a:latin typeface="Cambria" panose="02040503050406030204" pitchFamily="18" charset="0"/>
                <a:ea typeface="Cambria" panose="02040503050406030204" pitchFamily="18" charset="0"/>
              </a:rPr>
              <a:t>Scalable &amp; Extensible </a:t>
            </a:r>
            <a:r>
              <a:rPr lang="en-US" sz="2000"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Can be enhanced with AI/ML models for object detection (e.g., detecting completed structural components).</a:t>
            </a:r>
          </a:p>
          <a:p>
            <a:pPr marL="342900" indent="-190500" algn="just">
              <a:lnSpc>
                <a:spcPct val="200000"/>
              </a:lnSpc>
              <a:spcBef>
                <a:spcPts val="0"/>
              </a:spcBef>
              <a:buSzPct val="100000"/>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None/>
            </a:pPr>
            <a:endParaRPr lang="en-US" dirty="0">
              <a:latin typeface="Cambria" panose="02040503050406030204" pitchFamily="18" charset="0"/>
              <a:ea typeface="Cambria" panose="02040503050406030204" pitchFamily="18" charset="0"/>
            </a:endParaRPr>
          </a:p>
          <a:p>
            <a:endParaRPr lang="en-US" dirty="0"/>
          </a:p>
        </p:txBody>
      </p:sp>
    </p:spTree>
    <p:extLst>
      <p:ext uri="{BB962C8B-B14F-4D97-AF65-F5344CB8AC3E}">
        <p14:creationId xmlns:p14="http://schemas.microsoft.com/office/powerpoint/2010/main" val="3334386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lnSpc>
                <a:spcPct val="200000"/>
              </a:lnSpc>
              <a:spcBef>
                <a:spcPts val="0"/>
              </a:spcBef>
              <a:buSzPct val="100000"/>
              <a:buNone/>
            </a:pPr>
            <a:r>
              <a:rPr lang="en-US">
                <a:latin typeface="Cambria" panose="02040503050406030204" pitchFamily="18" charset="0"/>
                <a:ea typeface="Cambria" panose="02040503050406030204" pitchFamily="18" charset="0"/>
              </a:rPr>
              <a:t>https://github.com/Tanushreems/Utilization-of-images-for-monitoring-of-progress-of-construction-activities.git</a:t>
            </a: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Abstract</a:t>
            </a:r>
          </a:p>
        </p:txBody>
      </p:sp>
      <p:sp>
        <p:nvSpPr>
          <p:cNvPr id="115" name="Google Shape;115;p17"/>
          <p:cNvSpPr txBox="1">
            <a:spLocks noGrp="1"/>
          </p:cNvSpPr>
          <p:nvPr>
            <p:ph type="body" idx="1"/>
          </p:nvPr>
        </p:nvSpPr>
        <p:spPr>
          <a:xfrm>
            <a:off x="812800" y="876071"/>
            <a:ext cx="11151056" cy="6313193"/>
          </a:xfrm>
          <a:prstGeom prst="rect">
            <a:avLst/>
          </a:prstGeom>
          <a:noFill/>
          <a:ln>
            <a:noFill/>
          </a:ln>
        </p:spPr>
        <p:txBody>
          <a:bodyPr spcFirstLastPara="1" wrap="square" lIns="91425" tIns="45700" rIns="91425" bIns="45700" anchor="t" anchorCtr="0">
            <a:noAutofit/>
          </a:bodyPr>
          <a:lstStyle/>
          <a:p>
            <a:pPr marL="342900" lvl="0" indent="-190500" algn="just">
              <a:lnSpc>
                <a:spcPct val="200000"/>
              </a:lnSpc>
              <a:spcBef>
                <a:spcPts val="0"/>
              </a:spcBef>
              <a:buSzPct val="100000"/>
              <a:buNone/>
            </a:pPr>
            <a:r>
              <a:rPr lang="en-US" sz="1600" dirty="0">
                <a:latin typeface="Cambria" panose="02040503050406030204" pitchFamily="18" charset="0"/>
                <a:ea typeface="Cambria" panose="02040503050406030204" pitchFamily="18" charset="0"/>
              </a:rPr>
              <a:t>Construction project management faces challenges in efficiently tracking and reporting progress. This paper explores the utilization of images as a powerful tool for monitoring the progress of construction activities in building projects. Traditional methods, often reliant on manual site visits and subjective reporting, are prone to inaccuracies and delays. In contrast, leveraging visual data from sources like drone footage, time-lapse cameras, and mobile devices offers a robust and objective solution. This research investigates various methodologies for image-based progress monitoring, including computer vision and machine learning algorithms, to automatically identify completed tasks, quantify work progress, and detect discrepancies between planned schedules and actual on-site conditions. The study highlights how this approach can enhance project transparency, improve communication among stakeholders, and enable proactive decision-making. The findings demonstrate that integrating image-based monitoring can significantly increase the accuracy and timeliness of progress reports, leading to more efficient project completion and better resource management.</a:t>
            </a:r>
            <a:endParaRPr sz="16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0004557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indent="-190500" algn="just">
              <a:spcBef>
                <a:spcPts val="0"/>
              </a:spcBef>
              <a:buSzPct val="100000"/>
              <a:buNone/>
            </a:pPr>
            <a:endParaRPr lang="en-US" sz="2000" dirty="0">
              <a:latin typeface="Cambria" panose="02040503050406030204" pitchFamily="18" charset="0"/>
              <a:ea typeface="Cambria" panose="02040503050406030204" pitchFamily="18" charset="0"/>
            </a:endParaRPr>
          </a:p>
          <a:p>
            <a:pPr marL="342900" indent="-190500" algn="just">
              <a:spcBef>
                <a:spcPts val="0"/>
              </a:spcBef>
              <a:buSzPct val="100000"/>
              <a:buNone/>
            </a:pPr>
            <a:r>
              <a:rPr lang="en-US" sz="2000" dirty="0">
                <a:latin typeface="Cambria" panose="02040503050406030204" pitchFamily="18" charset="0"/>
                <a:ea typeface="Cambria" panose="02040503050406030204" pitchFamily="18" charset="0"/>
              </a:rPr>
              <a:t>Report &amp; Documentation</a:t>
            </a:r>
          </a:p>
          <a:p>
            <a:pPr marL="342900" indent="-190500" algn="just">
              <a:spcBef>
                <a:spcPts val="0"/>
              </a:spcBef>
              <a:buSzPct val="100000"/>
              <a:buNone/>
            </a:pPr>
            <a:endParaRPr lang="en-US" sz="2000" dirty="0">
              <a:latin typeface="Cambria" panose="02040503050406030204" pitchFamily="18" charset="0"/>
              <a:ea typeface="Cambria" panose="02040503050406030204" pitchFamily="18" charset="0"/>
            </a:endParaRPr>
          </a:p>
          <a:p>
            <a:pPr marL="342900" indent="-190500" algn="just">
              <a:spcBef>
                <a:spcPts val="0"/>
              </a:spcBef>
              <a:buSzPct val="100000"/>
              <a:buNone/>
            </a:pPr>
            <a:r>
              <a:rPr lang="en-US" sz="2000" dirty="0">
                <a:latin typeface="Cambria" panose="02040503050406030204" pitchFamily="18" charset="0"/>
                <a:ea typeface="Cambria" panose="02040503050406030204" pitchFamily="18" charset="0"/>
              </a:rPr>
              <a:t>Progress Monitoring</a:t>
            </a:r>
          </a:p>
          <a:p>
            <a:pPr marL="342900" indent="-190500" algn="just">
              <a:spcBef>
                <a:spcPts val="0"/>
              </a:spcBef>
              <a:buSzPct val="100000"/>
              <a:buNone/>
            </a:pPr>
            <a:endParaRPr lang="en-US" sz="2000" dirty="0">
              <a:latin typeface="Cambria" panose="02040503050406030204" pitchFamily="18" charset="0"/>
              <a:ea typeface="Cambria" panose="02040503050406030204" pitchFamily="18" charset="0"/>
            </a:endParaRPr>
          </a:p>
          <a:p>
            <a:pPr marL="342900" indent="-190500" algn="just">
              <a:spcBef>
                <a:spcPts val="0"/>
              </a:spcBef>
              <a:buSzPct val="100000"/>
              <a:buNone/>
            </a:pPr>
            <a:r>
              <a:rPr lang="en-US" sz="2000" dirty="0">
                <a:latin typeface="Cambria" panose="02040503050406030204" pitchFamily="18" charset="0"/>
                <a:ea typeface="Cambria" panose="02040503050406030204" pitchFamily="18" charset="0"/>
              </a:rPr>
              <a:t>Image Processing</a:t>
            </a:r>
          </a:p>
          <a:p>
            <a:pPr marL="342900" indent="-190500" algn="just">
              <a:spcBef>
                <a:spcPts val="0"/>
              </a:spcBef>
              <a:buSzPct val="100000"/>
              <a:buNone/>
            </a:pPr>
            <a:endParaRPr lang="en-US" sz="2000" dirty="0">
              <a:latin typeface="Cambria" panose="02040503050406030204" pitchFamily="18" charset="0"/>
              <a:ea typeface="Cambria" panose="02040503050406030204" pitchFamily="18" charset="0"/>
            </a:endParaRPr>
          </a:p>
          <a:p>
            <a:pPr marL="342900" indent="-190500" algn="just">
              <a:spcBef>
                <a:spcPts val="0"/>
              </a:spcBef>
              <a:buSzPct val="100000"/>
              <a:buNone/>
            </a:pPr>
            <a:r>
              <a:rPr lang="en-US" sz="2000" dirty="0">
                <a:latin typeface="Cambria" panose="02040503050406030204" pitchFamily="18" charset="0"/>
                <a:ea typeface="Cambria" panose="02040503050406030204" pitchFamily="18" charset="0"/>
              </a:rPr>
              <a:t>Image Acquisition</a:t>
            </a:r>
          </a:p>
          <a:p>
            <a:pPr marL="342900" indent="-190500" algn="just">
              <a:spcBef>
                <a:spcPts val="0"/>
              </a:spcBef>
              <a:buSzPct val="100000"/>
              <a:buNone/>
            </a:pPr>
            <a:endParaRPr lang="en-US" sz="2000" dirty="0">
              <a:latin typeface="Cambria" panose="02040503050406030204" pitchFamily="18" charset="0"/>
              <a:ea typeface="Cambria" panose="02040503050406030204" pitchFamily="18" charset="0"/>
            </a:endParaRPr>
          </a:p>
          <a:p>
            <a:pPr marL="342900" indent="-190500" algn="just">
              <a:spcBef>
                <a:spcPts val="0"/>
              </a:spcBef>
              <a:buSzPct val="100000"/>
              <a:buNone/>
            </a:pPr>
            <a:r>
              <a:rPr lang="en-US" sz="2000" dirty="0">
                <a:latin typeface="Cambria" panose="02040503050406030204" pitchFamily="18" charset="0"/>
                <a:ea typeface="Cambria" panose="02040503050406030204" pitchFamily="18" charset="0"/>
              </a:rPr>
              <a:t>Data Collection Setup</a:t>
            </a:r>
          </a:p>
          <a:p>
            <a:pPr marL="342900" indent="-190500" algn="just">
              <a:spcBef>
                <a:spcPts val="0"/>
              </a:spcBef>
              <a:buSzPct val="100000"/>
              <a:buNone/>
            </a:pPr>
            <a:endParaRPr lang="en-US" sz="2000" dirty="0">
              <a:latin typeface="Cambria" panose="02040503050406030204" pitchFamily="18" charset="0"/>
              <a:ea typeface="Cambria" panose="02040503050406030204" pitchFamily="18" charset="0"/>
            </a:endParaRPr>
          </a:p>
          <a:p>
            <a:pPr marL="342900" indent="-190500" algn="just">
              <a:spcBef>
                <a:spcPts val="0"/>
              </a:spcBef>
              <a:buSzPct val="100000"/>
              <a:buNone/>
            </a:pPr>
            <a:r>
              <a:rPr lang="en-US" sz="2000" dirty="0">
                <a:latin typeface="Cambria" panose="02040503050406030204" pitchFamily="18" charset="0"/>
                <a:ea typeface="Cambria" panose="02040503050406030204" pitchFamily="18" charset="0"/>
              </a:rPr>
              <a:t>Project Planning                        </a:t>
            </a:r>
          </a:p>
          <a:p>
            <a:pPr marL="342900" indent="-190500" algn="just">
              <a:spcBef>
                <a:spcPts val="0"/>
              </a:spcBef>
              <a:buSzPct val="100000"/>
              <a:buNone/>
            </a:pPr>
            <a:endParaRPr lang="en-US" dirty="0"/>
          </a:p>
          <a:p>
            <a:pPr marL="342900" indent="-190500" algn="just">
              <a:spcBef>
                <a:spcPts val="0"/>
              </a:spcBef>
              <a:buSzPct val="100000"/>
              <a:buNone/>
            </a:pPr>
            <a:r>
              <a:rPr lang="en-US" dirty="0"/>
              <a:t>                              </a:t>
            </a:r>
          </a:p>
          <a:p>
            <a:pPr marL="342900" indent="-190500" algn="just">
              <a:spcBef>
                <a:spcPts val="0"/>
              </a:spcBef>
              <a:buSzPct val="100000"/>
              <a:buNone/>
            </a:pPr>
            <a:endParaRPr lang="en-US" dirty="0"/>
          </a:p>
          <a:p>
            <a:pPr marL="342900" indent="-190500" algn="just">
              <a:spcBef>
                <a:spcPts val="0"/>
              </a:spcBef>
              <a:buSzPct val="100000"/>
              <a:buNone/>
            </a:pPr>
            <a:endParaRPr lang="en-US" dirty="0"/>
          </a:p>
          <a:p>
            <a:pPr marL="342900" lvl="0" indent="-190500" algn="just" rtl="0">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cxnSp>
        <p:nvCxnSpPr>
          <p:cNvPr id="29" name="Straight Connector 28">
            <a:extLst>
              <a:ext uri="{FF2B5EF4-FFF2-40B4-BE49-F238E27FC236}">
                <a16:creationId xmlns:a16="http://schemas.microsoft.com/office/drawing/2014/main" id="{AED07F48-45F6-463F-A33A-9EA896CC2312}"/>
              </a:ext>
            </a:extLst>
          </p:cNvPr>
          <p:cNvCxnSpPr>
            <a:cxnSpLocks/>
          </p:cNvCxnSpPr>
          <p:nvPr/>
        </p:nvCxnSpPr>
        <p:spPr>
          <a:xfrm>
            <a:off x="4018980" y="1303157"/>
            <a:ext cx="87607" cy="4402261"/>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40E540E-BEA1-CD3C-2C05-77E354D1EFB0}"/>
              </a:ext>
            </a:extLst>
          </p:cNvPr>
          <p:cNvCxnSpPr/>
          <p:nvPr/>
        </p:nvCxnSpPr>
        <p:spPr>
          <a:xfrm>
            <a:off x="996532" y="5114070"/>
            <a:ext cx="10343123" cy="54754"/>
          </a:xfrm>
          <a:prstGeom prst="line">
            <a:avLst/>
          </a:prstGeom>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D268A401-C252-8730-AD41-239CA37B6412}"/>
              </a:ext>
            </a:extLst>
          </p:cNvPr>
          <p:cNvSpPr/>
          <p:nvPr/>
        </p:nvSpPr>
        <p:spPr>
          <a:xfrm>
            <a:off x="4248948" y="4573051"/>
            <a:ext cx="602300" cy="297317"/>
          </a:xfrm>
          <a:prstGeom prst="rect">
            <a:avLst/>
          </a:prstGeom>
          <a:solidFill>
            <a:srgbClr val="4F81BD"/>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Aug</a:t>
            </a:r>
            <a:endParaRPr dirty="0"/>
          </a:p>
        </p:txBody>
      </p:sp>
      <p:sp>
        <p:nvSpPr>
          <p:cNvPr id="34" name="Rectangle 33">
            <a:extLst>
              <a:ext uri="{FF2B5EF4-FFF2-40B4-BE49-F238E27FC236}">
                <a16:creationId xmlns:a16="http://schemas.microsoft.com/office/drawing/2014/main" id="{9B510F66-DDA7-71BA-23F6-DA1064A5008A}"/>
              </a:ext>
            </a:extLst>
          </p:cNvPr>
          <p:cNvSpPr/>
          <p:nvPr/>
        </p:nvSpPr>
        <p:spPr>
          <a:xfrm>
            <a:off x="4758165" y="3971140"/>
            <a:ext cx="657054" cy="274320"/>
          </a:xfrm>
          <a:prstGeom prst="rect">
            <a:avLst/>
          </a:prstGeom>
          <a:solidFill>
            <a:srgbClr val="4F81BD"/>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Aug</a:t>
            </a:r>
            <a:endParaRPr dirty="0"/>
          </a:p>
        </p:txBody>
      </p:sp>
      <p:sp>
        <p:nvSpPr>
          <p:cNvPr id="35" name="Rectangle 34">
            <a:extLst>
              <a:ext uri="{FF2B5EF4-FFF2-40B4-BE49-F238E27FC236}">
                <a16:creationId xmlns:a16="http://schemas.microsoft.com/office/drawing/2014/main" id="{060F32DF-F516-567F-B04F-8CCFDEF434FD}"/>
              </a:ext>
            </a:extLst>
          </p:cNvPr>
          <p:cNvSpPr/>
          <p:nvPr/>
        </p:nvSpPr>
        <p:spPr>
          <a:xfrm>
            <a:off x="5049459" y="3391405"/>
            <a:ext cx="2216462" cy="274320"/>
          </a:xfrm>
          <a:prstGeom prst="rect">
            <a:avLst/>
          </a:prstGeom>
          <a:solidFill>
            <a:srgbClr val="4F81BD"/>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Aug-sept</a:t>
            </a:r>
            <a:endParaRPr dirty="0"/>
          </a:p>
        </p:txBody>
      </p:sp>
      <p:sp>
        <p:nvSpPr>
          <p:cNvPr id="36" name="Rectangle 35">
            <a:extLst>
              <a:ext uri="{FF2B5EF4-FFF2-40B4-BE49-F238E27FC236}">
                <a16:creationId xmlns:a16="http://schemas.microsoft.com/office/drawing/2014/main" id="{6CC43951-BF6B-1BD5-D5BB-D43BB7F2FFD4}"/>
              </a:ext>
            </a:extLst>
          </p:cNvPr>
          <p:cNvSpPr/>
          <p:nvPr/>
        </p:nvSpPr>
        <p:spPr>
          <a:xfrm>
            <a:off x="6269389" y="2717055"/>
            <a:ext cx="2469428" cy="274320"/>
          </a:xfrm>
          <a:prstGeom prst="rect">
            <a:avLst/>
          </a:prstGeom>
          <a:solidFill>
            <a:srgbClr val="4F81BD"/>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Aug-sept</a:t>
            </a:r>
            <a:endParaRPr dirty="0"/>
          </a:p>
        </p:txBody>
      </p:sp>
      <p:sp>
        <p:nvSpPr>
          <p:cNvPr id="37" name="Rectangle 36">
            <a:extLst>
              <a:ext uri="{FF2B5EF4-FFF2-40B4-BE49-F238E27FC236}">
                <a16:creationId xmlns:a16="http://schemas.microsoft.com/office/drawing/2014/main" id="{8DD018C9-8BAC-7868-E810-0042960F0712}"/>
              </a:ext>
            </a:extLst>
          </p:cNvPr>
          <p:cNvSpPr/>
          <p:nvPr/>
        </p:nvSpPr>
        <p:spPr>
          <a:xfrm>
            <a:off x="7610813" y="2008430"/>
            <a:ext cx="2354504" cy="274320"/>
          </a:xfrm>
          <a:prstGeom prst="rect">
            <a:avLst/>
          </a:prstGeom>
          <a:solidFill>
            <a:srgbClr val="4F81BD"/>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Sept-oct</a:t>
            </a:r>
            <a:endParaRPr dirty="0"/>
          </a:p>
        </p:txBody>
      </p:sp>
      <p:sp>
        <p:nvSpPr>
          <p:cNvPr id="38" name="Rectangle 37">
            <a:extLst>
              <a:ext uri="{FF2B5EF4-FFF2-40B4-BE49-F238E27FC236}">
                <a16:creationId xmlns:a16="http://schemas.microsoft.com/office/drawing/2014/main" id="{25B9A66D-8F47-1C2C-9BE0-FEB1EE93BAE4}"/>
              </a:ext>
            </a:extLst>
          </p:cNvPr>
          <p:cNvSpPr/>
          <p:nvPr/>
        </p:nvSpPr>
        <p:spPr>
          <a:xfrm>
            <a:off x="9193280" y="1362327"/>
            <a:ext cx="1330532" cy="326849"/>
          </a:xfrm>
          <a:prstGeom prst="rect">
            <a:avLst/>
          </a:prstGeom>
          <a:solidFill>
            <a:srgbClr val="4F81BD"/>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Oct</a:t>
            </a:r>
            <a:endParaRPr dirty="0"/>
          </a:p>
        </p:txBody>
      </p:sp>
    </p:spTree>
    <p:extLst>
      <p:ext uri="{BB962C8B-B14F-4D97-AF65-F5344CB8AC3E}">
        <p14:creationId xmlns:p14="http://schemas.microsoft.com/office/powerpoint/2010/main" val="4798902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903449"/>
            <a:ext cx="10668000" cy="5192552"/>
          </a:xfrm>
          <a:prstGeom prst="rect">
            <a:avLst/>
          </a:prstGeom>
          <a:noFill/>
          <a:ln>
            <a:noFill/>
          </a:ln>
        </p:spPr>
        <p:txBody>
          <a:bodyPr spcFirstLastPara="1" wrap="square" lIns="91425" tIns="45700" rIns="91425" bIns="45700" anchor="t" anchorCtr="0">
            <a:noAutofit/>
          </a:bodyPr>
          <a:lstStyle/>
          <a:p>
            <a:pPr>
              <a:buFont typeface="+mj-lt"/>
              <a:buAutoNum type="arabicPeriod"/>
            </a:pPr>
            <a:r>
              <a:rPr lang="en-US" sz="1200" b="1" dirty="0">
                <a:latin typeface="Cambria" panose="02040503050406030204" pitchFamily="18" charset="0"/>
                <a:ea typeface="Cambria" panose="02040503050406030204" pitchFamily="18" charset="0"/>
              </a:rPr>
              <a:t>Computer Vision-Bases Construction Progress Monitoring</a:t>
            </a:r>
          </a:p>
          <a:p>
            <a:pPr lvl="1">
              <a:buFont typeface="Arial" panose="020B0604020202020204" pitchFamily="34" charset="0"/>
              <a:buChar char="•"/>
            </a:pPr>
            <a:r>
              <a:rPr lang="en-US" sz="1200" dirty="0">
                <a:latin typeface="Cambria" panose="02040503050406030204" pitchFamily="18" charset="0"/>
                <a:ea typeface="Cambria" panose="02040503050406030204" pitchFamily="18" charset="0"/>
              </a:rPr>
              <a:t>Publisher: </a:t>
            </a:r>
            <a:r>
              <a:rPr lang="en-US" sz="1200" i="1" dirty="0">
                <a:latin typeface="Cambria" panose="02040503050406030204" pitchFamily="18" charset="0"/>
                <a:ea typeface="Cambria" panose="02040503050406030204" pitchFamily="18" charset="0"/>
              </a:rPr>
              <a:t>Automation in Construction (Elsevier)</a:t>
            </a:r>
            <a:endParaRPr lang="en-US" sz="1200" dirty="0">
              <a:latin typeface="Cambria" panose="02040503050406030204" pitchFamily="18" charset="0"/>
              <a:ea typeface="Cambria" panose="02040503050406030204" pitchFamily="18" charset="0"/>
            </a:endParaRPr>
          </a:p>
          <a:p>
            <a:pPr lvl="1">
              <a:buFont typeface="Arial" panose="020B0604020202020204" pitchFamily="34" charset="0"/>
              <a:buChar char="•"/>
            </a:pPr>
            <a:r>
              <a:rPr lang="en-US" sz="1200" dirty="0">
                <a:latin typeface="Cambria" panose="02040503050406030204" pitchFamily="18" charset="0"/>
                <a:ea typeface="Cambria" panose="02040503050406030204" pitchFamily="18" charset="0"/>
              </a:rPr>
              <a:t>Year: 2025</a:t>
            </a:r>
          </a:p>
          <a:p>
            <a:pPr lvl="1">
              <a:buFont typeface="Arial" panose="020B0604020202020204" pitchFamily="34" charset="0"/>
              <a:buChar char="•"/>
            </a:pPr>
            <a:r>
              <a:rPr lang="en-US" sz="1200" dirty="0">
                <a:latin typeface="Cambria" panose="02040503050406030204" pitchFamily="18" charset="0"/>
                <a:ea typeface="Cambria" panose="02040503050406030204" pitchFamily="18" charset="0"/>
              </a:rPr>
              <a:t>Summary: Reviews stages of vision-based monitoring from data capture, 3D reconstruction, to progress assessment. Proposes an integrated framework and discusses future research directions.</a:t>
            </a:r>
          </a:p>
          <a:p>
            <a:pPr>
              <a:buFont typeface="+mj-lt"/>
              <a:buAutoNum type="arabicPeriod"/>
            </a:pPr>
            <a:r>
              <a:rPr lang="en-US" sz="1200" b="1" dirty="0">
                <a:latin typeface="Cambria" panose="02040503050406030204" pitchFamily="18" charset="0"/>
                <a:ea typeface="Cambria" panose="02040503050406030204" pitchFamily="18" charset="0"/>
              </a:rPr>
              <a:t>A computer vision and point cloud-based monitoring approach</a:t>
            </a:r>
          </a:p>
          <a:p>
            <a:pPr lvl="1">
              <a:buFont typeface="Arial" panose="020B0604020202020204" pitchFamily="34" charset="0"/>
              <a:buChar char="•"/>
            </a:pPr>
            <a:r>
              <a:rPr lang="en-US" sz="1200" dirty="0">
                <a:latin typeface="Cambria" panose="02040503050406030204" pitchFamily="18" charset="0"/>
                <a:ea typeface="Cambria" panose="02040503050406030204" pitchFamily="18" charset="0"/>
              </a:rPr>
              <a:t>Publisher: </a:t>
            </a:r>
            <a:r>
              <a:rPr lang="en-US" sz="1200" i="1" dirty="0">
                <a:latin typeface="Cambria" panose="02040503050406030204" pitchFamily="18" charset="0"/>
                <a:ea typeface="Cambria" panose="02040503050406030204" pitchFamily="18" charset="0"/>
              </a:rPr>
              <a:t>Journal of Intelligent Construction</a:t>
            </a:r>
            <a:endParaRPr lang="en-US" sz="1200" dirty="0">
              <a:latin typeface="Cambria" panose="02040503050406030204" pitchFamily="18" charset="0"/>
              <a:ea typeface="Cambria" panose="02040503050406030204" pitchFamily="18" charset="0"/>
            </a:endParaRPr>
          </a:p>
          <a:p>
            <a:pPr lvl="1">
              <a:buFont typeface="Arial" panose="020B0604020202020204" pitchFamily="34" charset="0"/>
              <a:buChar char="•"/>
            </a:pPr>
            <a:r>
              <a:rPr lang="en-US" sz="1200" dirty="0">
                <a:latin typeface="Cambria" panose="02040503050406030204" pitchFamily="18" charset="0"/>
                <a:ea typeface="Cambria" panose="02040503050406030204" pitchFamily="18" charset="0"/>
              </a:rPr>
              <a:t>Year: 2025</a:t>
            </a:r>
          </a:p>
          <a:p>
            <a:pPr lvl="1">
              <a:buFont typeface="Arial" panose="020B0604020202020204" pitchFamily="34" charset="0"/>
              <a:buChar char="•"/>
            </a:pPr>
            <a:r>
              <a:rPr lang="en-US" sz="1200" dirty="0">
                <a:latin typeface="Cambria" panose="02040503050406030204" pitchFamily="18" charset="0"/>
                <a:ea typeface="Cambria" panose="02040503050406030204" pitchFamily="18" charset="0"/>
              </a:rPr>
              <a:t>Summary: Proposes an economical multi-camera system with 3D point cloud technology for real-time monitoring of material handling using cranes, focusing on safety and efficiency.</a:t>
            </a:r>
          </a:p>
          <a:p>
            <a:pPr>
              <a:buFont typeface="+mj-lt"/>
              <a:buAutoNum type="arabicPeriod"/>
            </a:pPr>
            <a:r>
              <a:rPr lang="en-US" sz="1200" b="1" dirty="0">
                <a:latin typeface="Cambria" panose="02040503050406030204" pitchFamily="18" charset="0"/>
                <a:ea typeface="Cambria" panose="02040503050406030204" pitchFamily="18" charset="0"/>
              </a:rPr>
              <a:t>Integrated vision-based automated progress monitoring of indoor construction</a:t>
            </a:r>
          </a:p>
          <a:p>
            <a:pPr lvl="1">
              <a:buFont typeface="Arial" panose="020B0604020202020204" pitchFamily="34" charset="0"/>
              <a:buChar char="•"/>
            </a:pPr>
            <a:r>
              <a:rPr lang="en-US" sz="1200" dirty="0">
                <a:latin typeface="Cambria" panose="02040503050406030204" pitchFamily="18" charset="0"/>
                <a:ea typeface="Cambria" panose="02040503050406030204" pitchFamily="18" charset="0"/>
              </a:rPr>
              <a:t>Publisher: </a:t>
            </a:r>
            <a:r>
              <a:rPr lang="en-US" sz="1200" i="1" dirty="0">
                <a:latin typeface="Cambria" panose="02040503050406030204" pitchFamily="18" charset="0"/>
                <a:ea typeface="Cambria" panose="02040503050406030204" pitchFamily="18" charset="0"/>
              </a:rPr>
              <a:t>Automation in Construction</a:t>
            </a:r>
            <a:endParaRPr lang="en-US" sz="1200" dirty="0">
              <a:latin typeface="Cambria" panose="02040503050406030204" pitchFamily="18" charset="0"/>
              <a:ea typeface="Cambria" panose="02040503050406030204" pitchFamily="18" charset="0"/>
            </a:endParaRPr>
          </a:p>
          <a:p>
            <a:pPr lvl="1">
              <a:buFont typeface="Arial" panose="020B0604020202020204" pitchFamily="34" charset="0"/>
              <a:buChar char="•"/>
            </a:pPr>
            <a:r>
              <a:rPr lang="en-US" sz="1200" dirty="0">
                <a:latin typeface="Cambria" panose="02040503050406030204" pitchFamily="18" charset="0"/>
                <a:ea typeface="Cambria" panose="02040503050406030204" pitchFamily="18" charset="0"/>
              </a:rPr>
              <a:t>Year: 2022</a:t>
            </a:r>
          </a:p>
          <a:p>
            <a:pPr lvl="1">
              <a:buFont typeface="Arial" panose="020B0604020202020204" pitchFamily="34" charset="0"/>
              <a:buChar char="•"/>
            </a:pPr>
            <a:r>
              <a:rPr lang="en-US" sz="1200" dirty="0">
                <a:latin typeface="Cambria" panose="02040503050406030204" pitchFamily="18" charset="0"/>
                <a:ea typeface="Cambria" panose="02040503050406030204" pitchFamily="18" charset="0"/>
              </a:rPr>
              <a:t>Summary: Uses Mask R-CNN deep learning and BIM integration to automate drywall progress and quality assessment</a:t>
            </a:r>
          </a:p>
          <a:p>
            <a:pPr>
              <a:buFont typeface="+mj-lt"/>
              <a:buAutoNum type="arabicPeriod"/>
            </a:pPr>
            <a:r>
              <a:rPr lang="en-US" sz="1200" b="1" dirty="0">
                <a:latin typeface="Cambria" panose="02040503050406030204" pitchFamily="18" charset="0"/>
                <a:ea typeface="Cambria" panose="02040503050406030204" pitchFamily="18" charset="0"/>
              </a:rPr>
              <a:t>Deep learning-based computer vision in project management</a:t>
            </a:r>
          </a:p>
          <a:p>
            <a:pPr lvl="1">
              <a:buFont typeface="Arial" panose="020B0604020202020204" pitchFamily="34" charset="0"/>
              <a:buChar char="•"/>
            </a:pPr>
            <a:r>
              <a:rPr lang="en-US" sz="1200" dirty="0">
                <a:latin typeface="Cambria" panose="02040503050406030204" pitchFamily="18" charset="0"/>
                <a:ea typeface="Cambria" panose="02040503050406030204" pitchFamily="18" charset="0"/>
              </a:rPr>
              <a:t>Publisher: </a:t>
            </a:r>
            <a:r>
              <a:rPr lang="en-US" sz="1200" i="1" dirty="0">
                <a:latin typeface="Cambria" panose="02040503050406030204" pitchFamily="18" charset="0"/>
                <a:ea typeface="Cambria" panose="02040503050406030204" pitchFamily="18" charset="0"/>
              </a:rPr>
              <a:t>ScienceDirect</a:t>
            </a:r>
            <a:endParaRPr lang="en-US" sz="1200" dirty="0">
              <a:latin typeface="Cambria" panose="02040503050406030204" pitchFamily="18" charset="0"/>
              <a:ea typeface="Cambria" panose="02040503050406030204" pitchFamily="18" charset="0"/>
            </a:endParaRPr>
          </a:p>
          <a:p>
            <a:pPr lvl="1">
              <a:buFont typeface="Arial" panose="020B0604020202020204" pitchFamily="34" charset="0"/>
              <a:buChar char="•"/>
            </a:pPr>
            <a:r>
              <a:rPr lang="en-US" sz="1200" dirty="0">
                <a:latin typeface="Cambria" panose="02040503050406030204" pitchFamily="18" charset="0"/>
                <a:ea typeface="Cambria" panose="02040503050406030204" pitchFamily="18" charset="0"/>
              </a:rPr>
              <a:t>Year: 2024</a:t>
            </a:r>
          </a:p>
          <a:p>
            <a:pPr lvl="1">
              <a:buFont typeface="Arial" panose="020B0604020202020204" pitchFamily="34" charset="0"/>
              <a:buChar char="•"/>
            </a:pPr>
            <a:r>
              <a:rPr lang="en-US" sz="1200" dirty="0">
                <a:latin typeface="Cambria" panose="02040503050406030204" pitchFamily="18" charset="0"/>
                <a:ea typeface="Cambria" panose="02040503050406030204" pitchFamily="18" charset="0"/>
              </a:rPr>
              <a:t>Summary: Develops a deep learning model for automated recognition of as-built construction status and work-in-progress measurement indoors.</a:t>
            </a:r>
          </a:p>
          <a:p>
            <a:pPr>
              <a:buFont typeface="+mj-lt"/>
              <a:buAutoNum type="arabicPeriod"/>
            </a:pPr>
            <a:r>
              <a:rPr lang="en-US" sz="1200" b="1" dirty="0">
                <a:latin typeface="Cambria" panose="02040503050406030204" pitchFamily="18" charset="0"/>
                <a:ea typeface="Cambria" panose="02040503050406030204" pitchFamily="18" charset="0"/>
              </a:rPr>
              <a:t>Automated vision-based construction progress monitoring in built environments</a:t>
            </a:r>
          </a:p>
          <a:p>
            <a:pPr lvl="1">
              <a:buFont typeface="Arial" panose="020B0604020202020204" pitchFamily="34" charset="0"/>
              <a:buChar char="•"/>
            </a:pPr>
            <a:r>
              <a:rPr lang="en-US" sz="1200" dirty="0">
                <a:latin typeface="Cambria" panose="02040503050406030204" pitchFamily="18" charset="0"/>
                <a:ea typeface="Cambria" panose="02040503050406030204" pitchFamily="18" charset="0"/>
              </a:rPr>
              <a:t>Publisher: </a:t>
            </a:r>
            <a:r>
              <a:rPr lang="en-US" sz="1200" i="1" dirty="0">
                <a:latin typeface="Cambria" panose="02040503050406030204" pitchFamily="18" charset="0"/>
                <a:ea typeface="Cambria" panose="02040503050406030204" pitchFamily="18" charset="0"/>
              </a:rPr>
              <a:t>ScienceDirect</a:t>
            </a:r>
            <a:endParaRPr lang="en-US" sz="1200" dirty="0">
              <a:latin typeface="Cambria" panose="02040503050406030204" pitchFamily="18" charset="0"/>
              <a:ea typeface="Cambria" panose="02040503050406030204" pitchFamily="18" charset="0"/>
            </a:endParaRPr>
          </a:p>
          <a:p>
            <a:pPr lvl="1">
              <a:buFont typeface="Arial" panose="020B0604020202020204" pitchFamily="34" charset="0"/>
              <a:buChar char="•"/>
            </a:pPr>
            <a:r>
              <a:rPr lang="en-US" sz="1200" dirty="0">
                <a:latin typeface="Cambria" panose="02040503050406030204" pitchFamily="18" charset="0"/>
                <a:ea typeface="Cambria" panose="02040503050406030204" pitchFamily="18" charset="0"/>
              </a:rPr>
              <a:t>Year: 2023</a:t>
            </a:r>
          </a:p>
          <a:p>
            <a:pPr lvl="1">
              <a:buFont typeface="Arial" panose="020B0604020202020204" pitchFamily="34" charset="0"/>
              <a:buChar char="•"/>
            </a:pPr>
            <a:r>
              <a:rPr lang="en-US" sz="1200" dirty="0">
                <a:latin typeface="Cambria" panose="02040503050406030204" pitchFamily="18" charset="0"/>
                <a:ea typeface="Cambria" panose="02040503050406030204" pitchFamily="18" charset="0"/>
              </a:rPr>
              <a:t>Summary: Combines vision-based monitoring with digital twin technology for real-time status updates and enhanced decision-making.</a:t>
            </a:r>
          </a:p>
          <a:p>
            <a:pPr marL="304800" indent="-228600">
              <a:buFont typeface="+mj-lt"/>
              <a:buAutoNum type="arabicPeriod"/>
            </a:pPr>
            <a:endParaRPr sz="1200" dirty="0">
              <a:latin typeface="Cambria" panose="02040503050406030204" pitchFamily="18" charset="0"/>
              <a:ea typeface="Cambria" panose="020405030504060302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296</TotalTime>
  <Words>1559</Words>
  <Application>Microsoft Office PowerPoint</Application>
  <PresentationFormat>Widescreen</PresentationFormat>
  <Paragraphs>148</Paragraphs>
  <Slides>15</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Cambria</vt:lpstr>
      <vt:lpstr>Times New Roman</vt:lpstr>
      <vt:lpstr>Verdana</vt:lpstr>
      <vt:lpstr>Wingdings</vt:lpstr>
      <vt:lpstr>Bioinformatics</vt:lpstr>
      <vt:lpstr>UTILIZATION OF IMAGES FOR MONITORING OF PROGRESS OF CONSTRUCTION ACTIVITIES FOR BUILDING CONSTRUCTION PROJECTS</vt:lpstr>
      <vt:lpstr>Problem Statement Number: </vt:lpstr>
      <vt:lpstr>Content</vt:lpstr>
      <vt:lpstr>Problem Statement</vt:lpstr>
      <vt:lpstr>Analysis of Problem Statement</vt:lpstr>
      <vt:lpstr>How to overcome this problem..</vt:lpstr>
      <vt:lpstr>Objectives</vt:lpstr>
      <vt:lpstr>Current Challenges</vt:lpstr>
      <vt:lpstr>Opportunities with Image Use</vt:lpstr>
      <vt:lpstr>Novel Contributions</vt:lpstr>
      <vt:lpstr>Github Link</vt:lpstr>
      <vt:lpstr>Abstract</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gagana sarji</cp:lastModifiedBy>
  <cp:revision>41</cp:revision>
  <dcterms:modified xsi:type="dcterms:W3CDTF">2025-11-12T03:56:03Z</dcterms:modified>
</cp:coreProperties>
</file>