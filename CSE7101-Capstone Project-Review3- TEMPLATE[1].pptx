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57" r:id="rId4"/>
    <p:sldId id="274" r:id="rId5"/>
    <p:sldId id="273" r:id="rId6"/>
    <p:sldId id="276" r:id="rId7"/>
    <p:sldId id="275" r:id="rId8"/>
    <p:sldId id="277" r:id="rId9"/>
    <p:sldId id="278" r:id="rId10"/>
    <p:sldId id="281" r:id="rId11"/>
    <p:sldId id="279" r:id="rId12"/>
    <p:sldId id="280" r:id="rId13"/>
    <p:sldId id="268"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1555E-360B-452B-B841-717AA8A586BD}" v="48" dt="2025-09-25T13:26:35.360"/>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gana sarji" userId="e2d1ac419054d909" providerId="LiveId" clId="{22F0E7AE-821A-49BC-95B3-7D57E36F0A68}"/>
    <pc:docChg chg="undo custSel addSld delSld modSld sldOrd">
      <pc:chgData name="gagana sarji" userId="e2d1ac419054d909" providerId="LiveId" clId="{22F0E7AE-821A-49BC-95B3-7D57E36F0A68}" dt="2025-09-25T13:29:29.802" v="398"/>
      <pc:docMkLst>
        <pc:docMk/>
      </pc:docMkLst>
      <pc:sldChg chg="addSp modSp mod">
        <pc:chgData name="gagana sarji" userId="e2d1ac419054d909" providerId="LiveId" clId="{22F0E7AE-821A-49BC-95B3-7D57E36F0A68}" dt="2025-09-25T12:47:13.383" v="29"/>
        <pc:sldMkLst>
          <pc:docMk/>
          <pc:sldMk cId="0" sldId="256"/>
        </pc:sldMkLst>
        <pc:spChg chg="mod">
          <ac:chgData name="gagana sarji" userId="e2d1ac419054d909" providerId="LiveId" clId="{22F0E7AE-821A-49BC-95B3-7D57E36F0A68}" dt="2025-09-25T12:47:13.383" v="29"/>
          <ac:spMkLst>
            <pc:docMk/>
            <pc:sldMk cId="0" sldId="256"/>
            <ac:spMk id="8" creationId="{00000000-0000-0000-0000-000000000000}"/>
          </ac:spMkLst>
        </pc:spChg>
        <pc:spChg chg="mod">
          <ac:chgData name="gagana sarji" userId="e2d1ac419054d909" providerId="LiveId" clId="{22F0E7AE-821A-49BC-95B3-7D57E36F0A68}" dt="2025-09-25T12:44:58.821" v="16"/>
          <ac:spMkLst>
            <pc:docMk/>
            <pc:sldMk cId="0" sldId="256"/>
            <ac:spMk id="87" creationId="{00000000-0000-0000-0000-000000000000}"/>
          </ac:spMkLst>
        </pc:spChg>
        <pc:spChg chg="mod">
          <ac:chgData name="gagana sarji" userId="e2d1ac419054d909" providerId="LiveId" clId="{22F0E7AE-821A-49BC-95B3-7D57E36F0A68}" dt="2025-09-25T12:45:15.558" v="17"/>
          <ac:spMkLst>
            <pc:docMk/>
            <pc:sldMk cId="0" sldId="256"/>
            <ac:spMk id="88" creationId="{00000000-0000-0000-0000-000000000000}"/>
          </ac:spMkLst>
        </pc:spChg>
        <pc:spChg chg="mod">
          <ac:chgData name="gagana sarji" userId="e2d1ac419054d909" providerId="LiveId" clId="{22F0E7AE-821A-49BC-95B3-7D57E36F0A68}" dt="2025-09-25T12:46:52.914" v="27" actId="27636"/>
          <ac:spMkLst>
            <pc:docMk/>
            <pc:sldMk cId="0" sldId="256"/>
            <ac:spMk id="90" creationId="{00000000-0000-0000-0000-000000000000}"/>
          </ac:spMkLst>
        </pc:spChg>
        <pc:spChg chg="mod">
          <ac:chgData name="gagana sarji" userId="e2d1ac419054d909" providerId="LiveId" clId="{22F0E7AE-821A-49BC-95B3-7D57E36F0A68}" dt="2025-09-25T12:44:27.384" v="1" actId="20577"/>
          <ac:spMkLst>
            <pc:docMk/>
            <pc:sldMk cId="0" sldId="256"/>
            <ac:spMk id="91" creationId="{00000000-0000-0000-0000-000000000000}"/>
          </ac:spMkLst>
        </pc:spChg>
        <pc:graphicFrameChg chg="add mod modGraphic">
          <ac:chgData name="gagana sarji" userId="e2d1ac419054d909" providerId="LiveId" clId="{22F0E7AE-821A-49BC-95B3-7D57E36F0A68}" dt="2025-09-25T12:46:35.344" v="24"/>
          <ac:graphicFrameMkLst>
            <pc:docMk/>
            <pc:sldMk cId="0" sldId="256"/>
            <ac:graphicFrameMk id="2" creationId="{23A6654B-6981-434E-D1EB-F957AD03CBFA}"/>
          </ac:graphicFrameMkLst>
        </pc:graphicFrameChg>
      </pc:sldChg>
      <pc:sldChg chg="modSp mod">
        <pc:chgData name="gagana sarji" userId="e2d1ac419054d909" providerId="LiveId" clId="{22F0E7AE-821A-49BC-95B3-7D57E36F0A68}" dt="2025-09-25T13:24:35.507" v="360" actId="27636"/>
        <pc:sldMkLst>
          <pc:docMk/>
          <pc:sldMk cId="0" sldId="257"/>
        </pc:sldMkLst>
        <pc:spChg chg="mod">
          <ac:chgData name="gagana sarji" userId="e2d1ac419054d909" providerId="LiveId" clId="{22F0E7AE-821A-49BC-95B3-7D57E36F0A68}" dt="2025-09-25T13:24:35.507" v="360" actId="27636"/>
          <ac:spMkLst>
            <pc:docMk/>
            <pc:sldMk cId="0" sldId="257"/>
            <ac:spMk id="97" creationId="{00000000-0000-0000-0000-000000000000}"/>
          </ac:spMkLst>
        </pc:spChg>
      </pc:sldChg>
      <pc:sldChg chg="modSp mod ord">
        <pc:chgData name="gagana sarji" userId="e2d1ac419054d909" providerId="LiveId" clId="{22F0E7AE-821A-49BC-95B3-7D57E36F0A68}" dt="2025-09-25T13:29:29.802" v="398"/>
        <pc:sldMkLst>
          <pc:docMk/>
          <pc:sldMk cId="0" sldId="265"/>
        </pc:sldMkLst>
        <pc:spChg chg="mod">
          <ac:chgData name="gagana sarji" userId="e2d1ac419054d909" providerId="LiveId" clId="{22F0E7AE-821A-49BC-95B3-7D57E36F0A68}" dt="2025-09-25T13:28:56.139" v="394" actId="255"/>
          <ac:spMkLst>
            <pc:docMk/>
            <pc:sldMk cId="0" sldId="265"/>
            <ac:spMk id="145" creationId="{00000000-0000-0000-0000-000000000000}"/>
          </ac:spMkLst>
        </pc:spChg>
      </pc:sldChg>
      <pc:sldChg chg="ord">
        <pc:chgData name="gagana sarji" userId="e2d1ac419054d909" providerId="LiveId" clId="{22F0E7AE-821A-49BC-95B3-7D57E36F0A68}" dt="2025-09-25T13:29:27.745" v="396"/>
        <pc:sldMkLst>
          <pc:docMk/>
          <pc:sldMk cId="0" sldId="266"/>
        </pc:sldMkLst>
      </pc:sldChg>
      <pc:sldChg chg="modSp mod">
        <pc:chgData name="gagana sarji" userId="e2d1ac419054d909" providerId="LiveId" clId="{22F0E7AE-821A-49BC-95B3-7D57E36F0A68}" dt="2025-09-25T13:21:13.704" v="224"/>
        <pc:sldMkLst>
          <pc:docMk/>
          <pc:sldMk cId="2856357337" sldId="268"/>
        </pc:sldMkLst>
        <pc:spChg chg="mod">
          <ac:chgData name="gagana sarji" userId="e2d1ac419054d909" providerId="LiveId" clId="{22F0E7AE-821A-49BC-95B3-7D57E36F0A68}" dt="2025-09-25T13:21:13.704" v="224"/>
          <ac:spMkLst>
            <pc:docMk/>
            <pc:sldMk cId="2856357337" sldId="268"/>
            <ac:spMk id="5" creationId="{00000000-0000-0000-0000-000000000000}"/>
          </ac:spMkLst>
        </pc:spChg>
      </pc:sldChg>
      <pc:sldChg chg="modSp mod">
        <pc:chgData name="gagana sarji" userId="e2d1ac419054d909" providerId="LiveId" clId="{22F0E7AE-821A-49BC-95B3-7D57E36F0A68}" dt="2025-09-25T12:50:04.327" v="35" actId="20577"/>
        <pc:sldMkLst>
          <pc:docMk/>
          <pc:sldMk cId="2143451837" sldId="269"/>
        </pc:sldMkLst>
        <pc:spChg chg="mod">
          <ac:chgData name="gagana sarji" userId="e2d1ac419054d909" providerId="LiveId" clId="{22F0E7AE-821A-49BC-95B3-7D57E36F0A68}" dt="2025-09-25T12:50:04.327" v="35" actId="20577"/>
          <ac:spMkLst>
            <pc:docMk/>
            <pc:sldMk cId="2143451837" sldId="269"/>
            <ac:spMk id="96" creationId="{00000000-0000-0000-0000-000000000000}"/>
          </ac:spMkLst>
        </pc:spChg>
        <pc:spChg chg="mod">
          <ac:chgData name="gagana sarji" userId="e2d1ac419054d909" providerId="LiveId" clId="{22F0E7AE-821A-49BC-95B3-7D57E36F0A68}" dt="2025-09-25T12:48:19.180" v="32" actId="27636"/>
          <ac:spMkLst>
            <pc:docMk/>
            <pc:sldMk cId="2143451837" sldId="269"/>
            <ac:spMk id="97" creationId="{00000000-0000-0000-0000-000000000000}"/>
          </ac:spMkLst>
        </pc:spChg>
      </pc:sldChg>
      <pc:sldChg chg="del">
        <pc:chgData name="gagana sarji" userId="e2d1ac419054d909" providerId="LiveId" clId="{22F0E7AE-821A-49BC-95B3-7D57E36F0A68}" dt="2025-09-25T13:25:05.654" v="361" actId="2696"/>
        <pc:sldMkLst>
          <pc:docMk/>
          <pc:sldMk cId="479890276" sldId="270"/>
        </pc:sldMkLst>
      </pc:sldChg>
      <pc:sldChg chg="del">
        <pc:chgData name="gagana sarji" userId="e2d1ac419054d909" providerId="LiveId" clId="{22F0E7AE-821A-49BC-95B3-7D57E36F0A68}" dt="2025-09-25T13:25:12.257" v="362" actId="2696"/>
        <pc:sldMkLst>
          <pc:docMk/>
          <pc:sldMk cId="2000455742" sldId="271"/>
        </pc:sldMkLst>
      </pc:sldChg>
      <pc:sldChg chg="del">
        <pc:chgData name="gagana sarji" userId="e2d1ac419054d909" providerId="LiveId" clId="{22F0E7AE-821A-49BC-95B3-7D57E36F0A68}" dt="2025-09-25T13:25:20.464" v="363" actId="2696"/>
        <pc:sldMkLst>
          <pc:docMk/>
          <pc:sldMk cId="3338832548" sldId="272"/>
        </pc:sldMkLst>
      </pc:sldChg>
      <pc:sldChg chg="modSp mod">
        <pc:chgData name="gagana sarji" userId="e2d1ac419054d909" providerId="LiveId" clId="{22F0E7AE-821A-49BC-95B3-7D57E36F0A68}" dt="2025-09-25T12:53:41.570" v="81" actId="27636"/>
        <pc:sldMkLst>
          <pc:docMk/>
          <pc:sldMk cId="1030816154" sldId="273"/>
        </pc:sldMkLst>
        <pc:spChg chg="mod">
          <ac:chgData name="gagana sarji" userId="e2d1ac419054d909" providerId="LiveId" clId="{22F0E7AE-821A-49BC-95B3-7D57E36F0A68}" dt="2025-09-25T12:53:19.774" v="78" actId="20577"/>
          <ac:spMkLst>
            <pc:docMk/>
            <pc:sldMk cId="1030816154" sldId="273"/>
            <ac:spMk id="114" creationId="{00000000-0000-0000-0000-000000000000}"/>
          </ac:spMkLst>
        </pc:spChg>
        <pc:spChg chg="mod">
          <ac:chgData name="gagana sarji" userId="e2d1ac419054d909" providerId="LiveId" clId="{22F0E7AE-821A-49BC-95B3-7D57E36F0A68}" dt="2025-09-25T12:53:41.570" v="81" actId="27636"/>
          <ac:spMkLst>
            <pc:docMk/>
            <pc:sldMk cId="1030816154" sldId="273"/>
            <ac:spMk id="115" creationId="{00000000-0000-0000-0000-000000000000}"/>
          </ac:spMkLst>
        </pc:spChg>
      </pc:sldChg>
      <pc:sldChg chg="modSp mod">
        <pc:chgData name="gagana sarji" userId="e2d1ac419054d909" providerId="LiveId" clId="{22F0E7AE-821A-49BC-95B3-7D57E36F0A68}" dt="2025-09-25T12:53:00.942" v="66" actId="20577"/>
        <pc:sldMkLst>
          <pc:docMk/>
          <pc:sldMk cId="2637979550" sldId="274"/>
        </pc:sldMkLst>
        <pc:spChg chg="mod">
          <ac:chgData name="gagana sarji" userId="e2d1ac419054d909" providerId="LiveId" clId="{22F0E7AE-821A-49BC-95B3-7D57E36F0A68}" dt="2025-09-25T12:53:00.942" v="66" actId="20577"/>
          <ac:spMkLst>
            <pc:docMk/>
            <pc:sldMk cId="2637979550" sldId="274"/>
            <ac:spMk id="96" creationId="{00000000-0000-0000-0000-000000000000}"/>
          </ac:spMkLst>
        </pc:spChg>
        <pc:spChg chg="mod">
          <ac:chgData name="gagana sarji" userId="e2d1ac419054d909" providerId="LiveId" clId="{22F0E7AE-821A-49BC-95B3-7D57E36F0A68}" dt="2025-09-25T12:52:39.036" v="55" actId="5793"/>
          <ac:spMkLst>
            <pc:docMk/>
            <pc:sldMk cId="2637979550" sldId="274"/>
            <ac:spMk id="97" creationId="{00000000-0000-0000-0000-000000000000}"/>
          </ac:spMkLst>
        </pc:spChg>
      </pc:sldChg>
      <pc:sldChg chg="addSp delSp modSp new mod">
        <pc:chgData name="gagana sarji" userId="e2d1ac419054d909" providerId="LiveId" clId="{22F0E7AE-821A-49BC-95B3-7D57E36F0A68}" dt="2025-09-25T13:02:22.630" v="99" actId="113"/>
        <pc:sldMkLst>
          <pc:docMk/>
          <pc:sldMk cId="1312071782" sldId="275"/>
        </pc:sldMkLst>
        <pc:spChg chg="mod">
          <ac:chgData name="gagana sarji" userId="e2d1ac419054d909" providerId="LiveId" clId="{22F0E7AE-821A-49BC-95B3-7D57E36F0A68}" dt="2025-09-25T13:01:01.842" v="86"/>
          <ac:spMkLst>
            <pc:docMk/>
            <pc:sldMk cId="1312071782" sldId="275"/>
            <ac:spMk id="2" creationId="{57764A01-8EF0-3E76-24E4-301A346AE6B2}"/>
          </ac:spMkLst>
        </pc:spChg>
        <pc:spChg chg="mod">
          <ac:chgData name="gagana sarji" userId="e2d1ac419054d909" providerId="LiveId" clId="{22F0E7AE-821A-49BC-95B3-7D57E36F0A68}" dt="2025-09-25T13:02:22.630" v="99" actId="113"/>
          <ac:spMkLst>
            <pc:docMk/>
            <pc:sldMk cId="1312071782" sldId="275"/>
            <ac:spMk id="3" creationId="{8ADE6D40-286D-CF1F-D027-1652A59FDD93}"/>
          </ac:spMkLst>
        </pc:spChg>
        <pc:spChg chg="add del">
          <ac:chgData name="gagana sarji" userId="e2d1ac419054d909" providerId="LiveId" clId="{22F0E7AE-821A-49BC-95B3-7D57E36F0A68}" dt="2025-09-25T13:02:11.204" v="96" actId="22"/>
          <ac:spMkLst>
            <pc:docMk/>
            <pc:sldMk cId="1312071782" sldId="275"/>
            <ac:spMk id="5" creationId="{3A57EFD8-A251-08CD-DFF7-4290621F3EC4}"/>
          </ac:spMkLst>
        </pc:spChg>
      </pc:sldChg>
      <pc:sldChg chg="modSp new ord">
        <pc:chgData name="gagana sarji" userId="e2d1ac419054d909" providerId="LiveId" clId="{22F0E7AE-821A-49BC-95B3-7D57E36F0A68}" dt="2025-09-25T13:22:09.037" v="278"/>
        <pc:sldMkLst>
          <pc:docMk/>
          <pc:sldMk cId="1970074199" sldId="276"/>
        </pc:sldMkLst>
        <pc:spChg chg="mod">
          <ac:chgData name="gagana sarji" userId="e2d1ac419054d909" providerId="LiveId" clId="{22F0E7AE-821A-49BC-95B3-7D57E36F0A68}" dt="2025-09-25T13:02:48.984" v="100"/>
          <ac:spMkLst>
            <pc:docMk/>
            <pc:sldMk cId="1970074199" sldId="276"/>
            <ac:spMk id="2" creationId="{A9ABC242-5A49-3F83-D4DA-452A6FD85071}"/>
          </ac:spMkLst>
        </pc:spChg>
        <pc:spChg chg="mod">
          <ac:chgData name="gagana sarji" userId="e2d1ac419054d909" providerId="LiveId" clId="{22F0E7AE-821A-49BC-95B3-7D57E36F0A68}" dt="2025-09-25T13:03:02.141" v="101"/>
          <ac:spMkLst>
            <pc:docMk/>
            <pc:sldMk cId="1970074199" sldId="276"/>
            <ac:spMk id="3" creationId="{4FA9CDE0-1D68-D338-64E2-34ECF5A0DDA2}"/>
          </ac:spMkLst>
        </pc:spChg>
      </pc:sldChg>
      <pc:sldChg chg="modSp new mod ord">
        <pc:chgData name="gagana sarji" userId="e2d1ac419054d909" providerId="LiveId" clId="{22F0E7AE-821A-49BC-95B3-7D57E36F0A68}" dt="2025-09-25T13:22:56.307" v="299"/>
        <pc:sldMkLst>
          <pc:docMk/>
          <pc:sldMk cId="4291970748" sldId="277"/>
        </pc:sldMkLst>
        <pc:spChg chg="mod">
          <ac:chgData name="gagana sarji" userId="e2d1ac419054d909" providerId="LiveId" clId="{22F0E7AE-821A-49BC-95B3-7D57E36F0A68}" dt="2025-09-25T13:03:20.658" v="102"/>
          <ac:spMkLst>
            <pc:docMk/>
            <pc:sldMk cId="4291970748" sldId="277"/>
            <ac:spMk id="2" creationId="{3D38108D-8046-DFBF-8A8E-3322AF48F69A}"/>
          </ac:spMkLst>
        </pc:spChg>
        <pc:spChg chg="mod">
          <ac:chgData name="gagana sarji" userId="e2d1ac419054d909" providerId="LiveId" clId="{22F0E7AE-821A-49BC-95B3-7D57E36F0A68}" dt="2025-09-25T13:09:40.614" v="181" actId="12"/>
          <ac:spMkLst>
            <pc:docMk/>
            <pc:sldMk cId="4291970748" sldId="277"/>
            <ac:spMk id="3" creationId="{319DE948-5F32-58D1-BE79-68F27D09DCEC}"/>
          </ac:spMkLst>
        </pc:spChg>
      </pc:sldChg>
      <pc:sldChg chg="modSp new mod ord">
        <pc:chgData name="gagana sarji" userId="e2d1ac419054d909" providerId="LiveId" clId="{22F0E7AE-821A-49BC-95B3-7D57E36F0A68}" dt="2025-09-25T13:23:26.876" v="325"/>
        <pc:sldMkLst>
          <pc:docMk/>
          <pc:sldMk cId="3363433683" sldId="278"/>
        </pc:sldMkLst>
        <pc:spChg chg="mod">
          <ac:chgData name="gagana sarji" userId="e2d1ac419054d909" providerId="LiveId" clId="{22F0E7AE-821A-49BC-95B3-7D57E36F0A68}" dt="2025-09-25T13:11:10.363" v="182"/>
          <ac:spMkLst>
            <pc:docMk/>
            <pc:sldMk cId="3363433683" sldId="278"/>
            <ac:spMk id="2" creationId="{1A34C761-59A5-C7D7-B0DB-A59A530CF3FA}"/>
          </ac:spMkLst>
        </pc:spChg>
        <pc:spChg chg="mod">
          <ac:chgData name="gagana sarji" userId="e2d1ac419054d909" providerId="LiveId" clId="{22F0E7AE-821A-49BC-95B3-7D57E36F0A68}" dt="2025-09-25T13:12:24.049" v="192" actId="113"/>
          <ac:spMkLst>
            <pc:docMk/>
            <pc:sldMk cId="3363433683" sldId="278"/>
            <ac:spMk id="3" creationId="{710EF425-B1AF-E7CC-A77B-612827EBD662}"/>
          </ac:spMkLst>
        </pc:spChg>
      </pc:sldChg>
      <pc:sldChg chg="modSp new mod ord">
        <pc:chgData name="gagana sarji" userId="e2d1ac419054d909" providerId="LiveId" clId="{22F0E7AE-821A-49BC-95B3-7D57E36F0A68}" dt="2025-09-25T13:18:40.067" v="211"/>
        <pc:sldMkLst>
          <pc:docMk/>
          <pc:sldMk cId="470013107" sldId="279"/>
        </pc:sldMkLst>
        <pc:spChg chg="mod">
          <ac:chgData name="gagana sarji" userId="e2d1ac419054d909" providerId="LiveId" clId="{22F0E7AE-821A-49BC-95B3-7D57E36F0A68}" dt="2025-09-25T13:18:15.991" v="207" actId="2711"/>
          <ac:spMkLst>
            <pc:docMk/>
            <pc:sldMk cId="470013107" sldId="279"/>
            <ac:spMk id="2" creationId="{462DA00A-5B18-A4DF-FE27-0BF13FD8293F}"/>
          </ac:spMkLst>
        </pc:spChg>
        <pc:spChg chg="mod">
          <ac:chgData name="gagana sarji" userId="e2d1ac419054d909" providerId="LiveId" clId="{22F0E7AE-821A-49BC-95B3-7D57E36F0A68}" dt="2025-09-25T13:18:27.248" v="209" actId="2711"/>
          <ac:spMkLst>
            <pc:docMk/>
            <pc:sldMk cId="470013107" sldId="279"/>
            <ac:spMk id="3" creationId="{CF429DB7-82BF-B19C-9AC9-5096D6A17B42}"/>
          </ac:spMkLst>
        </pc:spChg>
      </pc:sldChg>
      <pc:sldChg chg="addSp modSp new mod">
        <pc:chgData name="gagana sarji" userId="e2d1ac419054d909" providerId="LiveId" clId="{22F0E7AE-821A-49BC-95B3-7D57E36F0A68}" dt="2025-09-25T13:20:43.751" v="221" actId="14100"/>
        <pc:sldMkLst>
          <pc:docMk/>
          <pc:sldMk cId="3822274583" sldId="280"/>
        </pc:sldMkLst>
        <pc:spChg chg="mod">
          <ac:chgData name="gagana sarji" userId="e2d1ac419054d909" providerId="LiveId" clId="{22F0E7AE-821A-49BC-95B3-7D57E36F0A68}" dt="2025-09-25T13:19:03.324" v="212"/>
          <ac:spMkLst>
            <pc:docMk/>
            <pc:sldMk cId="3822274583" sldId="280"/>
            <ac:spMk id="2" creationId="{DA95913B-7DD1-5E00-BB06-F4E92F9EEF09}"/>
          </ac:spMkLst>
        </pc:spChg>
        <pc:spChg chg="mod">
          <ac:chgData name="gagana sarji" userId="e2d1ac419054d909" providerId="LiveId" clId="{22F0E7AE-821A-49BC-95B3-7D57E36F0A68}" dt="2025-09-25T13:20:43.751" v="221" actId="14100"/>
          <ac:spMkLst>
            <pc:docMk/>
            <pc:sldMk cId="3822274583" sldId="280"/>
            <ac:spMk id="3" creationId="{DF73A4DE-C8E9-F9F5-32F0-D383FD9A4477}"/>
          </ac:spMkLst>
        </pc:spChg>
        <pc:picChg chg="add mod">
          <ac:chgData name="gagana sarji" userId="e2d1ac419054d909" providerId="LiveId" clId="{22F0E7AE-821A-49BC-95B3-7D57E36F0A68}" dt="2025-09-25T13:19:56.025" v="216" actId="1076"/>
          <ac:picMkLst>
            <pc:docMk/>
            <pc:sldMk cId="3822274583" sldId="280"/>
            <ac:picMk id="5" creationId="{005EFC89-C08D-4A53-A46B-7AC6C9B21CFA}"/>
          </ac:picMkLst>
        </pc:picChg>
      </pc:sldChg>
      <pc:sldChg chg="modSp new ord">
        <pc:chgData name="gagana sarji" userId="e2d1ac419054d909" providerId="LiveId" clId="{22F0E7AE-821A-49BC-95B3-7D57E36F0A68}" dt="2025-09-25T13:22:30.842" v="284"/>
        <pc:sldMkLst>
          <pc:docMk/>
          <pc:sldMk cId="4221783841" sldId="281"/>
        </pc:sldMkLst>
        <pc:spChg chg="mod">
          <ac:chgData name="gagana sarji" userId="e2d1ac419054d909" providerId="LiveId" clId="{22F0E7AE-821A-49BC-95B3-7D57E36F0A68}" dt="2025-09-25T13:13:04.065" v="196"/>
          <ac:spMkLst>
            <pc:docMk/>
            <pc:sldMk cId="4221783841" sldId="281"/>
            <ac:spMk id="2" creationId="{2E4F8533-5D53-149B-744E-DCDA60719EEA}"/>
          </ac:spMkLst>
        </pc:spChg>
        <pc:spChg chg="mod">
          <ac:chgData name="gagana sarji" userId="e2d1ac419054d909" providerId="LiveId" clId="{22F0E7AE-821A-49BC-95B3-7D57E36F0A68}" dt="2025-09-25T13:14:10.808" v="200"/>
          <ac:spMkLst>
            <pc:docMk/>
            <pc:sldMk cId="4221783841" sldId="281"/>
            <ac:spMk id="3" creationId="{DFFB3161-AAEC-C7A8-F9A7-17EA02775F6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etda.libraries.psu.edu/catalog/19715zpj5026" TargetMode="External"/><Relationship Id="rId13" Type="http://schemas.openxmlformats.org/officeDocument/2006/relationships/hyperlink" Target="https://www.sciencedirect.com/science/article/abs/pii/S2214785322014602" TargetMode="External"/><Relationship Id="rId3" Type="http://schemas.openxmlformats.org/officeDocument/2006/relationships/hyperlink" Target="https://www.sciencedirect.com/science/article/abs/pii/S1474034615000233" TargetMode="External"/><Relationship Id="rId7" Type="http://schemas.openxmlformats.org/officeDocument/2006/relationships/hyperlink" Target="https://www.researchgate.net/publication/228662339" TargetMode="External"/><Relationship Id="rId12" Type="http://schemas.openxmlformats.org/officeDocument/2006/relationships/hyperlink" Target="https://www.researchgate.net/publication/374014867" TargetMode="External"/><Relationship Id="rId17" Type="http://schemas.openxmlformats.org/officeDocument/2006/relationships/hyperlink" Target="https://www.academia.edu/17128808" TargetMode="External"/><Relationship Id="rId2" Type="http://schemas.openxmlformats.org/officeDocument/2006/relationships/notesSlide" Target="../notesSlides/notesSlide7.xml"/><Relationship Id="rId16" Type="http://schemas.openxmlformats.org/officeDocument/2006/relationships/hyperlink" Target="https://www.sciencedirect.com/science/article/pii/S2666165923001291" TargetMode="External"/><Relationship Id="rId1" Type="http://schemas.openxmlformats.org/officeDocument/2006/relationships/slideLayout" Target="../slideLayouts/slideLayout2.xml"/><Relationship Id="rId6" Type="http://schemas.openxmlformats.org/officeDocument/2006/relationships/hyperlink" Target="https://www.iaarc.org/publications/fulltext/062_ISARC%202022_Paper_48.pdf" TargetMode="External"/><Relationship Id="rId11" Type="http://schemas.openxmlformats.org/officeDocument/2006/relationships/hyperlink" Target="https://www.iaarc.org/publications/2024_proceedings" TargetMode="External"/><Relationship Id="rId5" Type="http://schemas.openxmlformats.org/officeDocument/2006/relationships/hyperlink" Target="https://www.mdpi.com/2075-5309/12/7/1037" TargetMode="External"/><Relationship Id="rId15" Type="http://schemas.openxmlformats.org/officeDocument/2006/relationships/hyperlink" Target="https://www.sciencedirect.com/science/article/pii/S2666721524000346" TargetMode="External"/><Relationship Id="rId10" Type="http://schemas.openxmlformats.org/officeDocument/2006/relationships/hyperlink" Target="https://www.academia.edu/44587691/BIM_based_progress_monitoring" TargetMode="External"/><Relationship Id="rId4" Type="http://schemas.openxmlformats.org/officeDocument/2006/relationships/hyperlink" Target="https://www.mdpi.com/2076-3417/11/17/7840" TargetMode="External"/><Relationship Id="rId9" Type="http://schemas.openxmlformats.org/officeDocument/2006/relationships/hyperlink" Target="https://www.sciencedirect.com/science/article/abs/pii/S092658052200200X" TargetMode="External"/><Relationship Id="rId14" Type="http://schemas.openxmlformats.org/officeDocument/2006/relationships/hyperlink" Target="https://arxiv.org/abs/2210.15760"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GB" sz="2400" dirty="0">
                <a:solidFill>
                  <a:schemeClr val="tx1"/>
                </a:solidFill>
                <a:latin typeface="Cambria" panose="02040503050406030204" pitchFamily="18" charset="0"/>
                <a:ea typeface="Cambria" panose="02040503050406030204" pitchFamily="18" charset="0"/>
              </a:rPr>
              <a:t>UTILIZATION OF IMAGES FOR MONITORING OF PROGRESS OF CONSTRUCTION ACTIVITIES FOR BUILDING CONSTRUCTION PROJECTS</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GB" sz="1800" dirty="0">
                <a:latin typeface="Cambria" panose="02040503050406030204" pitchFamily="18" charset="0"/>
                <a:ea typeface="Cambria" panose="02040503050406030204" pitchFamily="18" charset="0"/>
              </a:rPr>
              <a:t>Batch Number: ISE_05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lnSpcReduction="10000"/>
          </a:bodyPr>
          <a:lstStyle/>
          <a:p>
            <a:pPr lvl="0" algn="ctr">
              <a:buClr>
                <a:srgbClr val="17365D"/>
              </a:buClr>
              <a:buSzPts val="2000"/>
            </a:pPr>
            <a:r>
              <a:rPr lang="en-US" sz="2000" b="1"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lang="en-US" sz="2000" dirty="0">
              <a:latin typeface="Cambria" panose="02040503050406030204" pitchFamily="18" charset="0"/>
              <a:ea typeface="Cambria" panose="02040503050406030204" pitchFamily="18" charset="0"/>
            </a:endParaRPr>
          </a:p>
          <a:p>
            <a:pPr lvl="0" algn="ctr">
              <a:spcBef>
                <a:spcPts val="400"/>
              </a:spcBef>
              <a:buClr>
                <a:srgbClr val="17365D"/>
              </a:buClr>
              <a:buSzPts val="2000"/>
            </a:pPr>
            <a:endParaRPr lang="en-US" sz="24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Dr . Zafar Ali Khan </a:t>
            </a:r>
            <a:endParaRPr lang="en-US"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Professor</a:t>
            </a:r>
            <a:endParaRPr lang="en-US"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lang="en-US" sz="20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2000" b="1" dirty="0">
                <a:solidFill>
                  <a:srgbClr val="17365D"/>
                </a:solidFill>
                <a:latin typeface="Cambria" panose="02040503050406030204" pitchFamily="18" charset="0"/>
                <a:ea typeface="Cambria" panose="02040503050406030204" pitchFamily="18" charset="0"/>
                <a:cs typeface="Verdana"/>
                <a:sym typeface="Verdana"/>
              </a:rPr>
              <a:t>Presidency University</a:t>
            </a:r>
            <a:endParaRPr lang="en-US" sz="2000" dirty="0">
              <a:latin typeface="Cambria" panose="02040503050406030204" pitchFamily="18" charset="0"/>
              <a:ea typeface="Cambria" panose="02040503050406030204" pitchFamily="18" charset="0"/>
            </a:endParaRPr>
          </a:p>
          <a:p>
            <a:pPr lvl="0">
              <a:spcBef>
                <a:spcPts val="400"/>
              </a:spcBef>
              <a:buClr>
                <a:srgbClr val="17365D"/>
              </a:buClr>
              <a:buSzPts val="2000"/>
            </a:pPr>
            <a:endParaRPr lang="en-US" sz="24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400"/>
              </a:spcBef>
              <a:buClr>
                <a:srgbClr val="17365D"/>
              </a:buClr>
              <a:buSzPts val="2000"/>
            </a:pPr>
            <a:endParaRPr lang="en-US" sz="2000" b="1"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400"/>
              </a:spcBef>
              <a:buClr>
                <a:srgbClr val="17365D"/>
              </a:buClr>
              <a:buSzPts val="2000"/>
            </a:pPr>
            <a:endParaRPr lang="en-US" sz="2000" b="1"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886409593"/>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B. Tech  Information Science Engineering(Robotics)</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Dr. Zafar Ali Khan</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Ms. Suma N 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dirty="0">
                <a:solidFill>
                  <a:schemeClr val="tx1"/>
                </a:solidFill>
                <a:latin typeface="Cambria" panose="02040503050406030204" pitchFamily="18" charset="0"/>
                <a:ea typeface="Cambria" panose="02040503050406030204" pitchFamily="18" charset="0"/>
                <a:cs typeface="Verdana"/>
                <a:sym typeface="Verdana"/>
              </a:rPr>
              <a:t>Dr. Sampath A K, Dr. Geetha  A </a:t>
            </a:r>
          </a:p>
          <a:p>
            <a:pPr lvl="0">
              <a:buClr>
                <a:srgbClr val="17365D"/>
              </a:buClr>
              <a:buSzPct val="100000"/>
            </a:pP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23A6654B-6981-434E-D1EB-F957AD03CBFA}"/>
              </a:ext>
            </a:extLst>
          </p:cNvPr>
          <p:cNvGraphicFramePr>
            <a:graphicFrameLocks noGrp="1"/>
          </p:cNvGraphicFramePr>
          <p:nvPr>
            <p:extLst>
              <p:ext uri="{D42A27DB-BD31-4B8C-83A1-F6EECF244321}">
                <p14:modId xmlns:p14="http://schemas.microsoft.com/office/powerpoint/2010/main" val="4172480369"/>
              </p:ext>
            </p:extLst>
          </p:nvPr>
        </p:nvGraphicFramePr>
        <p:xfrm>
          <a:off x="197505" y="2765272"/>
          <a:ext cx="5774518" cy="1516697"/>
        </p:xfrm>
        <a:graphic>
          <a:graphicData uri="http://schemas.openxmlformats.org/drawingml/2006/table">
            <a:tbl>
              <a:tblPr firstRow="1" bandRow="1"/>
              <a:tblGrid>
                <a:gridCol w="2887259">
                  <a:extLst>
                    <a:ext uri="{9D8B030D-6E8A-4147-A177-3AD203B41FA5}">
                      <a16:colId xmlns:a16="http://schemas.microsoft.com/office/drawing/2014/main" val="2904869767"/>
                    </a:ext>
                  </a:extLst>
                </a:gridCol>
                <a:gridCol w="2887259">
                  <a:extLst>
                    <a:ext uri="{9D8B030D-6E8A-4147-A177-3AD203B41FA5}">
                      <a16:colId xmlns:a16="http://schemas.microsoft.com/office/drawing/2014/main" val="4096312254"/>
                    </a:ext>
                  </a:extLst>
                </a:gridCol>
              </a:tblGrid>
              <a:tr h="326171">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79649029"/>
                  </a:ext>
                </a:extLst>
              </a:tr>
              <a:tr h="396842">
                <a:tc>
                  <a:txBody>
                    <a:bodyPr/>
                    <a:lstStyle/>
                    <a:p>
                      <a:r>
                        <a:rPr lang="en-IN" dirty="0"/>
                        <a:t>20221ISE0025</a:t>
                      </a:r>
                    </a:p>
                  </a:txBody>
                  <a:tcPr/>
                </a:tc>
                <a:tc>
                  <a:txBody>
                    <a:bodyPr/>
                    <a:lstStyle/>
                    <a:p>
                      <a:r>
                        <a:rPr lang="en-IN" dirty="0"/>
                        <a:t>GAGANA S R</a:t>
                      </a:r>
                    </a:p>
                  </a:txBody>
                  <a:tcPr/>
                </a:tc>
                <a:extLst>
                  <a:ext uri="{0D108BD9-81ED-4DB2-BD59-A6C34878D82A}">
                    <a16:rowId xmlns:a16="http://schemas.microsoft.com/office/drawing/2014/main" val="2614710406"/>
                  </a:ext>
                </a:extLst>
              </a:tr>
              <a:tr h="396842">
                <a:tc>
                  <a:txBody>
                    <a:bodyPr/>
                    <a:lstStyle/>
                    <a:p>
                      <a:r>
                        <a:rPr lang="en-IN" dirty="0"/>
                        <a:t>20221ISE0021</a:t>
                      </a:r>
                    </a:p>
                  </a:txBody>
                  <a:tcPr/>
                </a:tc>
                <a:tc>
                  <a:txBody>
                    <a:bodyPr/>
                    <a:lstStyle/>
                    <a:p>
                      <a:r>
                        <a:rPr lang="en-IN" dirty="0"/>
                        <a:t>TANUSHREE M S</a:t>
                      </a:r>
                    </a:p>
                  </a:txBody>
                  <a:tcPr/>
                </a:tc>
                <a:extLst>
                  <a:ext uri="{0D108BD9-81ED-4DB2-BD59-A6C34878D82A}">
                    <a16:rowId xmlns:a16="http://schemas.microsoft.com/office/drawing/2014/main" val="538525426"/>
                  </a:ext>
                </a:extLst>
              </a:tr>
              <a:tr h="396842">
                <a:tc>
                  <a:txBody>
                    <a:bodyPr/>
                    <a:lstStyle/>
                    <a:p>
                      <a:r>
                        <a:rPr lang="en-IN" dirty="0"/>
                        <a:t>20221ISE0042</a:t>
                      </a:r>
                    </a:p>
                  </a:txBody>
                  <a:tcPr/>
                </a:tc>
                <a:tc>
                  <a:txBody>
                    <a:bodyPr/>
                    <a:lstStyle/>
                    <a:p>
                      <a:r>
                        <a:rPr lang="en-IN" dirty="0"/>
                        <a:t>SNEHA KUMARI</a:t>
                      </a:r>
                    </a:p>
                  </a:txBody>
                  <a:tcPr/>
                </a:tc>
                <a:extLst>
                  <a:ext uri="{0D108BD9-81ED-4DB2-BD59-A6C34878D82A}">
                    <a16:rowId xmlns:a16="http://schemas.microsoft.com/office/drawing/2014/main" val="1358613597"/>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351</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2500" lnSpcReduction="2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Ministry of Housing and Urban Affairs</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 </a:t>
            </a:r>
            <a:r>
              <a:rPr lang="en-US" dirty="0">
                <a:latin typeface="Cambria" panose="02040503050406030204" pitchFamily="18" charset="0"/>
                <a:ea typeface="Cambria" panose="02040503050406030204" pitchFamily="18" charset="0"/>
              </a:rPr>
              <a:t>:Software </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dirty="0">
                <a:latin typeface="Cambria" panose="02040503050406030204" pitchFamily="18" charset="0"/>
                <a:ea typeface="Cambria" panose="02040503050406030204" pitchFamily="18" charset="0"/>
              </a:rPr>
              <a:t>: Monitoring the progress of building construction projects is often challenging due to the reliance on manual inspections and subjective reporting, which can lead to delays and errors. By systematically collecting and analyzing images, project managers can create visual progress records, compare actual work with planned schedules, generate quantitative progress metrics, and detect delays or quality issues early. This approach improves transparency, reduces the need for frequent site visits, and enhances decision-making, ultimately leading to more efficient project management.</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Expected output: </a:t>
            </a:r>
            <a:r>
              <a:rPr lang="en-US" dirty="0">
                <a:latin typeface="Cambria" panose="02040503050406030204" pitchFamily="18" charset="0"/>
                <a:ea typeface="Cambria" panose="02040503050406030204" pitchFamily="18" charset="0"/>
              </a:rPr>
              <a:t>Accurate visual records and measurable insights on construction progress, enabling early issue detection, reduced manual monitoring, and improved project management efficiency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342900" lvl="0" indent="-190500" algn="just">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55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Current Challenges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Opportunities</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Git-hub Link</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a:lnSpc>
                <a:spcPct val="200000"/>
              </a:lnSpc>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US"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55000" lnSpcReduction="20000"/>
          </a:bodyPr>
          <a:lstStyle/>
          <a:p>
            <a:pPr marL="152400" indent="0" algn="just">
              <a:lnSpc>
                <a:spcPct val="200000"/>
              </a:lnSpc>
              <a:spcBef>
                <a:spcPts val="0"/>
              </a:spcBef>
              <a:buNone/>
            </a:pPr>
            <a:r>
              <a:rPr lang="en-US" dirty="0">
                <a:latin typeface="Cambria" panose="02040503050406030204" pitchFamily="18" charset="0"/>
                <a:ea typeface="Cambria" panose="02040503050406030204" pitchFamily="18" charset="0"/>
              </a:rPr>
              <a:t>Construction project management faces challenges in efficiently tracking and reporting progress. This paper explores the utilization of images as a powerful tool for monitoring the progress of construction activities in building projects. Traditional methods, often reliant on manual site visits and subjective reporting, are prone to inaccuracies and delays. In contrast, leveraging visual data from sources like drone footage, time-lapse cameras, and mobile devices offers a robust and objective solution. This research investigates various methodologies for image-based progress monitoring, including computer vision and machine learning algorithms, to automatically identify completed tasks, quantify work progress, and detect discrepancies between planned schedules and actual on-site conditions. The study highlights how this approach can enhance project transparency, improve communication among stakeholders, and enable proactive decision-making. The findings demonstrate that integrating image-based monitoring can significantly increase the accuracy and timeliness of progress reports, leading to more efficient project completion and better resource management.</a:t>
            </a:r>
          </a:p>
          <a:p>
            <a:pPr marL="152400" lvl="0" indent="0" algn="just" rtl="0">
              <a:lnSpc>
                <a:spcPct val="200000"/>
              </a:lnSpc>
              <a:spcBef>
                <a:spcPts val="0"/>
              </a:spcBef>
              <a:spcAft>
                <a:spcPts val="0"/>
              </a:spcAft>
              <a:buClr>
                <a:schemeClr val="dk1"/>
              </a:buClr>
              <a:buSzPts val="24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92500"/>
          </a:bodyPr>
          <a:lstStyle/>
          <a:p>
            <a:pPr marL="342900" indent="-190500" algn="just">
              <a:lnSpc>
                <a:spcPct val="200000"/>
              </a:lnSpc>
              <a:spcBef>
                <a:spcPts val="0"/>
              </a:spcBef>
              <a:buSzPct val="100000"/>
              <a:buNone/>
            </a:pPr>
            <a:r>
              <a:rPr lang="en-US" dirty="0">
                <a:latin typeface="Times New Roman" panose="02020603050405020304" pitchFamily="18" charset="0"/>
                <a:cs typeface="Times New Roman" panose="02020603050405020304" pitchFamily="18" charset="0"/>
              </a:rPr>
              <a:t>The main problem is that construction progress monitoring using images is often slow, manual, and prone to errors due to poor image quality and difficult site conditions. Managing and analyzing large amounts of images is hard, and current systems don’t integrate well with project tools, causing communication gaps and delays. There is a need for automated, accurate, and easy-to-use image monitoring systems to improve efficiency and timely decision-making in construction projects.</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BC242-5A49-3F83-D4DA-452A6FD85071}"/>
              </a:ext>
            </a:extLst>
          </p:cNvPr>
          <p:cNvSpPr>
            <a:spLocks noGrp="1"/>
          </p:cNvSpPr>
          <p:nvPr>
            <p:ph type="title"/>
          </p:nvPr>
        </p:nvSpPr>
        <p:spPr/>
        <p:txBody>
          <a:bodyPr/>
          <a:lstStyle/>
          <a:p>
            <a:r>
              <a:rPr lang="en-US" dirty="0"/>
              <a:t>Objectives</a:t>
            </a:r>
          </a:p>
        </p:txBody>
      </p:sp>
      <p:sp>
        <p:nvSpPr>
          <p:cNvPr id="3" name="Text Placeholder 2">
            <a:extLst>
              <a:ext uri="{FF2B5EF4-FFF2-40B4-BE49-F238E27FC236}">
                <a16:creationId xmlns:a16="http://schemas.microsoft.com/office/drawing/2014/main" id="{4FA9CDE0-1D68-D338-64E2-34ECF5A0DDA2}"/>
              </a:ext>
            </a:extLst>
          </p:cNvPr>
          <p:cNvSpPr>
            <a:spLocks noGrp="1"/>
          </p:cNvSpPr>
          <p:nvPr>
            <p:ph type="body" idx="1"/>
          </p:nvPr>
        </p:nvSpPr>
        <p:spPr/>
        <p:txBody>
          <a:bodyPr/>
          <a:lstStyle/>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design and develop a software system that uses site images to monitor and evaluate the progress of construction activities. </a:t>
            </a:r>
          </a:p>
          <a:p>
            <a:pPr marL="495300" indent="-342900" algn="just">
              <a:spcBef>
                <a:spcPts val="0"/>
              </a:spcBef>
              <a:buSzPct val="100000"/>
            </a:pPr>
            <a:endPar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automate the comparison of planned versus actual progress with image data.</a:t>
            </a:r>
            <a:r>
              <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spcBef>
                <a:spcPts val="0"/>
              </a:spcBef>
              <a:buSzPct val="100000"/>
              <a:buNone/>
            </a:pPr>
            <a:endPar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provide visual dashboards and reports for project managers and stakeholders. </a:t>
            </a:r>
          </a:p>
          <a:p>
            <a:pPr marL="342900" indent="-190500" algn="just">
              <a:spcBef>
                <a:spcPts val="0"/>
              </a:spcBef>
              <a:buSzPct val="100000"/>
              <a:buNone/>
            </a:pPr>
            <a:endPar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reduce manual effort, errors, and delays in construction monitoring</a:t>
            </a:r>
            <a:r>
              <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rPr>
              <a:t>. </a:t>
            </a:r>
          </a:p>
          <a:p>
            <a:pPr marL="342900" indent="-190500" algn="just">
              <a:spcBef>
                <a:spcPts val="0"/>
              </a:spcBef>
              <a:buSzPct val="100000"/>
              <a:buNone/>
            </a:pPr>
            <a:endParaRPr lang="en-US" dirty="0">
              <a:solidFill>
                <a:schemeClr val="accent2">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dirty="0">
                <a:solidFill>
                  <a:schemeClr val="tx1">
                    <a:lumMod val="85000"/>
                    <a:lumOff val="15000"/>
                  </a:schemeClr>
                </a:solidFill>
                <a:latin typeface="Times New Roman" panose="02020603050405020304" pitchFamily="18" charset="0"/>
                <a:ea typeface="Cambria" panose="02040503050406030204" pitchFamily="18" charset="0"/>
                <a:cs typeface="Times New Roman" panose="02020603050405020304" pitchFamily="18" charset="0"/>
              </a:rPr>
              <a:t>To improve decision-making and transparency in construction projects.</a:t>
            </a:r>
          </a:p>
          <a:p>
            <a:pPr marL="342900" lvl="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1970074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64A01-8EF0-3E76-24E4-301A346AE6B2}"/>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Analysis of Problem Statement</a:t>
            </a:r>
            <a:endParaRPr lang="en-US" dirty="0"/>
          </a:p>
        </p:txBody>
      </p:sp>
      <p:sp>
        <p:nvSpPr>
          <p:cNvPr id="3" name="Text Placeholder 2">
            <a:extLst>
              <a:ext uri="{FF2B5EF4-FFF2-40B4-BE49-F238E27FC236}">
                <a16:creationId xmlns:a16="http://schemas.microsoft.com/office/drawing/2014/main" id="{8ADE6D40-286D-CF1F-D027-1652A59FDD93}"/>
              </a:ext>
            </a:extLst>
          </p:cNvPr>
          <p:cNvSpPr>
            <a:spLocks noGrp="1"/>
          </p:cNvSpPr>
          <p:nvPr>
            <p:ph type="body" idx="1"/>
          </p:nvPr>
        </p:nvSpPr>
        <p:spPr/>
        <p:txBody>
          <a:bodyPr/>
          <a:lstStyle/>
          <a:p>
            <a:r>
              <a:rPr lang="en-US" dirty="0">
                <a:latin typeface="Cambria" panose="02040503050406030204" pitchFamily="18" charset="0"/>
                <a:ea typeface="Cambria" panose="02040503050406030204" pitchFamily="18" charset="0"/>
              </a:rPr>
              <a:t>Manual and Slow Process</a:t>
            </a:r>
          </a:p>
          <a:p>
            <a:r>
              <a:rPr lang="en-US" dirty="0">
                <a:latin typeface="Cambria" panose="02040503050406030204" pitchFamily="18" charset="0"/>
                <a:ea typeface="Cambria" panose="02040503050406030204" pitchFamily="18" charset="0"/>
              </a:rPr>
              <a:t>Quality and Site Challenges</a:t>
            </a:r>
          </a:p>
          <a:p>
            <a:r>
              <a:rPr lang="en-US" dirty="0">
                <a:latin typeface="Cambria" panose="02040503050406030204" pitchFamily="18" charset="0"/>
                <a:ea typeface="Cambria" panose="02040503050406030204" pitchFamily="18" charset="0"/>
              </a:rPr>
              <a:t>Data Management Difficulties</a:t>
            </a:r>
          </a:p>
          <a:p>
            <a:r>
              <a:rPr lang="en-US" dirty="0">
                <a:latin typeface="Cambria" panose="02040503050406030204" pitchFamily="18" charset="0"/>
                <a:ea typeface="Cambria" panose="02040503050406030204" pitchFamily="18" charset="0"/>
              </a:rPr>
              <a:t>Lack of Integration</a:t>
            </a:r>
          </a:p>
          <a:p>
            <a:r>
              <a:rPr lang="en-US" dirty="0">
                <a:latin typeface="Cambria" panose="02040503050406030204" pitchFamily="18" charset="0"/>
                <a:ea typeface="Cambria" panose="02040503050406030204" pitchFamily="18" charset="0"/>
              </a:rPr>
              <a:t>Need for Automation</a:t>
            </a:r>
          </a:p>
          <a:p>
            <a:endParaRPr lang="en-US" dirty="0"/>
          </a:p>
        </p:txBody>
      </p:sp>
    </p:spTree>
    <p:extLst>
      <p:ext uri="{BB962C8B-B14F-4D97-AF65-F5344CB8AC3E}">
        <p14:creationId xmlns:p14="http://schemas.microsoft.com/office/powerpoint/2010/main" val="1312071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108D-8046-DFBF-8A8E-3322AF48F69A}"/>
              </a:ext>
            </a:extLst>
          </p:cNvPr>
          <p:cNvSpPr>
            <a:spLocks noGrp="1"/>
          </p:cNvSpPr>
          <p:nvPr>
            <p:ph type="title"/>
          </p:nvPr>
        </p:nvSpPr>
        <p:spPr/>
        <p:txBody>
          <a:bodyPr/>
          <a:lstStyle/>
          <a:p>
            <a:r>
              <a:rPr lang="en-US" dirty="0"/>
              <a:t>Current Challenges</a:t>
            </a:r>
          </a:p>
        </p:txBody>
      </p:sp>
      <p:sp>
        <p:nvSpPr>
          <p:cNvPr id="3" name="Text Placeholder 2">
            <a:extLst>
              <a:ext uri="{FF2B5EF4-FFF2-40B4-BE49-F238E27FC236}">
                <a16:creationId xmlns:a16="http://schemas.microsoft.com/office/drawing/2014/main" id="{319DE948-5F32-58D1-BE79-68F27D09DCEC}"/>
              </a:ext>
            </a:extLst>
          </p:cNvPr>
          <p:cNvSpPr>
            <a:spLocks noGrp="1"/>
          </p:cNvSpPr>
          <p:nvPr>
            <p:ph type="body" idx="1"/>
          </p:nvPr>
        </p:nvSpPr>
        <p:spPr/>
        <p:txBody>
          <a:bodyPr/>
          <a:lstStyle/>
          <a:p>
            <a:pPr marL="76200" indent="0">
              <a:buNone/>
            </a:pPr>
            <a:r>
              <a:rPr lang="en-US" sz="2000" b="1" dirty="0">
                <a:latin typeface="Cambria" panose="02040503050406030204" pitchFamily="18" charset="0"/>
                <a:ea typeface="Cambria" panose="02040503050406030204" pitchFamily="18" charset="0"/>
              </a:rPr>
              <a:t>Manual challenges:</a:t>
            </a:r>
          </a:p>
          <a:p>
            <a:r>
              <a:rPr lang="en-US" sz="1800" dirty="0">
                <a:latin typeface="Cambria" panose="02040503050406030204" pitchFamily="18" charset="0"/>
                <a:ea typeface="Cambria" panose="02040503050406030204" pitchFamily="18" charset="0"/>
              </a:rPr>
              <a:t>Not Enough Skilled Workers</a:t>
            </a:r>
          </a:p>
          <a:p>
            <a:r>
              <a:rPr lang="en-US" sz="1800" dirty="0">
                <a:latin typeface="Cambria" panose="02040503050406030204" pitchFamily="18" charset="0"/>
                <a:ea typeface="Cambria" panose="02040503050406030204" pitchFamily="18" charset="0"/>
              </a:rPr>
              <a:t>Projects Taking Longer Than Planned</a:t>
            </a:r>
          </a:p>
          <a:p>
            <a:r>
              <a:rPr lang="en-US" sz="1800" dirty="0">
                <a:latin typeface="Cambria" panose="02040503050406030204" pitchFamily="18" charset="0"/>
                <a:ea typeface="Cambria" panose="02040503050406030204" pitchFamily="18" charset="0"/>
              </a:rPr>
              <a:t>Going Over Budget</a:t>
            </a:r>
          </a:p>
          <a:p>
            <a:r>
              <a:rPr lang="en-US" sz="1800" dirty="0">
                <a:latin typeface="Cambria" panose="02040503050406030204" pitchFamily="18" charset="0"/>
                <a:ea typeface="Cambria" panose="02040503050406030204" pitchFamily="18" charset="0"/>
              </a:rPr>
              <a:t>Poor Communication</a:t>
            </a:r>
          </a:p>
          <a:p>
            <a:r>
              <a:rPr lang="en-US" sz="1800" dirty="0">
                <a:latin typeface="Cambria" panose="02040503050406030204" pitchFamily="18" charset="0"/>
                <a:ea typeface="Cambria" panose="02040503050406030204" pitchFamily="18" charset="0"/>
              </a:rPr>
              <a:t>Slow Use of New Technology</a:t>
            </a:r>
          </a:p>
          <a:p>
            <a:pPr marL="76200" indent="0">
              <a:buNone/>
            </a:pPr>
            <a:r>
              <a:rPr lang="en-US" sz="2000" b="1" dirty="0">
                <a:latin typeface="Cambria" panose="02040503050406030204" pitchFamily="18" charset="0"/>
                <a:ea typeface="Cambria" panose="02040503050406030204" pitchFamily="18" charset="0"/>
              </a:rPr>
              <a:t>Technical challenges:</a:t>
            </a:r>
          </a:p>
          <a:p>
            <a:pPr>
              <a:buFont typeface="Arial" panose="020B0604020202020204" pitchFamily="34" charset="0"/>
              <a:buChar char="•"/>
            </a:pPr>
            <a:r>
              <a:rPr lang="en-US" sz="1800" dirty="0">
                <a:latin typeface="Cambria" panose="02040503050406030204" pitchFamily="18" charset="0"/>
                <a:ea typeface="Cambria" panose="02040503050406030204" pitchFamily="18" charset="0"/>
              </a:rPr>
              <a:t>Data Acquisition and Environmental Challenges</a:t>
            </a:r>
          </a:p>
          <a:p>
            <a:pPr>
              <a:buFont typeface="Arial" panose="020B0604020202020204" pitchFamily="34" charset="0"/>
              <a:buChar char="•"/>
            </a:pPr>
            <a:r>
              <a:rPr lang="en-US" sz="1800" dirty="0">
                <a:latin typeface="Cambria" panose="02040503050406030204" pitchFamily="18" charset="0"/>
                <a:ea typeface="Cambria" panose="02040503050406030204" pitchFamily="18" charset="0"/>
              </a:rPr>
              <a:t>Data Processing and Integration Challenges</a:t>
            </a:r>
          </a:p>
          <a:p>
            <a:pPr>
              <a:buFont typeface="Arial" panose="020B0604020202020204" pitchFamily="34" charset="0"/>
              <a:buChar char="•"/>
            </a:pPr>
            <a:r>
              <a:rPr lang="en-US" sz="1800" dirty="0">
                <a:latin typeface="Cambria" panose="02040503050406030204" pitchFamily="18" charset="0"/>
                <a:ea typeface="Cambria" panose="02040503050406030204" pitchFamily="18" charset="0"/>
              </a:rPr>
              <a:t>Data Management and Storage Challenges</a:t>
            </a:r>
          </a:p>
          <a:p>
            <a:pPr>
              <a:buFont typeface="Arial" panose="020B0604020202020204" pitchFamily="34" charset="0"/>
              <a:buChar char="•"/>
            </a:pPr>
            <a:r>
              <a:rPr lang="en-US" sz="1800" dirty="0">
                <a:latin typeface="Cambria" panose="02040503050406030204" pitchFamily="18" charset="0"/>
                <a:ea typeface="Cambria" panose="02040503050406030204" pitchFamily="18" charset="0"/>
              </a:rPr>
              <a:t>Security and Ethical Challenges</a:t>
            </a:r>
          </a:p>
          <a:p>
            <a:pPr>
              <a:buFont typeface="Arial" panose="020B0604020202020204" pitchFamily="34" charset="0"/>
              <a:buChar char="•"/>
            </a:pPr>
            <a:r>
              <a:rPr lang="en-US" sz="1800" dirty="0">
                <a:latin typeface="Cambria" panose="02040503050406030204" pitchFamily="18" charset="0"/>
                <a:ea typeface="Cambria" panose="02040503050406030204" pitchFamily="18" charset="0"/>
              </a:rPr>
              <a:t>Business and Operational Challenges</a:t>
            </a:r>
          </a:p>
        </p:txBody>
      </p:sp>
    </p:spTree>
    <p:extLst>
      <p:ext uri="{BB962C8B-B14F-4D97-AF65-F5344CB8AC3E}">
        <p14:creationId xmlns:p14="http://schemas.microsoft.com/office/powerpoint/2010/main" val="4291970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4C761-59A5-C7D7-B0DB-A59A530CF3FA}"/>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Opportunities with Image Use</a:t>
            </a:r>
            <a:endParaRPr lang="en-US" dirty="0"/>
          </a:p>
        </p:txBody>
      </p:sp>
      <p:sp>
        <p:nvSpPr>
          <p:cNvPr id="3" name="Text Placeholder 2">
            <a:extLst>
              <a:ext uri="{FF2B5EF4-FFF2-40B4-BE49-F238E27FC236}">
                <a16:creationId xmlns:a16="http://schemas.microsoft.com/office/drawing/2014/main" id="{710EF425-B1AF-E7CC-A77B-612827EBD662}"/>
              </a:ext>
            </a:extLst>
          </p:cNvPr>
          <p:cNvSpPr>
            <a:spLocks noGrp="1"/>
          </p:cNvSpPr>
          <p:nvPr>
            <p:ph type="body" idx="1"/>
          </p:nvPr>
        </p:nvSpPr>
        <p:spPr/>
        <p:txBody>
          <a:bodyPr/>
          <a:lstStyle/>
          <a:p>
            <a:r>
              <a:rPr lang="en-US" dirty="0">
                <a:latin typeface="Cambria" panose="02040503050406030204" pitchFamily="18" charset="0"/>
                <a:ea typeface="Cambria" panose="02040503050406030204" pitchFamily="18" charset="0"/>
              </a:rPr>
              <a:t>Track Progress Easily</a:t>
            </a:r>
          </a:p>
          <a:p>
            <a:r>
              <a:rPr lang="en-US" dirty="0">
                <a:latin typeface="Cambria" panose="02040503050406030204" pitchFamily="18" charset="0"/>
                <a:ea typeface="Cambria" panose="02040503050406030204" pitchFamily="18" charset="0"/>
              </a:rPr>
              <a:t>Solve Problems Faster</a:t>
            </a:r>
          </a:p>
          <a:p>
            <a:r>
              <a:rPr lang="en-US" dirty="0">
                <a:latin typeface="Cambria" panose="02040503050406030204" pitchFamily="18" charset="0"/>
                <a:ea typeface="Cambria" panose="02040503050406030204" pitchFamily="18" charset="0"/>
              </a:rPr>
              <a:t>Better Communication</a:t>
            </a:r>
          </a:p>
          <a:p>
            <a:r>
              <a:rPr lang="en-US" dirty="0">
                <a:latin typeface="Cambria" panose="02040503050406030204" pitchFamily="18" charset="0"/>
                <a:ea typeface="Cambria" panose="02040503050406030204" pitchFamily="18" charset="0"/>
              </a:rPr>
              <a:t>Keep Clear Records</a:t>
            </a:r>
          </a:p>
          <a:p>
            <a:r>
              <a:rPr lang="en-US" dirty="0">
                <a:latin typeface="Cambria" panose="02040503050406030204" pitchFamily="18" charset="0"/>
                <a:ea typeface="Cambria" panose="02040503050406030204" pitchFamily="18" charset="0"/>
              </a:rPr>
              <a:t>Monitor Remotely</a:t>
            </a:r>
            <a:endParaRPr lang="en-US" dirty="0"/>
          </a:p>
        </p:txBody>
      </p:sp>
    </p:spTree>
    <p:extLst>
      <p:ext uri="{BB962C8B-B14F-4D97-AF65-F5344CB8AC3E}">
        <p14:creationId xmlns:p14="http://schemas.microsoft.com/office/powerpoint/2010/main" val="3363433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F8533-5D53-149B-744E-DCDA60719EEA}"/>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Novel Contributions</a:t>
            </a:r>
            <a:endParaRPr lang="en-US" dirty="0"/>
          </a:p>
        </p:txBody>
      </p:sp>
      <p:sp>
        <p:nvSpPr>
          <p:cNvPr id="3" name="Text Placeholder 2">
            <a:extLst>
              <a:ext uri="{FF2B5EF4-FFF2-40B4-BE49-F238E27FC236}">
                <a16:creationId xmlns:a16="http://schemas.microsoft.com/office/drawing/2014/main" id="{DFFB3161-AAEC-C7A8-F9A7-17EA02775F60}"/>
              </a:ext>
            </a:extLst>
          </p:cNvPr>
          <p:cNvSpPr>
            <a:spLocks noGrp="1"/>
          </p:cNvSpPr>
          <p:nvPr>
            <p:ph type="body" idx="1"/>
          </p:nvPr>
        </p:nvSpPr>
        <p:spPr/>
        <p:txBody>
          <a:bodyPr/>
          <a:lstStyle/>
          <a:p>
            <a:r>
              <a:rPr lang="en-US" b="1" dirty="0">
                <a:latin typeface="Cambria" panose="02040503050406030204" pitchFamily="18" charset="0"/>
                <a:ea typeface="Cambria" panose="02040503050406030204" pitchFamily="18" charset="0"/>
              </a:rPr>
              <a:t>Scalable &amp; Extensible </a:t>
            </a:r>
            <a:r>
              <a:rPr lang="en-US" sz="20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Can be enhanced with AI/ML models for object detection (e.g., detecting completed structural components).</a:t>
            </a:r>
          </a:p>
          <a:p>
            <a:r>
              <a:rPr lang="en-US" b="1" dirty="0">
                <a:latin typeface="Cambria" panose="02040503050406030204" pitchFamily="18" charset="0"/>
                <a:ea typeface="Cambria" panose="02040503050406030204" pitchFamily="18" charset="0"/>
              </a:rPr>
              <a:t>Visual Evidence Reporting </a:t>
            </a:r>
            <a:r>
              <a:rPr lang="en-US" sz="20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Generates dashboards and reports enriched with visual proof (before/after images).</a:t>
            </a:r>
          </a:p>
          <a:p>
            <a:r>
              <a:rPr lang="en-US" b="1" dirty="0">
                <a:latin typeface="Cambria" panose="02040503050406030204" pitchFamily="18" charset="0"/>
                <a:ea typeface="Cambria" panose="02040503050406030204" pitchFamily="18" charset="0"/>
              </a:rPr>
              <a:t>Automated Progress Tracking </a:t>
            </a:r>
            <a:r>
              <a:rPr lang="en-US" dirty="0">
                <a:latin typeface="Cambria" panose="02040503050406030204" pitchFamily="18" charset="0"/>
                <a:ea typeface="Cambria" panose="02040503050406030204" pitchFamily="18" charset="0"/>
              </a:rPr>
              <a:t>– Uses image processing to automatically compare site progress with planned schedules.</a:t>
            </a:r>
          </a:p>
          <a:p>
            <a:r>
              <a:rPr lang="en-US" sz="2000" b="1" dirty="0">
                <a:latin typeface="Cambria" panose="02040503050406030204" pitchFamily="18" charset="0"/>
                <a:ea typeface="Cambria" panose="02040503050406030204" pitchFamily="18" charset="0"/>
              </a:rPr>
              <a:t>Affordable &amp; Accessible </a:t>
            </a:r>
            <a:r>
              <a:rPr lang="en-US" sz="2000"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Unlike high-cost BIM or drone solutions, the system is designed as a low-cost software tool accessible to small and medium construction firms.</a:t>
            </a:r>
          </a:p>
          <a:p>
            <a:endParaRPr lang="en-US" dirty="0"/>
          </a:p>
        </p:txBody>
      </p:sp>
    </p:spTree>
    <p:extLst>
      <p:ext uri="{BB962C8B-B14F-4D97-AF65-F5344CB8AC3E}">
        <p14:creationId xmlns:p14="http://schemas.microsoft.com/office/powerpoint/2010/main" val="4221783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A00A-5B18-A4DF-FE27-0BF13FD8293F}"/>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Software Details:</a:t>
            </a:r>
            <a:endParaRPr lang="en-US" dirty="0">
              <a:latin typeface="Cambria" panose="02040503050406030204" pitchFamily="18" charset="0"/>
              <a:ea typeface="Cambria" panose="02040503050406030204" pitchFamily="18" charset="0"/>
            </a:endParaRPr>
          </a:p>
        </p:txBody>
      </p:sp>
      <p:sp>
        <p:nvSpPr>
          <p:cNvPr id="3" name="Text Placeholder 2">
            <a:extLst>
              <a:ext uri="{FF2B5EF4-FFF2-40B4-BE49-F238E27FC236}">
                <a16:creationId xmlns:a16="http://schemas.microsoft.com/office/drawing/2014/main" id="{CF429DB7-82BF-B19C-9AC9-5096D6A17B42}"/>
              </a:ext>
            </a:extLst>
          </p:cNvPr>
          <p:cNvSpPr>
            <a:spLocks noGrp="1"/>
          </p:cNvSpPr>
          <p:nvPr>
            <p:ph type="body" idx="1"/>
          </p:nvPr>
        </p:nvSpPr>
        <p:spPr>
          <a:xfrm>
            <a:off x="719718" y="1033492"/>
            <a:ext cx="10668000" cy="4953000"/>
          </a:xfrm>
        </p:spPr>
        <p:txBody>
          <a:bodyPr/>
          <a:lstStyle/>
          <a:p>
            <a:pPr marL="0" lvl="0" indent="0" eaLnBrk="0" fontAlgn="base" hangingPunct="0">
              <a:spcBef>
                <a:spcPct val="0"/>
              </a:spcBef>
              <a:spcAft>
                <a:spcPct val="0"/>
              </a:spcAft>
              <a:buClrTx/>
              <a:buSzTx/>
              <a:buFontTx/>
              <a:buChar char="•"/>
            </a:pPr>
            <a:r>
              <a:rPr lang="en-US" altLang="en-US" b="1" dirty="0">
                <a:solidFill>
                  <a:schemeClr val="tx1"/>
                </a:solidFill>
                <a:latin typeface="Cambria" panose="02040503050406030204" pitchFamily="18" charset="0"/>
                <a:ea typeface="Cambria" panose="02040503050406030204" pitchFamily="18" charset="0"/>
              </a:rPr>
              <a:t> Programming Languages:</a:t>
            </a:r>
            <a:r>
              <a:rPr lang="en-US" altLang="en-US" dirty="0">
                <a:solidFill>
                  <a:schemeClr val="tx1"/>
                </a:solidFill>
                <a:latin typeface="Cambria" panose="02040503050406030204" pitchFamily="18" charset="0"/>
                <a:ea typeface="Cambria" panose="02040503050406030204" pitchFamily="18" charset="0"/>
              </a:rPr>
              <a:t> Python (Backend), JavaScript (Frontend).</a:t>
            </a:r>
          </a:p>
          <a:p>
            <a:pPr marL="0" lvl="0" indent="0" eaLnBrk="0" fontAlgn="base" hangingPunct="0">
              <a:spcBef>
                <a:spcPct val="0"/>
              </a:spcBef>
              <a:spcAft>
                <a:spcPct val="0"/>
              </a:spcAft>
              <a:buClrTx/>
              <a:buSzTx/>
              <a:buNone/>
            </a:pPr>
            <a:endParaRPr lang="en-US" altLang="en-US"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b="1" dirty="0">
                <a:solidFill>
                  <a:schemeClr val="tx1"/>
                </a:solidFill>
                <a:latin typeface="Cambria" panose="02040503050406030204" pitchFamily="18" charset="0"/>
                <a:ea typeface="Cambria" panose="02040503050406030204" pitchFamily="18" charset="0"/>
              </a:rPr>
              <a:t> Libraries:</a:t>
            </a:r>
            <a:r>
              <a:rPr lang="en-US" altLang="en-US" dirty="0">
                <a:solidFill>
                  <a:schemeClr val="tx1"/>
                </a:solidFill>
                <a:latin typeface="Cambria" panose="02040503050406030204" pitchFamily="18" charset="0"/>
                <a:ea typeface="Cambria" panose="02040503050406030204" pitchFamily="18" charset="0"/>
              </a:rPr>
              <a:t> OpenCV, TensorFlow/</a:t>
            </a:r>
            <a:r>
              <a:rPr lang="en-US" altLang="en-US" dirty="0" err="1">
                <a:solidFill>
                  <a:schemeClr val="tx1"/>
                </a:solidFill>
                <a:latin typeface="Cambria" panose="02040503050406030204" pitchFamily="18" charset="0"/>
                <a:ea typeface="Cambria" panose="02040503050406030204" pitchFamily="18" charset="0"/>
              </a:rPr>
              <a:t>PyTorch</a:t>
            </a:r>
            <a:r>
              <a:rPr lang="en-US" altLang="en-US" dirty="0">
                <a:solidFill>
                  <a:schemeClr val="tx1"/>
                </a:solidFill>
                <a:latin typeface="Cambria" panose="02040503050406030204" pitchFamily="18" charset="0"/>
                <a:ea typeface="Cambria" panose="02040503050406030204" pitchFamily="18" charset="0"/>
              </a:rPr>
              <a:t> for deep learning, Pandas for data analysis.</a:t>
            </a:r>
          </a:p>
          <a:p>
            <a:pPr marL="0" lvl="0" indent="0" eaLnBrk="0" fontAlgn="base" hangingPunct="0">
              <a:spcBef>
                <a:spcPct val="0"/>
              </a:spcBef>
              <a:spcAft>
                <a:spcPct val="0"/>
              </a:spcAft>
              <a:buClrTx/>
              <a:buSzTx/>
              <a:buNone/>
            </a:pPr>
            <a:endParaRPr lang="en-US" altLang="en-US"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b="1" dirty="0">
                <a:solidFill>
                  <a:schemeClr val="tx1"/>
                </a:solidFill>
                <a:latin typeface="Cambria" panose="02040503050406030204" pitchFamily="18" charset="0"/>
                <a:ea typeface="Cambria" panose="02040503050406030204" pitchFamily="18" charset="0"/>
              </a:rPr>
              <a:t> Database:</a:t>
            </a:r>
            <a:r>
              <a:rPr lang="en-US" altLang="en-US" dirty="0">
                <a:solidFill>
                  <a:schemeClr val="tx1"/>
                </a:solidFill>
                <a:latin typeface="Cambria" panose="02040503050406030204" pitchFamily="18" charset="0"/>
                <a:ea typeface="Cambria" panose="02040503050406030204" pitchFamily="18" charset="0"/>
              </a:rPr>
              <a:t> PostgreSQL for structured data and MongoDB for unstructured image metadata.</a:t>
            </a:r>
          </a:p>
          <a:p>
            <a:pPr marL="0" lvl="0" indent="0" eaLnBrk="0" fontAlgn="base" hangingPunct="0">
              <a:spcBef>
                <a:spcPct val="0"/>
              </a:spcBef>
              <a:spcAft>
                <a:spcPct val="0"/>
              </a:spcAft>
              <a:buClrTx/>
              <a:buSzTx/>
              <a:buNone/>
            </a:pPr>
            <a:endParaRPr lang="en-US" altLang="en-US"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b="1" dirty="0">
                <a:solidFill>
                  <a:schemeClr val="tx1"/>
                </a:solidFill>
                <a:latin typeface="Cambria" panose="02040503050406030204" pitchFamily="18" charset="0"/>
                <a:ea typeface="Cambria" panose="02040503050406030204" pitchFamily="18" charset="0"/>
              </a:rPr>
              <a:t> Integration:</a:t>
            </a:r>
            <a:r>
              <a:rPr lang="en-US" altLang="en-US" dirty="0">
                <a:solidFill>
                  <a:schemeClr val="tx1"/>
                </a:solidFill>
                <a:latin typeface="Cambria" panose="02040503050406030204" pitchFamily="18" charset="0"/>
                <a:ea typeface="Cambria" panose="02040503050406030204" pitchFamily="18" charset="0"/>
              </a:rPr>
              <a:t> Autodesk Forge API for BIM data access.</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0013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5913B-7DD1-5E00-BB06-F4E92F9EEF09}"/>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Timeline of the Project (Gantt Chart)</a:t>
            </a:r>
            <a:endParaRPr lang="en-US" dirty="0"/>
          </a:p>
        </p:txBody>
      </p:sp>
      <p:sp>
        <p:nvSpPr>
          <p:cNvPr id="3" name="Text Placeholder 2">
            <a:extLst>
              <a:ext uri="{FF2B5EF4-FFF2-40B4-BE49-F238E27FC236}">
                <a16:creationId xmlns:a16="http://schemas.microsoft.com/office/drawing/2014/main" id="{DF73A4DE-C8E9-F9F5-32F0-D383FD9A4477}"/>
              </a:ext>
            </a:extLst>
          </p:cNvPr>
          <p:cNvSpPr>
            <a:spLocks noGrp="1"/>
          </p:cNvSpPr>
          <p:nvPr>
            <p:ph type="body" idx="1"/>
          </p:nvPr>
        </p:nvSpPr>
        <p:spPr>
          <a:xfrm>
            <a:off x="1062237" y="1143001"/>
            <a:ext cx="10248868" cy="4824895"/>
          </a:xfrm>
        </p:spPr>
        <p:txBody>
          <a:bodyPr/>
          <a:lstStyle/>
          <a:p>
            <a:endParaRPr lang="en-US" dirty="0"/>
          </a:p>
        </p:txBody>
      </p:sp>
      <p:pic>
        <p:nvPicPr>
          <p:cNvPr id="5" name="Picture 4">
            <a:extLst>
              <a:ext uri="{FF2B5EF4-FFF2-40B4-BE49-F238E27FC236}">
                <a16:creationId xmlns:a16="http://schemas.microsoft.com/office/drawing/2014/main" id="{005EFC89-C08D-4A53-A46B-7AC6C9B21CFA}"/>
              </a:ext>
            </a:extLst>
          </p:cNvPr>
          <p:cNvPicPr>
            <a:picLocks noChangeAspect="1"/>
          </p:cNvPicPr>
          <p:nvPr/>
        </p:nvPicPr>
        <p:blipFill>
          <a:blip r:embed="rId2"/>
          <a:stretch>
            <a:fillRect/>
          </a:stretch>
        </p:blipFill>
        <p:spPr>
          <a:xfrm>
            <a:off x="880894" y="1143001"/>
            <a:ext cx="10430211" cy="4824895"/>
          </a:xfrm>
          <a:prstGeom prst="rect">
            <a:avLst/>
          </a:prstGeom>
        </p:spPr>
      </p:pic>
    </p:spTree>
    <p:extLst>
      <p:ext uri="{BB962C8B-B14F-4D97-AF65-F5344CB8AC3E}">
        <p14:creationId xmlns:p14="http://schemas.microsoft.com/office/powerpoint/2010/main" val="3822274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dirty="0">
                <a:latin typeface="Cambria" panose="02040503050406030204" pitchFamily="18" charset="0"/>
                <a:ea typeface="Cambria" panose="02040503050406030204" pitchFamily="18" charset="0"/>
              </a:rPr>
              <a:t>https://github.com/Tanushreems/Utilization-of-images-for-monitoring-of-progress-of-construction-activities.git</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13251" y="854170"/>
            <a:ext cx="10867550" cy="5535679"/>
          </a:xfrm>
          <a:prstGeom prst="rect">
            <a:avLst/>
          </a:prstGeom>
          <a:noFill/>
          <a:ln>
            <a:noFill/>
          </a:ln>
        </p:spPr>
        <p:txBody>
          <a:bodyPr spcFirstLastPara="1" wrap="square" lIns="91425" tIns="45700" rIns="91425" bIns="45700" anchor="t" anchorCtr="0">
            <a:normAutofit fontScale="32500" lnSpcReduction="20000"/>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[1] M. </a:t>
            </a:r>
            <a:r>
              <a:rPr lang="en-US" sz="3100" dirty="0" err="1">
                <a:latin typeface="Cambria" panose="02040503050406030204" pitchFamily="18" charset="0"/>
                <a:ea typeface="Cambria" panose="02040503050406030204" pitchFamily="18" charset="0"/>
              </a:rPr>
              <a:t>Golparvar</a:t>
            </a:r>
            <a:r>
              <a:rPr lang="en-US" sz="3100" dirty="0">
                <a:latin typeface="Cambria" panose="02040503050406030204" pitchFamily="18" charset="0"/>
                <a:ea typeface="Cambria" panose="02040503050406030204" pitchFamily="18" charset="0"/>
              </a:rPr>
              <a:t>-Fard, F. Pena-Mora, and C. A. Arboleda, “Construction performance monitoring via still images, time-lapse photos, and video streams: Now, tomorrow, and the future,” </a:t>
            </a:r>
            <a:r>
              <a:rPr lang="en-US" sz="3100" i="1" dirty="0">
                <a:latin typeface="Cambria" panose="02040503050406030204" pitchFamily="18" charset="0"/>
                <a:ea typeface="Cambria" panose="02040503050406030204" pitchFamily="18" charset="0"/>
              </a:rPr>
              <a:t>Automation in Construction</a:t>
            </a:r>
            <a:r>
              <a:rPr lang="en-US" sz="3100" dirty="0">
                <a:latin typeface="Cambria" panose="02040503050406030204" pitchFamily="18" charset="0"/>
                <a:ea typeface="Cambria" panose="02040503050406030204" pitchFamily="18" charset="0"/>
              </a:rPr>
              <a:t>, 2012. [Online]. Available: </a:t>
            </a:r>
            <a:r>
              <a:rPr lang="en-US" sz="3100" u="sng" dirty="0">
                <a:latin typeface="Cambria" panose="02040503050406030204" pitchFamily="18" charset="0"/>
                <a:ea typeface="Cambria" panose="02040503050406030204" pitchFamily="18" charset="0"/>
                <a:hlinkClick r:id="rId3"/>
              </a:rPr>
              <a:t>https://www.sciencedirect.com/science/article/abs/pii/S1474034615000233</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[2] R. Zheng, J. Liu, and Y. Xu, “Review of Image-Based 3D Reconstruction of Building for Automated Construction Progress Monitoring,” </a:t>
            </a:r>
            <a:r>
              <a:rPr lang="en-US" sz="3100" i="1" dirty="0">
                <a:latin typeface="Cambria" panose="02040503050406030204" pitchFamily="18" charset="0"/>
                <a:ea typeface="Cambria" panose="02040503050406030204" pitchFamily="18" charset="0"/>
              </a:rPr>
              <a:t>Applied Sciences</a:t>
            </a:r>
            <a:r>
              <a:rPr lang="en-US" sz="3100" dirty="0">
                <a:latin typeface="Cambria" panose="02040503050406030204" pitchFamily="18" charset="0"/>
                <a:ea typeface="Cambria" panose="02040503050406030204" pitchFamily="18" charset="0"/>
              </a:rPr>
              <a:t>, 2021. [Online]. Available: </a:t>
            </a:r>
            <a:r>
              <a:rPr lang="en-US" sz="3100" u="sng" dirty="0">
                <a:latin typeface="Cambria" panose="02040503050406030204" pitchFamily="18" charset="0"/>
                <a:ea typeface="Cambria" panose="02040503050406030204" pitchFamily="18" charset="0"/>
                <a:hlinkClick r:id="rId4"/>
              </a:rPr>
              <a:t>https://www.mdpi.com/2076-3417/11/17/7840</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[3] B. Ekanayake and L. S. Marasinghe, “Automated Computer Vision-Based Construction Progress Monitoring: A Systematic Review,” </a:t>
            </a:r>
            <a:r>
              <a:rPr lang="en-US" sz="3100" i="1" dirty="0">
                <a:latin typeface="Cambria" panose="02040503050406030204" pitchFamily="18" charset="0"/>
                <a:ea typeface="Cambria" panose="02040503050406030204" pitchFamily="18" charset="0"/>
              </a:rPr>
              <a:t>Buildings</a:t>
            </a:r>
            <a:r>
              <a:rPr lang="en-US" sz="3100" dirty="0">
                <a:latin typeface="Cambria" panose="02040503050406030204" pitchFamily="18" charset="0"/>
                <a:ea typeface="Cambria" panose="02040503050406030204" pitchFamily="18" charset="0"/>
              </a:rPr>
              <a:t>, 2022. [Online]. Available: </a:t>
            </a:r>
            <a:r>
              <a:rPr lang="en-US" sz="3100" u="sng" dirty="0">
                <a:latin typeface="Cambria" panose="02040503050406030204" pitchFamily="18" charset="0"/>
                <a:ea typeface="Cambria" panose="02040503050406030204" pitchFamily="18" charset="0"/>
                <a:hlinkClick r:id="rId5"/>
              </a:rPr>
              <a:t>https://www.mdpi.com/2075-5309/12/7/1037</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[4] B. Ekanayake and L. S. Marasinghe, “Construction Progress Monitoring and Reporting using Computer Vision Techniques – A Review,” </a:t>
            </a:r>
            <a:r>
              <a:rPr lang="en-US" sz="3100" i="1" dirty="0">
                <a:latin typeface="Cambria" panose="02040503050406030204" pitchFamily="18" charset="0"/>
                <a:ea typeface="Cambria" panose="02040503050406030204" pitchFamily="18" charset="0"/>
              </a:rPr>
              <a:t>ISARC</a:t>
            </a:r>
            <a:r>
              <a:rPr lang="en-US" sz="3100" dirty="0">
                <a:latin typeface="Cambria" panose="02040503050406030204" pitchFamily="18" charset="0"/>
                <a:ea typeface="Cambria" panose="02040503050406030204" pitchFamily="18" charset="0"/>
              </a:rPr>
              <a:t>, 2022. [Online]. Available: </a:t>
            </a:r>
            <a:r>
              <a:rPr lang="en-US" sz="3100" u="sng" dirty="0">
                <a:latin typeface="Cambria" panose="02040503050406030204" pitchFamily="18" charset="0"/>
                <a:ea typeface="Cambria" panose="02040503050406030204" pitchFamily="18" charset="0"/>
                <a:hlinkClick r:id="rId6"/>
              </a:rPr>
              <a:t>https://www.iaarc.org/publications/fulltext/062_ISARC%202022_Paper_48.pdf</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[5] M. </a:t>
            </a:r>
            <a:r>
              <a:rPr lang="en-US" sz="3100" dirty="0" err="1">
                <a:latin typeface="Cambria" panose="02040503050406030204" pitchFamily="18" charset="0"/>
                <a:ea typeface="Cambria" panose="02040503050406030204" pitchFamily="18" charset="0"/>
              </a:rPr>
              <a:t>Golparvar</a:t>
            </a:r>
            <a:r>
              <a:rPr lang="en-US" sz="3100" dirty="0">
                <a:latin typeface="Cambria" panose="02040503050406030204" pitchFamily="18" charset="0"/>
                <a:ea typeface="Cambria" panose="02040503050406030204" pitchFamily="18" charset="0"/>
              </a:rPr>
              <a:t>-Fard, S. Bohn, and F. Pena-Mora, “Visualization of Construction Progress Monitoring with 4D Simulation Model Overlaid on Time-Lapsed Photographs,” </a:t>
            </a:r>
            <a:r>
              <a:rPr lang="en-US" sz="3100" i="1" dirty="0">
                <a:latin typeface="Cambria" panose="02040503050406030204" pitchFamily="18" charset="0"/>
                <a:ea typeface="Cambria" panose="02040503050406030204" pitchFamily="18" charset="0"/>
              </a:rPr>
              <a:t>Journal of Computing in Civil Engineering</a:t>
            </a:r>
            <a:r>
              <a:rPr lang="en-US" sz="3100" dirty="0">
                <a:latin typeface="Cambria" panose="02040503050406030204" pitchFamily="18" charset="0"/>
                <a:ea typeface="Cambria" panose="02040503050406030204" pitchFamily="18" charset="0"/>
              </a:rPr>
              <a:t>, 2009. [Online]. Available: </a:t>
            </a:r>
            <a:r>
              <a:rPr lang="en-US" sz="3100" u="sng" dirty="0">
                <a:latin typeface="Cambria" panose="02040503050406030204" pitchFamily="18" charset="0"/>
                <a:ea typeface="Cambria" panose="02040503050406030204" pitchFamily="18" charset="0"/>
                <a:hlinkClick r:id="rId7"/>
              </a:rPr>
              <a:t>https://www.researchgate.net/publication/228662339</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[6] Z. Jiang, “Automated Construction Progress Monitoring using Image Segmentation and Building Information Models,” </a:t>
            </a:r>
            <a:r>
              <a:rPr lang="en-US" sz="3100" i="1" dirty="0">
                <a:latin typeface="Cambria" panose="02040503050406030204" pitchFamily="18" charset="0"/>
                <a:ea typeface="Cambria" panose="02040503050406030204" pitchFamily="18" charset="0"/>
              </a:rPr>
              <a:t>Pennsylvania State Univ. Dissertation</a:t>
            </a:r>
            <a:r>
              <a:rPr lang="en-US" sz="3100" dirty="0">
                <a:latin typeface="Cambria" panose="02040503050406030204" pitchFamily="18" charset="0"/>
                <a:ea typeface="Cambria" panose="02040503050406030204" pitchFamily="18" charset="0"/>
              </a:rPr>
              <a:t>, 2023. [Online]. Available: </a:t>
            </a:r>
            <a:r>
              <a:rPr lang="en-US" sz="3100" u="sng" dirty="0">
                <a:latin typeface="Cambria" panose="02040503050406030204" pitchFamily="18" charset="0"/>
                <a:ea typeface="Cambria" panose="02040503050406030204" pitchFamily="18" charset="0"/>
                <a:hlinkClick r:id="rId8"/>
              </a:rPr>
              <a:t>https://etda.libraries.psu.edu/catalog/19715zpj5026</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[7] W. Wei, et al., “Integrated vision-based automated progress monitoring of indoor construction using mask region-based convolutional neural networks and BIM,” </a:t>
            </a:r>
            <a:r>
              <a:rPr lang="en-US" sz="3100" i="1" dirty="0">
                <a:latin typeface="Cambria" panose="02040503050406030204" pitchFamily="18" charset="0"/>
                <a:ea typeface="Cambria" panose="02040503050406030204" pitchFamily="18" charset="0"/>
              </a:rPr>
              <a:t>Automation in Construction</a:t>
            </a:r>
            <a:r>
              <a:rPr lang="en-US" sz="3100" dirty="0">
                <a:latin typeface="Cambria" panose="02040503050406030204" pitchFamily="18" charset="0"/>
                <a:ea typeface="Cambria" panose="02040503050406030204" pitchFamily="18" charset="0"/>
              </a:rPr>
              <a:t>, 2022. [Online]. Available: </a:t>
            </a:r>
            <a:r>
              <a:rPr lang="en-US" sz="3100" u="sng" dirty="0">
                <a:latin typeface="Cambria" panose="02040503050406030204" pitchFamily="18" charset="0"/>
                <a:ea typeface="Cambria" panose="02040503050406030204" pitchFamily="18" charset="0"/>
                <a:hlinkClick r:id="rId9"/>
              </a:rPr>
              <a:t>https://www.sciencedirect.com/science/article/abs/pii/S092658052200200X</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[8] A. Braun, et al., “BIM-based progress monitoring,” </a:t>
            </a:r>
            <a:r>
              <a:rPr lang="en-US" sz="3100" i="1" dirty="0">
                <a:latin typeface="Cambria" panose="02040503050406030204" pitchFamily="18" charset="0"/>
                <a:ea typeface="Cambria" panose="02040503050406030204" pitchFamily="18" charset="0"/>
              </a:rPr>
              <a:t>Automation in Construction</a:t>
            </a:r>
            <a:r>
              <a:rPr lang="en-US" sz="3100" dirty="0">
                <a:latin typeface="Cambria" panose="02040503050406030204" pitchFamily="18" charset="0"/>
                <a:ea typeface="Cambria" panose="02040503050406030204" pitchFamily="18" charset="0"/>
              </a:rPr>
              <a:t>, 2017. [Online]. Available: </a:t>
            </a:r>
            <a:r>
              <a:rPr lang="en-US" sz="3100" u="sng" dirty="0">
                <a:latin typeface="Cambria" panose="02040503050406030204" pitchFamily="18" charset="0"/>
                <a:ea typeface="Cambria" panose="02040503050406030204" pitchFamily="18" charset="0"/>
                <a:hlinkClick r:id="rId10"/>
              </a:rPr>
              <a:t>https://www.academia.edu/44587691/BIM_based_progress_monitoring</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[9] C. C. Hsieh, et al., “Integration of Construction Progress Monitoring Results using AI Image Recognition from Multiple Cameras onto a BIM,” </a:t>
            </a:r>
            <a:r>
              <a:rPr lang="en-US" sz="3100" i="1" dirty="0">
                <a:latin typeface="Cambria" panose="02040503050406030204" pitchFamily="18" charset="0"/>
                <a:ea typeface="Cambria" panose="02040503050406030204" pitchFamily="18" charset="0"/>
              </a:rPr>
              <a:t>ISARC</a:t>
            </a:r>
            <a:r>
              <a:rPr lang="en-US" sz="3100" dirty="0">
                <a:latin typeface="Cambria" panose="02040503050406030204" pitchFamily="18" charset="0"/>
                <a:ea typeface="Cambria" panose="02040503050406030204" pitchFamily="18" charset="0"/>
              </a:rPr>
              <a:t>, 2024. [Online]. Available: </a:t>
            </a:r>
            <a:r>
              <a:rPr lang="en-US" sz="3100" u="sng" dirty="0">
                <a:latin typeface="Cambria" panose="02040503050406030204" pitchFamily="18" charset="0"/>
                <a:ea typeface="Cambria" panose="02040503050406030204" pitchFamily="18" charset="0"/>
                <a:hlinkClick r:id="rId11"/>
              </a:rPr>
              <a:t>https://www.iaarc.org/publications/2024_proceedings</a:t>
            </a:r>
            <a:r>
              <a:rPr lang="en-US" sz="3100" dirty="0">
                <a:latin typeface="Cambria" panose="02040503050406030204" pitchFamily="18" charset="0"/>
                <a:ea typeface="Cambria" panose="02040503050406030204" pitchFamily="18" charset="0"/>
              </a:rPr>
              <a:t>...</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[10] A. S. Greeshma and R. B. </a:t>
            </a:r>
            <a:r>
              <a:rPr lang="en-US" sz="3100" dirty="0" err="1">
                <a:latin typeface="Cambria" panose="02040503050406030204" pitchFamily="18" charset="0"/>
                <a:ea typeface="Cambria" panose="02040503050406030204" pitchFamily="18" charset="0"/>
              </a:rPr>
              <a:t>Edayadiyil</a:t>
            </a:r>
            <a:r>
              <a:rPr lang="en-US" sz="3100" dirty="0">
                <a:latin typeface="Cambria" panose="02040503050406030204" pitchFamily="18" charset="0"/>
                <a:ea typeface="Cambria" panose="02040503050406030204" pitchFamily="18" charset="0"/>
              </a:rPr>
              <a:t>, “Computer Vision for Construction Progress Monitoring: A Real-Time Object Detection Approach,” </a:t>
            </a:r>
            <a:r>
              <a:rPr lang="en-US" sz="3100" i="1" dirty="0" err="1">
                <a:latin typeface="Cambria" panose="02040503050406030204" pitchFamily="18" charset="0"/>
                <a:ea typeface="Cambria" panose="02040503050406030204" pitchFamily="18" charset="0"/>
              </a:rPr>
              <a:t>arXiv</a:t>
            </a:r>
            <a:r>
              <a:rPr lang="en-US" sz="3100" i="1" dirty="0">
                <a:latin typeface="Cambria" panose="02040503050406030204" pitchFamily="18" charset="0"/>
                <a:ea typeface="Cambria" panose="02040503050406030204" pitchFamily="18" charset="0"/>
              </a:rPr>
              <a:t> preprint</a:t>
            </a:r>
            <a:r>
              <a:rPr lang="en-US" sz="3100" dirty="0">
                <a:latin typeface="Cambria" panose="02040503050406030204" pitchFamily="18" charset="0"/>
                <a:ea typeface="Cambria" panose="02040503050406030204" pitchFamily="18" charset="0"/>
              </a:rPr>
              <a:t>, 2023. [Online]. Available: </a:t>
            </a:r>
            <a:r>
              <a:rPr lang="en-US" sz="3100" u="sng" dirty="0">
                <a:latin typeface="Cambria" panose="02040503050406030204" pitchFamily="18" charset="0"/>
                <a:ea typeface="Cambria" panose="02040503050406030204" pitchFamily="18" charset="0"/>
                <a:hlinkClick r:id="rId12"/>
              </a:rPr>
              <a:t>https://www.researchgate.net/publication/374014867</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[11] A. S. Greeshma and R. B. </a:t>
            </a:r>
            <a:r>
              <a:rPr lang="en-US" sz="3100" dirty="0" err="1">
                <a:latin typeface="Cambria" panose="02040503050406030204" pitchFamily="18" charset="0"/>
                <a:ea typeface="Cambria" panose="02040503050406030204" pitchFamily="18" charset="0"/>
              </a:rPr>
              <a:t>Edayadiyil</a:t>
            </a:r>
            <a:r>
              <a:rPr lang="en-US" sz="3100" dirty="0">
                <a:latin typeface="Cambria" panose="02040503050406030204" pitchFamily="18" charset="0"/>
                <a:ea typeface="Cambria" panose="02040503050406030204" pitchFamily="18" charset="0"/>
              </a:rPr>
              <a:t>, “Automated progress monitoring of construction projects using Machine learning and image processing approach,” </a:t>
            </a:r>
            <a:r>
              <a:rPr lang="en-US" sz="3100" i="1" dirty="0">
                <a:latin typeface="Cambria" panose="02040503050406030204" pitchFamily="18" charset="0"/>
                <a:ea typeface="Cambria" panose="02040503050406030204" pitchFamily="18" charset="0"/>
              </a:rPr>
              <a:t>Materials Today: Proceedings</a:t>
            </a:r>
            <a:r>
              <a:rPr lang="en-US" sz="3100" dirty="0">
                <a:latin typeface="Cambria" panose="02040503050406030204" pitchFamily="18" charset="0"/>
                <a:ea typeface="Cambria" panose="02040503050406030204" pitchFamily="18" charset="0"/>
              </a:rPr>
              <a:t>, 2022. [Online]. Available: </a:t>
            </a:r>
            <a:r>
              <a:rPr lang="en-US" sz="3100" u="sng" dirty="0">
                <a:latin typeface="Cambria" panose="02040503050406030204" pitchFamily="18" charset="0"/>
                <a:ea typeface="Cambria" panose="02040503050406030204" pitchFamily="18" charset="0"/>
                <a:hlinkClick r:id="rId13"/>
              </a:rPr>
              <a:t>https://www.sciencedirect.com/science/article/abs/pii/S2214785322014602</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[12] M. </a:t>
            </a:r>
            <a:r>
              <a:rPr lang="en-US" sz="3100" dirty="0" err="1">
                <a:latin typeface="Cambria" panose="02040503050406030204" pitchFamily="18" charset="0"/>
                <a:ea typeface="Cambria" panose="02040503050406030204" pitchFamily="18" charset="0"/>
              </a:rPr>
              <a:t>Bonyani</a:t>
            </a:r>
            <a:r>
              <a:rPr lang="en-US" sz="3100" dirty="0">
                <a:latin typeface="Cambria" panose="02040503050406030204" pitchFamily="18" charset="0"/>
                <a:ea typeface="Cambria" panose="02040503050406030204" pitchFamily="18" charset="0"/>
              </a:rPr>
              <a:t> and M. Soleymani, “Towards Improving Workers' Safety and Progress Monitoring of Construction Sites Through Construction Site Understanding,” </a:t>
            </a:r>
            <a:r>
              <a:rPr lang="en-US" sz="3100" i="1" dirty="0" err="1">
                <a:latin typeface="Cambria" panose="02040503050406030204" pitchFamily="18" charset="0"/>
                <a:ea typeface="Cambria" panose="02040503050406030204" pitchFamily="18" charset="0"/>
              </a:rPr>
              <a:t>arXiv</a:t>
            </a:r>
            <a:r>
              <a:rPr lang="en-US" sz="3100" i="1" dirty="0">
                <a:latin typeface="Cambria" panose="02040503050406030204" pitchFamily="18" charset="0"/>
                <a:ea typeface="Cambria" panose="02040503050406030204" pitchFamily="18" charset="0"/>
              </a:rPr>
              <a:t> preprint</a:t>
            </a:r>
            <a:r>
              <a:rPr lang="en-US" sz="3100" dirty="0">
                <a:latin typeface="Cambria" panose="02040503050406030204" pitchFamily="18" charset="0"/>
                <a:ea typeface="Cambria" panose="02040503050406030204" pitchFamily="18" charset="0"/>
              </a:rPr>
              <a:t>, 2022. [Online]. Available: </a:t>
            </a:r>
            <a:r>
              <a:rPr lang="en-US" sz="3100" u="sng" dirty="0">
                <a:latin typeface="Cambria" panose="02040503050406030204" pitchFamily="18" charset="0"/>
                <a:ea typeface="Cambria" panose="02040503050406030204" pitchFamily="18" charset="0"/>
                <a:hlinkClick r:id="rId14"/>
              </a:rPr>
              <a:t>https://arxiv.org/abs/2210.15760</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[13] B. Ekanayake and L. S. Marasinghe, “Deep learning-based computer vision in project management: Automating indoor construction progress monitoring,” </a:t>
            </a:r>
            <a:r>
              <a:rPr lang="en-US" sz="3100" i="1" dirty="0">
                <a:latin typeface="Cambria" panose="02040503050406030204" pitchFamily="18" charset="0"/>
                <a:ea typeface="Cambria" panose="02040503050406030204" pitchFamily="18" charset="0"/>
              </a:rPr>
              <a:t>Project Leadership and Society</a:t>
            </a:r>
            <a:r>
              <a:rPr lang="en-US" sz="3100" dirty="0">
                <a:latin typeface="Cambria" panose="02040503050406030204" pitchFamily="18" charset="0"/>
                <a:ea typeface="Cambria" panose="02040503050406030204" pitchFamily="18" charset="0"/>
              </a:rPr>
              <a:t>, 2024. [Online]. Available: </a:t>
            </a:r>
            <a:r>
              <a:rPr lang="en-US" sz="3100" u="sng" dirty="0">
                <a:latin typeface="Cambria" panose="02040503050406030204" pitchFamily="18" charset="0"/>
                <a:ea typeface="Cambria" panose="02040503050406030204" pitchFamily="18" charset="0"/>
                <a:hlinkClick r:id="rId15"/>
              </a:rPr>
              <a:t>https://www.sciencedirect.com/science/article/pii/S2666721524000346</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[14] A. Pal, J. J. Lin, S. H. Hsieh, and M. </a:t>
            </a:r>
            <a:r>
              <a:rPr lang="en-US" sz="3100" dirty="0" err="1">
                <a:latin typeface="Cambria" panose="02040503050406030204" pitchFamily="18" charset="0"/>
                <a:ea typeface="Cambria" panose="02040503050406030204" pitchFamily="18" charset="0"/>
              </a:rPr>
              <a:t>Golparvar</a:t>
            </a:r>
            <a:r>
              <a:rPr lang="en-US" sz="3100" dirty="0">
                <a:latin typeface="Cambria" panose="02040503050406030204" pitchFamily="18" charset="0"/>
                <a:ea typeface="Cambria" panose="02040503050406030204" pitchFamily="18" charset="0"/>
              </a:rPr>
              <a:t>-Fard, “Automated Vision-Based Construction Progress Monitoring in Built Environment through Digital Twin,” </a:t>
            </a:r>
            <a:r>
              <a:rPr lang="en-US" sz="3100" i="1" dirty="0">
                <a:latin typeface="Cambria" panose="02040503050406030204" pitchFamily="18" charset="0"/>
                <a:ea typeface="Cambria" panose="02040503050406030204" pitchFamily="18" charset="0"/>
              </a:rPr>
              <a:t>Developments in the Built Environment</a:t>
            </a:r>
            <a:r>
              <a:rPr lang="en-US" sz="3100" dirty="0">
                <a:latin typeface="Cambria" panose="02040503050406030204" pitchFamily="18" charset="0"/>
                <a:ea typeface="Cambria" panose="02040503050406030204" pitchFamily="18" charset="0"/>
              </a:rPr>
              <a:t>, vol. 16, Article 100247, 2023. [Online]. Available: </a:t>
            </a:r>
            <a:r>
              <a:rPr lang="en-US" sz="3100" u="sng" dirty="0">
                <a:latin typeface="Cambria" panose="02040503050406030204" pitchFamily="18" charset="0"/>
                <a:ea typeface="Cambria" panose="02040503050406030204" pitchFamily="18" charset="0"/>
                <a:hlinkClick r:id="rId16"/>
              </a:rPr>
              <a:t>https://www.sciencedirect.com/science/article/pii/S2666165923001291</a:t>
            </a:r>
            <a:endParaRPr lang="en-US" sz="3100" b="1" dirty="0">
              <a:latin typeface="Cambria" panose="02040503050406030204" pitchFamily="18" charset="0"/>
              <a:ea typeface="Cambria" panose="02040503050406030204" pitchFamily="18" charset="0"/>
            </a:endParaRPr>
          </a:p>
          <a:p>
            <a:pPr marL="76200" indent="0">
              <a:buNone/>
            </a:pPr>
            <a:r>
              <a:rPr lang="en-US" sz="3100" dirty="0">
                <a:latin typeface="Cambria" panose="02040503050406030204" pitchFamily="18" charset="0"/>
                <a:ea typeface="Cambria" panose="02040503050406030204" pitchFamily="18" charset="0"/>
              </a:rPr>
              <a:t>[15] W. Jung and Y. Kang, “Automated progress measurement using a novel image recognition method for civil engineering applications,” </a:t>
            </a:r>
            <a:r>
              <a:rPr lang="en-US" sz="3100" i="1" dirty="0">
                <a:latin typeface="Cambria" panose="02040503050406030204" pitchFamily="18" charset="0"/>
                <a:ea typeface="Cambria" panose="02040503050406030204" pitchFamily="18" charset="0"/>
              </a:rPr>
              <a:t>Automation in Construction</a:t>
            </a:r>
            <a:r>
              <a:rPr lang="en-US" sz="3100" dirty="0">
                <a:latin typeface="Cambria" panose="02040503050406030204" pitchFamily="18" charset="0"/>
                <a:ea typeface="Cambria" panose="02040503050406030204" pitchFamily="18" charset="0"/>
              </a:rPr>
              <a:t>, 2014. [Online]. Available: </a:t>
            </a:r>
            <a:r>
              <a:rPr lang="en-US" sz="3100" u="sng" dirty="0">
                <a:latin typeface="Cambria" panose="02040503050406030204" pitchFamily="18" charset="0"/>
                <a:ea typeface="Cambria" panose="02040503050406030204" pitchFamily="18" charset="0"/>
                <a:hlinkClick r:id="rId17"/>
              </a:rPr>
              <a:t>https://www.academia.edu/17128808</a:t>
            </a:r>
            <a:endParaRPr lang="en-US" sz="3100" b="1" dirty="0">
              <a:latin typeface="Cambria" panose="02040503050406030204" pitchFamily="18" charset="0"/>
              <a:ea typeface="Cambria" panose="02040503050406030204" pitchFamily="18" charset="0"/>
            </a:endParaRPr>
          </a:p>
          <a:p>
            <a:pPr marL="152400" indent="0">
              <a:spcBef>
                <a:spcPts val="0"/>
              </a:spcBef>
              <a:buNone/>
            </a:pPr>
            <a:endParaRPr lang="en-US" sz="3100"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TotalTime>
  <Words>1662</Words>
  <Application>Microsoft Office PowerPoint</Application>
  <PresentationFormat>Widescreen</PresentationFormat>
  <Paragraphs>121</Paragraphs>
  <Slides>15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Times New Roman</vt:lpstr>
      <vt:lpstr>Verdana</vt:lpstr>
      <vt:lpstr>Wingdings</vt:lpstr>
      <vt:lpstr>Bioinformatics</vt:lpstr>
      <vt:lpstr>UTILIZATION OF IMAGES FOR MONITORING OF PROGRESS OF CONSTRUCTION ACTIVITIES FOR BUILDING CONSTRUCTION PROJECTS</vt:lpstr>
      <vt:lpstr>Problem Statement Number: 351</vt:lpstr>
      <vt:lpstr>Content</vt:lpstr>
      <vt:lpstr>Abstract</vt:lpstr>
      <vt:lpstr>Problem Statement</vt:lpstr>
      <vt:lpstr>Objectives</vt:lpstr>
      <vt:lpstr>Analysis of Problem Statement</vt:lpstr>
      <vt:lpstr>Current Challenges</vt:lpstr>
      <vt:lpstr>Opportunities with Image Use</vt:lpstr>
      <vt:lpstr>Novel Contributions</vt:lpstr>
      <vt:lpstr>Software Details:</vt:lpstr>
      <vt:lpstr>Timeline of the Project (Gantt Chart)</vt:lpstr>
      <vt:lpstr>Github Link</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gagana sarji</cp:lastModifiedBy>
  <cp:revision>39</cp:revision>
  <dcterms:modified xsi:type="dcterms:W3CDTF">2025-09-25T13:29:36Z</dcterms:modified>
</cp:coreProperties>
</file>